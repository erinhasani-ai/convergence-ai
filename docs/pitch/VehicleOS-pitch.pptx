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 Title.</a:t>
            </a:r>
          </a:p>
          <a:p>
            <a:r>
              <a:t>SAY: "Every used car gets re-typed four times between the seller and the buyer's lot. We built one record that every step shares. Here's one car, from appraisal to delivery."</a:t>
            </a:r>
          </a:p>
          <a:p>
            <a:r>
              <a:t>CLICK: Start (or press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0:10–0:40 · Problem.</a:t>
            </a:r>
          </a:p>
          <a:p>
            <a:r>
              <a:t>SAY: "Today appraisal, inspection, auction and transport each keep their own copy of the car. Dana the seller gets quoted gross instead of what she keeps. Marcus the buyer finds the no-start after he bids. Priya sends a flatbed to a car that needs a winch, and that's a dry run."</a:t>
            </a:r>
          </a:p>
          <a:p>
            <a:r>
              <a:t>(Personas are illustrative. Click a person in Q&amp;A to show their before/after.)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0:40–1:00 · Idea.</a:t>
            </a:r>
          </a:p>
          <a:p>
            <a:r>
              <a:t>SAY: "Our new angle: don't add a fifth tool, share one record. Every result remembers which revision of the car it used. When a fact changes, everything that depended on it is flagged out of date, and the platform won't let you sell on stale numbers."</a:t>
            </a:r>
          </a:p>
          <a:p>
            <a:r>
              <a:t>NEXT: switch to the browser for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1:00–2:45 · LIVE DEMO (switch to browser, ⌘-Tab).</a:t>
            </a:r>
          </a:p>
          <a:p>
            <a:r>
              <a:t>1) Estimate net outcomes → 'ACV nets $13,850 vs Copart $13,738: net, not gross.'</a:t>
            </a:r>
          </a:p>
          <a:p>
            <a:r>
              <a:t>2) Add inspector note → Interpret with Gemini → 'every claim cites evidence; the conflict stays visible; keys stay unknown.'</a:t>
            </a:r>
          </a:p>
          <a:p>
            <a:r>
              <a:t>3) Confirm startsEngine=false → click Confirm deal → refused (stale) → Recompute → $10,950.</a:t>
            </a:r>
          </a:p>
          <a:p>
            <a:r>
              <a:t>4) Confirm deal → $12,365 landed, winch required.</a:t>
            </a:r>
          </a:p>
          <a:p>
            <a:r>
              <a:t>5) Plan routes → flip 'Truck B winch out of service' → Re-plan → our car is 'no capable equipment'.</a:t>
            </a:r>
          </a:p>
          <a:p>
            <a:r>
              <a:t>Behind time? Skip step 5's outage.</a:t>
            </a:r>
          </a:p>
          <a:p>
            <a:r>
              <a:t>If the live demo fails: use the four backup buttons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2:45–3:05 · Checkout (answers the judge: 'click ACV transport or not; independent variables').</a:t>
            </a:r>
          </a:p>
          <a:p>
            <a:r>
              <a:t>SAY: "Most ACV sellers ship free; the buyer pays transport. So at checkout transport is a yes/no for the buyer, and the seller's net is $10,950 either way."</a:t>
            </a:r>
          </a:p>
          <a:p>
            <a:r>
              <a:t>CLICK the 'Transport off' toggle (or press →) to show $11,725 and the dry-run risk; the knob and totals morph.</a:t>
            </a:r>
          </a:p>
          <a:p>
            <a:r>
              <a:t>SAY: "Every buyer who says yes is $640 of transport revenue, and LoadLink makes that truck cheaper to run. That's the money."</a:t>
            </a:r>
          </a:p>
          <a:p>
            <a:r>
              <a:t>Transparency: this toggle is the concept for our next build; the app computes the 'on' case today ($12,365 landed).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2:45–3:05 · Checkout (answers the judge: 'click ACV transport or not; independent variables').</a:t>
            </a:r>
          </a:p>
          <a:p>
            <a:r>
              <a:t>SAY: "Most ACV sellers ship free; the buyer pays transport. So at checkout transport is a yes/no for the buyer, and the seller's net is $10,950 either way."</a:t>
            </a:r>
          </a:p>
          <a:p>
            <a:r>
              <a:t>CLICK the 'Transport off' toggle (or press →) to show $11,725 and the dry-run risk; the knob and totals morph.</a:t>
            </a:r>
          </a:p>
          <a:p>
            <a:r>
              <a:t>SAY: "Every buyer who says yes is $640 of transport revenue, and LoadLink makes that truck cheaper to run. That's the money."</a:t>
            </a:r>
          </a:p>
          <a:p>
            <a:r>
              <a:t>Transparency: this toggle is the concept for our next build; the app computes the 'on' case today ($12,365 landed).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3:05–3:35 · ROI (Base scenario). Answers 'ROI is king: show us how it makes money.'</a:t>
            </a:r>
          </a:p>
          <a:p>
            <a:r>
              <a:t>SAY: "Per 10,000 vehicles, this case is about $243K a year, roughly $24 a car. 50% of it is transport: more buyers saying yes at checkout, and LoadLink pooling ACV and Copart loads so each truck costs less. The rest is avoided dry runs, avoided arbitrations, and sellers kept because we show them their real net."</a:t>
            </a:r>
          </a:p>
          <a:p>
            <a:r>
              <a:t>CLICK Conservative / Aggressive in Q&amp;A to show the range (bars morph).</a:t>
            </a:r>
          </a:p>
          <a:p>
            <a:r>
              <a:t>Formulas: attach = V×uplift×$400×margin · pooling = shipped×$340×saving · dry runs = shipped×15%×rate×cost×prevented · arbitration = V×rate×cost×avoided · retention = V×retained×$775.</a:t>
            </a:r>
          </a:p>
          <a:p>
            <a:r>
              <a:t>These are illustrative inputs, not company data: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3:05–3:35 · ROI (Conservative scenario). Answers 'ROI is king: show us how it makes money.'</a:t>
            </a:r>
          </a:p>
          <a:p>
            <a:r>
              <a:t>SAY: "Per 10,000 vehicles, this case is about $112K a year, roughly $11 a car. 52% of it is transport: more buyers saying yes at checkout, and LoadLink pooling ACV and Copart loads so each truck costs less. The rest is avoided dry runs, avoided arbitrations, and sellers kept because we show them their real net."</a:t>
            </a:r>
          </a:p>
          <a:p>
            <a:r>
              <a:t>CLICK Conservative / Aggressive in Q&amp;A to show the range (bars morph).</a:t>
            </a:r>
          </a:p>
          <a:p>
            <a:r>
              <a:t>Formulas: attach = V×uplift×$400×margin · pooling = shipped×$340×saving · dry runs = shipped×15%×rate×cost×prevented · arbitration = V×rate×cost×avoided · retention = V×retained×$775.</a:t>
            </a:r>
          </a:p>
          <a:p>
            <a:r>
              <a:t>These are illustrative inputs, not company data: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3:05–3:35 · ROI (Aggressive scenario). Answers 'ROI is king: show us how it makes money.'</a:t>
            </a:r>
          </a:p>
          <a:p>
            <a:r>
              <a:t>SAY: "Per 10,000 vehicles, this case is about $475K a year, roughly $48 a car. 46% of it is transport: more buyers saying yes at checkout, and LoadLink pooling ACV and Copart loads so each truck costs less. The rest is avoided dry runs, avoided arbitrations, and sellers kept because we show them their real net."</a:t>
            </a:r>
          </a:p>
          <a:p>
            <a:r>
              <a:t>CLICK Conservative / Aggressive in Q&amp;A to show the range (bars morph).</a:t>
            </a:r>
          </a:p>
          <a:p>
            <a:r>
              <a:t>Formulas: attach = V×uplift×$400×margin · pooling = shipped×$340×saving · dry runs = shipped×15%×rate×cost×prevented · arbitration = V×rate×cost×avoided · retention = V×retained×$775.</a:t>
            </a:r>
          </a:p>
          <a:p>
            <a:r>
              <a:t>These are illustrative inputs, not company data: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3:35–3:50 · Real.</a:t>
            </a:r>
          </a:p>
          <a:p>
            <a:r>
              <a:t>SAY: "Transparent: the software, tests and AI are real; the data is synthetic. To make it real: 30 days read-only on real listings and transport orders, 30 days in shadow mode measuring attach rate, dry runs and arbitrations, then one region live. The same record works for lease returns, total-loss insurance cars and rental defleets."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3:50–4:00 · Close.</a:t>
            </a:r>
          </a:p>
          <a:p>
            <a:r>
              <a:t>SAY: "One record, honest numbers, money that shows up. Thank you, happy to take questions."</a:t>
            </a:r>
          </a:p>
          <a:p>
            <a:r>
              <a:t>Then press → for the Q&amp;A navigator.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Click the matching card. Likely questions: 'Is it real?' → Real / pilot. 'How do you make money?' → ROI. 'How do you stop hallucinations?' → AI guardrails. 'What changes for the buyer?' → Marcus / Checkout.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 (illustrative): Dana. Use to answer 'who is this for?'.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 (illustrative): Marcus. Use to answer 'who is this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 (illustrative): Priya. Use to answer 'who is this for?'.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Principles. Use if asked 'why should we trust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BestExit backup slide. Toggle Before / After inspection: values morph. Numbers are exactly what the app shows.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BestExit backup slide. Toggle Before / After inspection: values morph. Numbers are exactly what the app shows.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SecondLook backup slide. Guardrails: JSON schema, citation check (uncited claims dropped), PII masked, no silent fallback, human confirms.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LoadLink backup slide. Toggle the winch: the plan morphs from 360/375 km to 290/110 km and our car (SH-S01-0001) becomes 'no capable equipment'.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LoadLink backup slide. Toggle the winch: the plan morphs from 360/375 km to 290/110 km and our car (SH-S01-0001) becomes 'no capable equipment'.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Modular monolith; contracts → platform → modules; four people worked in parallel because module signatures were frozen up front.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guardrails. Gateway: redact → model with JSON schema → Zod validation → citation check → deterministic ranking → human confirm.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integrity. Pinned revisions + read-time freshness; generation guard; optimistic concurrency; Knowable; integer cents.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npx vitest run → 34/34; npx tsc --noEmit clean.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ROI levers. Click any card to open the model.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cases. Answers 'give us more examples'.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Answers 'how does this become real?' and 'can this even 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hyperlink" Target="http://localhost:3000" TargetMode="External"/><Relationship Id="rId4" Type="http://schemas.openxmlformats.org/officeDocument/2006/relationships/slide" Target="slide1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17.xml"/><Relationship Id="rId12" Type="http://schemas.openxmlformats.org/officeDocument/2006/relationships/slide" Target="slide19.xml"/><Relationship Id="rId13" Type="http://schemas.openxmlformats.org/officeDocument/2006/relationships/slide" Target="slide20.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6.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9.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8.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27.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localhost:3000" TargetMode="External"/><Relationship Id="rId3" Type="http://schemas.openxmlformats.org/officeDocument/2006/relationships/slide" Target="slide12.xml"/><Relationship Id="rId4" Type="http://schemas.openxmlformats.org/officeDocument/2006/relationships/slide" Target="slide7.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9.xml"/><Relationship Id="rId17" Type="http://schemas.openxmlformats.org/officeDocument/2006/relationships/slide" Target="slide20.xml"/><Relationship Id="rId18" Type="http://schemas.openxmlformats.org/officeDocument/2006/relationships/slide" Target="slide22.xml"/><Relationship Id="rId19" Type="http://schemas.openxmlformats.org/officeDocument/2006/relationships/slide" Target="slide23.xml"/><Relationship Id="rId20" Type="http://schemas.openxmlformats.org/officeDocument/2006/relationships/slide" Target="slide24.xml"/><Relationship Id="rId21" Type="http://schemas.openxmlformats.org/officeDocument/2006/relationships/slide" Target="slide25.xml"/><Relationship Id="rId22" Type="http://schemas.openxmlformats.org/officeDocument/2006/relationships/slide" Target="slide26.xml"/><Relationship Id="rId23" Type="http://schemas.openxmlformats.org/officeDocument/2006/relationships/slide" Target="slide8.xml"/><Relationship Id="rId24" Type="http://schemas.openxmlformats.org/officeDocument/2006/relationships/slide" Target="slide9.xml"/><Relationship Id="rId25" Type="http://schemas.openxmlformats.org/officeDocument/2006/relationships/slide" Target="slide27.xml"/><Relationship Id="rId26" Type="http://schemas.openxmlformats.org/officeDocument/2006/relationships/slide" Target="slide28.xml"/><Relationship Id="rId27" Type="http://schemas.openxmlformats.org/officeDocument/2006/relationships/slide" Target="slide29.xml"/><Relationship Id="rId2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17.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20.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18.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17.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2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20.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slide" Target="slide24.xml"/><Relationship Id="rId12" Type="http://schemas.openxmlformats.org/officeDocument/2006/relationships/slide" Target="slide23.xml"/><Relationship Id="rId1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10.xml"/><Relationship Id="rId9" Type="http://schemas.openxmlformats.org/officeDocument/2006/relationships/slide" Target="slide12.xml"/><Relationship Id="rId10" Type="http://schemas.openxmlformats.org/officeDocument/2006/relationships/hyperlink" Target="http://localhost:3000" TargetMode="External"/><Relationship Id="rId11"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Rounded Rectangle 1"/>
          <p:cNvSpPr/>
          <p:nvPr/>
        </p:nvSpPr>
        <p:spPr>
          <a:xfrm>
            <a:off x="731520" y="1325880"/>
            <a:ext cx="2596896" cy="329184"/>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1200" b="1" i="0">
                <a:solidFill>
                  <a:srgbClr val="8A5A10"/>
                </a:solidFill>
                <a:latin typeface="Helvetica Neue"/>
              </a:rPr>
              <a:t>Simulation · concept demo</a:t>
            </a:r>
          </a:p>
        </p:txBody>
      </p:sp>
      <p:sp>
        <p:nvSpPr>
          <p:cNvPr id="3" name="!!hero"/>
          <p:cNvSpPr txBox="1"/>
          <p:nvPr/>
        </p:nvSpPr>
        <p:spPr>
          <a:xfrm>
            <a:off x="731520" y="1810512"/>
            <a:ext cx="7132320" cy="2194560"/>
          </a:xfrm>
          <a:prstGeom prst="rect">
            <a:avLst/>
          </a:prstGeom>
          <a:noFill/>
        </p:spPr>
        <p:txBody>
          <a:bodyPr wrap="square" lIns="0" rIns="0" tIns="0" bIns="0" anchor="t">
            <a:noAutofit/>
          </a:bodyPr>
          <a:lstStyle/>
          <a:p>
            <a:pPr algn="l">
              <a:lnSpc>
                <a:spcPct val="98000"/>
              </a:lnSpc>
              <a:spcAft>
                <a:spcPts val="0"/>
              </a:spcAft>
            </a:pPr>
            <a:r>
              <a:rPr sz="5400" b="1" i="0" spc="-150">
                <a:solidFill>
                  <a:srgbClr val="1D1D1F"/>
                </a:solidFill>
                <a:latin typeface="Helvetica Neue"/>
              </a:rPr>
              <a:t>One car,</a:t>
            </a:r>
          </a:p>
          <a:p>
            <a:pPr algn="l">
              <a:lnSpc>
                <a:spcPct val="98000"/>
              </a:lnSpc>
              <a:spcAft>
                <a:spcPts val="0"/>
              </a:spcAft>
            </a:pPr>
            <a:r>
              <a:rPr sz="5400" b="1" i="0" spc="-150">
                <a:solidFill>
                  <a:srgbClr val="1D1D1F"/>
                </a:solidFill>
                <a:latin typeface="Helvetica Neue"/>
              </a:rPr>
              <a:t>from appraisal</a:t>
            </a:r>
          </a:p>
          <a:p>
            <a:pPr algn="l">
              <a:lnSpc>
                <a:spcPct val="98000"/>
              </a:lnSpc>
              <a:spcAft>
                <a:spcPts val="0"/>
              </a:spcAft>
            </a:pPr>
            <a:r>
              <a:rPr sz="5400" b="1" i="0" spc="-150">
                <a:solidFill>
                  <a:srgbClr val="1D1D1F"/>
                </a:solidFill>
                <a:latin typeface="Helvetica Neue"/>
              </a:rPr>
              <a:t>to delivery.</a:t>
            </a:r>
          </a:p>
        </p:txBody>
      </p:sp>
      <p:sp>
        <p:nvSpPr>
          <p:cNvPr id="4" name="TextBox 3"/>
          <p:cNvSpPr txBox="1"/>
          <p:nvPr/>
        </p:nvSpPr>
        <p:spPr>
          <a:xfrm>
            <a:off x="731520" y="4315968"/>
            <a:ext cx="6583680" cy="822960"/>
          </a:xfrm>
          <a:prstGeom prst="rect">
            <a:avLst/>
          </a:prstGeom>
          <a:noFill/>
        </p:spPr>
        <p:txBody>
          <a:bodyPr wrap="square" lIns="0" rIns="0" tIns="0" bIns="0" anchor="t">
            <a:noAutofit/>
          </a:bodyPr>
          <a:lstStyle/>
          <a:p>
            <a:pPr algn="l">
              <a:lnSpc>
                <a:spcPct val="120000"/>
              </a:lnSpc>
              <a:spcAft>
                <a:spcPts val="0"/>
              </a:spcAft>
            </a:pPr>
            <a:r>
              <a:rPr sz="1800" b="0" i="0">
                <a:solidFill>
                  <a:srgbClr val="6E6E73"/>
                </a:solidFill>
                <a:latin typeface="Helvetica Neue"/>
              </a:rPr>
              <a:t>VehicleOS is one shared vehicle record for a combined ACV + Copart platform (transaction announced, not closed).</a:t>
            </a:r>
          </a:p>
        </p:txBody>
      </p:sp>
      <p:sp>
        <p:nvSpPr>
          <p:cNvPr id="5" name="Rounded Rectangle 4">
            <a:hlinkClick action="ppaction://hlinksldjump" r:id="rId2"/>
          </p:cNvPr>
          <p:cNvSpPr/>
          <p:nvPr/>
        </p:nvSpPr>
        <p:spPr>
          <a:xfrm>
            <a:off x="731520" y="5349240"/>
            <a:ext cx="1554480" cy="493776"/>
          </a:xfrm>
          <a:prstGeom prst="roundRect">
            <a:avLst>
              <a:gd name="adj" fmla="val 50000"/>
            </a:avLst>
          </a:prstGeom>
          <a:solidFill>
            <a:srgbClr val="2F6BE6"/>
          </a:solidFill>
          <a:ln>
            <a:noFill/>
          </a:ln>
          <a:effectLst/>
        </p:spPr>
        <p:txBody>
          <a:bodyPr rtlCol="0" anchor="ctr" wrap="square" lIns="109728" rIns="109728" tIns="36576" bIns="36576">
            <a:noAutofit/>
          </a:bodyPr>
          <a:lstStyle/>
          <a:p>
            <a:pPr algn="ctr">
              <a:lnSpc>
                <a:spcPct val="112000"/>
              </a:lnSpc>
              <a:spcAft>
                <a:spcPts val="0"/>
              </a:spcAft>
            </a:pPr>
            <a:r>
              <a:rPr sz="1400" b="1" i="0">
                <a:solidFill>
                  <a:srgbClr val="FFFFFF"/>
                </a:solidFill>
                <a:latin typeface="Helvetica Neue"/>
              </a:rPr>
              <a:t>Start  →</a:t>
            </a:r>
          </a:p>
        </p:txBody>
      </p:sp>
      <p:sp>
        <p:nvSpPr>
          <p:cNvPr id="6" name="Rounded Rectangle 5">
            <a:hlinkClick r:id="rId3"/>
          </p:cNvPr>
          <p:cNvSpPr/>
          <p:nvPr/>
        </p:nvSpPr>
        <p:spPr>
          <a:xfrm>
            <a:off x="2423160" y="5349240"/>
            <a:ext cx="2057400" cy="493776"/>
          </a:xfrm>
          <a:prstGeom prst="roundRect">
            <a:avLst>
              <a:gd name="adj" fmla="val 50000"/>
            </a:avLst>
          </a:prstGeom>
          <a:solidFill>
            <a:srgbClr val="EAF1FF"/>
          </a:solidFill>
          <a:ln>
            <a:noFill/>
          </a:ln>
          <a:effectLst/>
        </p:spPr>
        <p:txBody>
          <a:bodyPr rtlCol="0" anchor="ctr" wrap="square" lIns="109728" rIns="109728" tIns="36576" bIns="36576">
            <a:noAutofit/>
          </a:bodyPr>
          <a:lstStyle/>
          <a:p>
            <a:pPr algn="ctr">
              <a:lnSpc>
                <a:spcPct val="112000"/>
              </a:lnSpc>
              <a:spcAft>
                <a:spcPts val="0"/>
              </a:spcAft>
            </a:pPr>
            <a:r>
              <a:rPr sz="1400" b="1" i="0">
                <a:solidFill>
                  <a:srgbClr val="2560D6"/>
                </a:solidFill>
                <a:latin typeface="Helvetica Neue"/>
              </a:rPr>
              <a:t>Open live demo ↗</a:t>
            </a:r>
          </a:p>
        </p:txBody>
      </p:sp>
      <p:sp>
        <p:nvSpPr>
          <p:cNvPr id="7" name="Rounded Rectangle 6">
            <a:hlinkClick action="ppaction://hlinksldjump" r:id="rId4"/>
          </p:cNvPr>
          <p:cNvSpPr/>
          <p:nvPr/>
        </p:nvSpPr>
        <p:spPr>
          <a:xfrm>
            <a:off x="4617720" y="5349240"/>
            <a:ext cx="1783080" cy="493776"/>
          </a:xfrm>
          <a:prstGeom prst="roundRect">
            <a:avLst>
              <a:gd name="adj" fmla="val 50000"/>
            </a:avLst>
          </a:prstGeom>
          <a:solidFill>
            <a:srgbClr val="F5F5F7">
              <a:alpha val="0"/>
            </a:srgbClr>
          </a:solidFill>
          <a:ln>
            <a:noFill/>
          </a:ln>
          <a:effectLst/>
        </p:spPr>
        <p:txBody>
          <a:bodyPr rtlCol="0" anchor="ctr" wrap="square" lIns="109728" rIns="109728" tIns="36576" bIns="36576">
            <a:noAutofit/>
          </a:bodyPr>
          <a:lstStyle/>
          <a:p>
            <a:pPr algn="ctr">
              <a:lnSpc>
                <a:spcPct val="112000"/>
              </a:lnSpc>
              <a:spcAft>
                <a:spcPts val="0"/>
              </a:spcAft>
            </a:pPr>
            <a:r>
              <a:rPr sz="1400" b="1" i="0">
                <a:solidFill>
                  <a:srgbClr val="2560D6"/>
                </a:solidFill>
                <a:latin typeface="Helvetica Neue"/>
              </a:rPr>
              <a:t>Q&amp;A navigator</a:t>
            </a:r>
          </a:p>
        </p:txBody>
      </p:sp>
      <p:sp>
        <p:nvSpPr>
          <p:cNvPr id="8" name="TextBox 7"/>
          <p:cNvSpPr txBox="1"/>
          <p:nvPr/>
        </p:nvSpPr>
        <p:spPr>
          <a:xfrm>
            <a:off x="731520" y="6263640"/>
            <a:ext cx="5486400" cy="274320"/>
          </a:xfrm>
          <a:prstGeom prst="rect">
            <a:avLst/>
          </a:prstGeom>
          <a:noFill/>
        </p:spPr>
        <p:txBody>
          <a:bodyPr wrap="square" lIns="0" rIns="0" tIns="0" bIns="0" anchor="t">
            <a:noAutofit/>
          </a:bodyPr>
          <a:lstStyle/>
          <a:p>
            <a:pPr algn="l">
              <a:lnSpc>
                <a:spcPct val="112000"/>
              </a:lnSpc>
              <a:spcAft>
                <a:spcPts val="0"/>
              </a:spcAft>
            </a:pPr>
            <a:r>
              <a:rPr sz="1100" b="0" i="0">
                <a:solidFill>
                  <a:srgbClr val="8E8E93"/>
                </a:solidFill>
                <a:latin typeface="Helvetica Neue"/>
              </a:rPr>
              <a:t>Convergence AI · 4-minute pitch</a:t>
            </a:r>
          </a:p>
        </p:txBody>
      </p:sp>
      <p:sp>
        <p:nvSpPr>
          <p:cNvPr id="9" name="!!preview"/>
          <p:cNvSpPr/>
          <p:nvPr/>
        </p:nvSpPr>
        <p:spPr>
          <a:xfrm>
            <a:off x="8001000" y="1051560"/>
            <a:ext cx="3703320" cy="5120640"/>
          </a:xfrm>
          <a:prstGeom prst="roundRect">
            <a:avLst>
              <a:gd name="adj" fmla="val 493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10" name="TextBox 9"/>
          <p:cNvSpPr txBox="1"/>
          <p:nvPr/>
        </p:nvSpPr>
        <p:spPr>
          <a:xfrm>
            <a:off x="8275320" y="1280160"/>
            <a:ext cx="3200400" cy="22860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V-DEMO-001 · synthetic</a:t>
            </a:r>
          </a:p>
        </p:txBody>
      </p:sp>
      <p:sp>
        <p:nvSpPr>
          <p:cNvPr id="11" name="Rounded Rectangle 10"/>
          <p:cNvSpPr/>
          <p:nvPr/>
        </p:nvSpPr>
        <p:spPr>
          <a:xfrm>
            <a:off x="10360152" y="1243584"/>
            <a:ext cx="1051560" cy="25603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00" b="1" i="0">
                <a:solidFill>
                  <a:srgbClr val="2560D6"/>
                </a:solidFill>
                <a:latin typeface="Helvetica Neue"/>
              </a:rPr>
              <a:t>Revision 2</a:t>
            </a:r>
          </a:p>
        </p:txBody>
      </p:sp>
      <p:sp>
        <p:nvSpPr>
          <p:cNvPr id="12" name="TextBox 11"/>
          <p:cNvSpPr txBox="1"/>
          <p:nvPr/>
        </p:nvSpPr>
        <p:spPr>
          <a:xfrm>
            <a:off x="8275320" y="1572768"/>
            <a:ext cx="3200400" cy="685800"/>
          </a:xfrm>
          <a:prstGeom prst="rect">
            <a:avLst/>
          </a:prstGeom>
          <a:noFill/>
        </p:spPr>
        <p:txBody>
          <a:bodyPr wrap="square" lIns="0" rIns="0" tIns="0" bIns="0" anchor="t">
            <a:noAutofit/>
          </a:bodyPr>
          <a:lstStyle/>
          <a:p>
            <a:pPr algn="l">
              <a:lnSpc>
                <a:spcPct val="100000"/>
              </a:lnSpc>
              <a:spcAft>
                <a:spcPts val="0"/>
              </a:spcAft>
            </a:pPr>
            <a:r>
              <a:rPr sz="1700" b="1" i="0" spc="-30">
                <a:solidFill>
                  <a:srgbClr val="1D1D1F"/>
                </a:solidFill>
                <a:latin typeface="Helvetica Neue"/>
              </a:rPr>
              <a:t>2018 Fixture Motors Strata EX AWD</a:t>
            </a:r>
          </a:p>
        </p:txBody>
      </p:sp>
      <p:sp>
        <p:nvSpPr>
          <p:cNvPr id="13" name="Rounded Rectangle 12"/>
          <p:cNvSpPr/>
          <p:nvPr/>
        </p:nvSpPr>
        <p:spPr>
          <a:xfrm>
            <a:off x="8275320" y="2331720"/>
            <a:ext cx="1536192" cy="640080"/>
          </a:xfrm>
          <a:prstGeom prst="roundRect">
            <a:avLst>
              <a:gd name="adj" fmla="val 17142"/>
            </a:avLst>
          </a:prstGeom>
          <a:solidFill>
            <a:srgbClr val="F5F5F7"/>
          </a:solidFill>
          <a:ln w="9525">
            <a:solidFill>
              <a:srgbClr val="E3E3E8"/>
            </a:solidFill>
          </a:ln>
          <a:effectLst/>
        </p:spPr>
        <p:txBody>
          <a:bodyPr rtlCol="0" anchor="ctr"/>
          <a:lstStyle/>
          <a:p>
            <a:pPr algn="ctr"/>
          </a:p>
        </p:txBody>
      </p:sp>
      <p:sp>
        <p:nvSpPr>
          <p:cNvPr id="14" name="TextBox 13"/>
          <p:cNvSpPr txBox="1"/>
          <p:nvPr/>
        </p:nvSpPr>
        <p:spPr>
          <a:xfrm>
            <a:off x="8385048" y="2395727"/>
            <a:ext cx="137160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Starts engine</a:t>
            </a:r>
          </a:p>
        </p:txBody>
      </p:sp>
      <p:sp>
        <p:nvSpPr>
          <p:cNvPr id="15" name="Rounded Rectangle 14"/>
          <p:cNvSpPr/>
          <p:nvPr/>
        </p:nvSpPr>
        <p:spPr>
          <a:xfrm>
            <a:off x="8385048" y="2633472"/>
            <a:ext cx="455676"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50" b="1" i="0">
                <a:solidFill>
                  <a:srgbClr val="B0383E"/>
                </a:solidFill>
                <a:latin typeface="Helvetica Neue"/>
              </a:rPr>
              <a:t>No</a:t>
            </a:r>
          </a:p>
        </p:txBody>
      </p:sp>
      <p:sp>
        <p:nvSpPr>
          <p:cNvPr id="16" name="Rounded Rectangle 15"/>
          <p:cNvSpPr/>
          <p:nvPr/>
        </p:nvSpPr>
        <p:spPr>
          <a:xfrm>
            <a:off x="9902952" y="2331720"/>
            <a:ext cx="1536192" cy="640080"/>
          </a:xfrm>
          <a:prstGeom prst="roundRect">
            <a:avLst>
              <a:gd name="adj" fmla="val 17142"/>
            </a:avLst>
          </a:prstGeom>
          <a:solidFill>
            <a:srgbClr val="F5F5F7"/>
          </a:solidFill>
          <a:ln w="9525">
            <a:solidFill>
              <a:srgbClr val="E3E3E8"/>
            </a:solidFill>
          </a:ln>
          <a:effectLst/>
        </p:spPr>
        <p:txBody>
          <a:bodyPr rtlCol="0" anchor="ctr"/>
          <a:lstStyle/>
          <a:p>
            <a:pPr algn="ctr"/>
          </a:p>
        </p:txBody>
      </p:sp>
      <p:sp>
        <p:nvSpPr>
          <p:cNvPr id="17" name="TextBox 16"/>
          <p:cNvSpPr txBox="1"/>
          <p:nvPr/>
        </p:nvSpPr>
        <p:spPr>
          <a:xfrm>
            <a:off x="10012680" y="2395727"/>
            <a:ext cx="137160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Drivable</a:t>
            </a:r>
          </a:p>
        </p:txBody>
      </p:sp>
      <p:sp>
        <p:nvSpPr>
          <p:cNvPr id="18" name="Rounded Rectangle 17"/>
          <p:cNvSpPr/>
          <p:nvPr/>
        </p:nvSpPr>
        <p:spPr>
          <a:xfrm>
            <a:off x="10012680" y="2633472"/>
            <a:ext cx="455676"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50" b="1" i="0">
                <a:solidFill>
                  <a:srgbClr val="B0383E"/>
                </a:solidFill>
                <a:latin typeface="Helvetica Neue"/>
              </a:rPr>
              <a:t>No</a:t>
            </a:r>
          </a:p>
        </p:txBody>
      </p:sp>
      <p:sp>
        <p:nvSpPr>
          <p:cNvPr id="19" name="Rounded Rectangle 18"/>
          <p:cNvSpPr/>
          <p:nvPr/>
        </p:nvSpPr>
        <p:spPr>
          <a:xfrm>
            <a:off x="8275320" y="3081527"/>
            <a:ext cx="1536192" cy="640080"/>
          </a:xfrm>
          <a:prstGeom prst="roundRect">
            <a:avLst>
              <a:gd name="adj" fmla="val 17142"/>
            </a:avLst>
          </a:prstGeom>
          <a:solidFill>
            <a:srgbClr val="F5F5F7"/>
          </a:solidFill>
          <a:ln w="9525">
            <a:solidFill>
              <a:srgbClr val="E3E3E8"/>
            </a:solidFill>
          </a:ln>
          <a:effectLst/>
        </p:spPr>
        <p:txBody>
          <a:bodyPr rtlCol="0" anchor="ctr"/>
          <a:lstStyle/>
          <a:p>
            <a:pPr algn="ctr"/>
          </a:p>
        </p:txBody>
      </p:sp>
      <p:sp>
        <p:nvSpPr>
          <p:cNvPr id="20" name="TextBox 19"/>
          <p:cNvSpPr txBox="1"/>
          <p:nvPr/>
        </p:nvSpPr>
        <p:spPr>
          <a:xfrm>
            <a:off x="8385048" y="3145535"/>
            <a:ext cx="137160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Keys</a:t>
            </a:r>
          </a:p>
        </p:txBody>
      </p:sp>
      <p:sp>
        <p:nvSpPr>
          <p:cNvPr id="21" name="Rounded Rectangle 20"/>
          <p:cNvSpPr/>
          <p:nvPr/>
        </p:nvSpPr>
        <p:spPr>
          <a:xfrm>
            <a:off x="8385048" y="3383279"/>
            <a:ext cx="817626" cy="237744"/>
          </a:xfrm>
          <a:prstGeom prst="roundRect">
            <a:avLst>
              <a:gd name="adj" fmla="val 50000"/>
            </a:avLst>
          </a:prstGeom>
          <a:solidFill>
            <a:srgbClr val="EFECFB"/>
          </a:solidFill>
          <a:ln>
            <a:noFill/>
          </a:ln>
          <a:effectLst/>
        </p:spPr>
        <p:txBody>
          <a:bodyPr rtlCol="0" anchor="ctr" wrap="none" tIns="0" bIns="0">
            <a:noAutofit/>
          </a:bodyPr>
          <a:lstStyle/>
          <a:p>
            <a:pPr algn="ctr">
              <a:lnSpc>
                <a:spcPct val="112000"/>
              </a:lnSpc>
              <a:spcAft>
                <a:spcPts val="0"/>
              </a:spcAft>
            </a:pPr>
            <a:r>
              <a:rPr sz="950" b="1" i="0">
                <a:solidFill>
                  <a:srgbClr val="5E4BB0"/>
                </a:solidFill>
                <a:latin typeface="Helvetica Neue"/>
              </a:rPr>
              <a:t>Unknown</a:t>
            </a:r>
          </a:p>
        </p:txBody>
      </p:sp>
      <p:sp>
        <p:nvSpPr>
          <p:cNvPr id="22" name="Rounded Rectangle 21"/>
          <p:cNvSpPr/>
          <p:nvPr/>
        </p:nvSpPr>
        <p:spPr>
          <a:xfrm>
            <a:off x="9902952" y="3081527"/>
            <a:ext cx="1536192" cy="640080"/>
          </a:xfrm>
          <a:prstGeom prst="roundRect">
            <a:avLst>
              <a:gd name="adj" fmla="val 17142"/>
            </a:avLst>
          </a:prstGeom>
          <a:solidFill>
            <a:srgbClr val="F5F5F7"/>
          </a:solidFill>
          <a:ln w="9525">
            <a:solidFill>
              <a:srgbClr val="E3E3E8"/>
            </a:solidFill>
          </a:ln>
          <a:effectLst/>
        </p:spPr>
        <p:txBody>
          <a:bodyPr rtlCol="0" anchor="ctr"/>
          <a:lstStyle/>
          <a:p>
            <a:pPr algn="ctr"/>
          </a:p>
        </p:txBody>
      </p:sp>
      <p:sp>
        <p:nvSpPr>
          <p:cNvPr id="23" name="TextBox 22"/>
          <p:cNvSpPr txBox="1"/>
          <p:nvPr/>
        </p:nvSpPr>
        <p:spPr>
          <a:xfrm>
            <a:off x="10012680" y="3145535"/>
            <a:ext cx="137160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Title</a:t>
            </a:r>
          </a:p>
        </p:txBody>
      </p:sp>
      <p:sp>
        <p:nvSpPr>
          <p:cNvPr id="24" name="Rounded Rectangle 23"/>
          <p:cNvSpPr/>
          <p:nvPr/>
        </p:nvSpPr>
        <p:spPr>
          <a:xfrm>
            <a:off x="10012680" y="3383279"/>
            <a:ext cx="672846"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clean</a:t>
            </a:r>
          </a:p>
        </p:txBody>
      </p:sp>
      <p:sp>
        <p:nvSpPr>
          <p:cNvPr id="25" name="Oval 24"/>
          <p:cNvSpPr/>
          <p:nvPr/>
        </p:nvSpPr>
        <p:spPr>
          <a:xfrm>
            <a:off x="8275320" y="3950208"/>
            <a:ext cx="347472" cy="347472"/>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200" b="1" i="0">
                <a:solidFill>
                  <a:srgbClr val="2F7A4F"/>
                </a:solidFill>
                <a:latin typeface="Helvetica Neue"/>
              </a:rPr>
              <a:t>✓</a:t>
            </a:r>
          </a:p>
        </p:txBody>
      </p:sp>
      <p:sp>
        <p:nvSpPr>
          <p:cNvPr id="26" name="TextBox 25"/>
          <p:cNvSpPr txBox="1"/>
          <p:nvPr/>
        </p:nvSpPr>
        <p:spPr>
          <a:xfrm>
            <a:off x="8732520" y="3941064"/>
            <a:ext cx="1828800" cy="384048"/>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1. Value</a:t>
            </a:r>
          </a:p>
          <a:p>
            <a:pPr algn="l">
              <a:lnSpc>
                <a:spcPct val="100000"/>
              </a:lnSpc>
              <a:spcAft>
                <a:spcPts val="0"/>
              </a:spcAft>
            </a:pPr>
            <a:r>
              <a:rPr sz="1000" b="0" i="0">
                <a:solidFill>
                  <a:srgbClr val="6E6E73"/>
                </a:solidFill>
                <a:latin typeface="Helvetica Neue"/>
              </a:rPr>
              <a:t>BestExit</a:t>
            </a:r>
          </a:p>
        </p:txBody>
      </p:sp>
      <p:sp>
        <p:nvSpPr>
          <p:cNvPr id="27" name="TextBox 26"/>
          <p:cNvSpPr txBox="1"/>
          <p:nvPr/>
        </p:nvSpPr>
        <p:spPr>
          <a:xfrm>
            <a:off x="10287000" y="4005072"/>
            <a:ext cx="12344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2F7A4F"/>
                </a:solidFill>
                <a:latin typeface="Helvetica Neue"/>
              </a:rPr>
              <a:t>$10,950 net</a:t>
            </a:r>
          </a:p>
        </p:txBody>
      </p:sp>
      <p:sp>
        <p:nvSpPr>
          <p:cNvPr id="28" name="Oval 27"/>
          <p:cNvSpPr/>
          <p:nvPr/>
        </p:nvSpPr>
        <p:spPr>
          <a:xfrm>
            <a:off x="8275320" y="4480560"/>
            <a:ext cx="347472" cy="347472"/>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200" b="1" i="0">
                <a:solidFill>
                  <a:srgbClr val="2F7A4F"/>
                </a:solidFill>
                <a:latin typeface="Helvetica Neue"/>
              </a:rPr>
              <a:t>✓</a:t>
            </a:r>
          </a:p>
        </p:txBody>
      </p:sp>
      <p:sp>
        <p:nvSpPr>
          <p:cNvPr id="29" name="TextBox 28"/>
          <p:cNvSpPr txBox="1"/>
          <p:nvPr/>
        </p:nvSpPr>
        <p:spPr>
          <a:xfrm>
            <a:off x="8732520" y="4471416"/>
            <a:ext cx="1828800" cy="384048"/>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2. Inspect</a:t>
            </a:r>
          </a:p>
          <a:p>
            <a:pPr algn="l">
              <a:lnSpc>
                <a:spcPct val="100000"/>
              </a:lnSpc>
              <a:spcAft>
                <a:spcPts val="0"/>
              </a:spcAft>
            </a:pPr>
            <a:r>
              <a:rPr sz="1000" b="0" i="0">
                <a:solidFill>
                  <a:srgbClr val="6E6E73"/>
                </a:solidFill>
                <a:latin typeface="Helvetica Neue"/>
              </a:rPr>
              <a:t>SecondLook</a:t>
            </a:r>
          </a:p>
        </p:txBody>
      </p:sp>
      <p:sp>
        <p:nvSpPr>
          <p:cNvPr id="30" name="TextBox 29"/>
          <p:cNvSpPr txBox="1"/>
          <p:nvPr/>
        </p:nvSpPr>
        <p:spPr>
          <a:xfrm>
            <a:off x="10287000" y="4535424"/>
            <a:ext cx="12344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2F7A4F"/>
                </a:solidFill>
                <a:latin typeface="Helvetica Neue"/>
              </a:rPr>
              <a:t>cited by AI</a:t>
            </a:r>
          </a:p>
        </p:txBody>
      </p:sp>
      <p:sp>
        <p:nvSpPr>
          <p:cNvPr id="31" name="Oval 30"/>
          <p:cNvSpPr/>
          <p:nvPr/>
        </p:nvSpPr>
        <p:spPr>
          <a:xfrm>
            <a:off x="8275320" y="5010912"/>
            <a:ext cx="347472" cy="347472"/>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200" b="1" i="0">
                <a:solidFill>
                  <a:srgbClr val="2F7A4F"/>
                </a:solidFill>
                <a:latin typeface="Helvetica Neue"/>
              </a:rPr>
              <a:t>✓</a:t>
            </a:r>
          </a:p>
        </p:txBody>
      </p:sp>
      <p:sp>
        <p:nvSpPr>
          <p:cNvPr id="32" name="TextBox 31"/>
          <p:cNvSpPr txBox="1"/>
          <p:nvPr/>
        </p:nvSpPr>
        <p:spPr>
          <a:xfrm>
            <a:off x="8732520" y="5001768"/>
            <a:ext cx="1828800" cy="384048"/>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3. Sell</a:t>
            </a:r>
          </a:p>
          <a:p>
            <a:pPr algn="l">
              <a:lnSpc>
                <a:spcPct val="100000"/>
              </a:lnSpc>
              <a:spcAft>
                <a:spcPts val="0"/>
              </a:spcAft>
            </a:pPr>
            <a:r>
              <a:rPr sz="1000" b="0" i="0">
                <a:solidFill>
                  <a:srgbClr val="6E6E73"/>
                </a:solidFill>
                <a:latin typeface="Helvetica Neue"/>
              </a:rPr>
              <a:t>Simulated deal</a:t>
            </a:r>
          </a:p>
        </p:txBody>
      </p:sp>
      <p:sp>
        <p:nvSpPr>
          <p:cNvPr id="33" name="TextBox 32"/>
          <p:cNvSpPr txBox="1"/>
          <p:nvPr/>
        </p:nvSpPr>
        <p:spPr>
          <a:xfrm>
            <a:off x="10287000" y="5065776"/>
            <a:ext cx="12344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2F7A4F"/>
                </a:solidFill>
                <a:latin typeface="Helvetica Neue"/>
              </a:rPr>
              <a:t>$12,365 landed</a:t>
            </a:r>
          </a:p>
        </p:txBody>
      </p:sp>
      <p:sp>
        <p:nvSpPr>
          <p:cNvPr id="34" name="Oval 33"/>
          <p:cNvSpPr/>
          <p:nvPr/>
        </p:nvSpPr>
        <p:spPr>
          <a:xfrm>
            <a:off x="8275320" y="5541264"/>
            <a:ext cx="347472" cy="347472"/>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200" b="1" i="0">
                <a:solidFill>
                  <a:srgbClr val="2F7A4F"/>
                </a:solidFill>
                <a:latin typeface="Helvetica Neue"/>
              </a:rPr>
              <a:t>✓</a:t>
            </a:r>
          </a:p>
        </p:txBody>
      </p:sp>
      <p:sp>
        <p:nvSpPr>
          <p:cNvPr id="35" name="TextBox 34"/>
          <p:cNvSpPr txBox="1"/>
          <p:nvPr/>
        </p:nvSpPr>
        <p:spPr>
          <a:xfrm>
            <a:off x="8732520" y="5532120"/>
            <a:ext cx="1828800" cy="384048"/>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4. Deliver</a:t>
            </a:r>
          </a:p>
          <a:p>
            <a:pPr algn="l">
              <a:lnSpc>
                <a:spcPct val="100000"/>
              </a:lnSpc>
              <a:spcAft>
                <a:spcPts val="0"/>
              </a:spcAft>
            </a:pPr>
            <a:r>
              <a:rPr sz="1000" b="0" i="0">
                <a:solidFill>
                  <a:srgbClr val="6E6E73"/>
                </a:solidFill>
                <a:latin typeface="Helvetica Neue"/>
              </a:rPr>
              <a:t>LoadLink</a:t>
            </a:r>
          </a:p>
        </p:txBody>
      </p:sp>
      <p:sp>
        <p:nvSpPr>
          <p:cNvPr id="36" name="TextBox 35"/>
          <p:cNvSpPr txBox="1"/>
          <p:nvPr/>
        </p:nvSpPr>
        <p:spPr>
          <a:xfrm>
            <a:off x="10287000" y="5596128"/>
            <a:ext cx="12344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2F7A4F"/>
                </a:solidFill>
                <a:latin typeface="Helvetica Neue"/>
              </a:rPr>
              <a:t>winch truck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3023463"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The problem</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The same car gets re-typed four times.</a:t>
            </a:r>
          </a:p>
        </p:txBody>
      </p:sp>
      <p:sp>
        <p:nvSpPr>
          <p:cNvPr id="18"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Appraisal, inspection, auction and transport each keep their own copy of the truth. Every hand-off leaks money, and a real person pays for it.</a:t>
            </a:r>
          </a:p>
        </p:txBody>
      </p:sp>
      <p:sp>
        <p:nvSpPr>
          <p:cNvPr id="19" name="!!stage_0"/>
          <p:cNvSpPr/>
          <p:nvPr/>
        </p:nvSpPr>
        <p:spPr>
          <a:xfrm>
            <a:off x="548640" y="2578608"/>
            <a:ext cx="2651760" cy="1481328"/>
          </a:xfrm>
          <a:prstGeom prst="roundRect">
            <a:avLst>
              <a:gd name="adj" fmla="val 1234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0" name="TextBox 19"/>
          <p:cNvSpPr txBox="1"/>
          <p:nvPr/>
        </p:nvSpPr>
        <p:spPr>
          <a:xfrm>
            <a:off x="731520" y="2724912"/>
            <a:ext cx="1554480" cy="274320"/>
          </a:xfrm>
          <a:prstGeom prst="rect">
            <a:avLst/>
          </a:prstGeom>
          <a:noFill/>
        </p:spPr>
        <p:txBody>
          <a:bodyPr wrap="square" lIns="0" rIns="0" tIns="0" bIns="0" anchor="t">
            <a:noAutofit/>
          </a:bodyPr>
          <a:lstStyle/>
          <a:p>
            <a:pPr algn="l">
              <a:lnSpc>
                <a:spcPct val="112000"/>
              </a:lnSpc>
              <a:spcAft>
                <a:spcPts val="0"/>
              </a:spcAft>
            </a:pPr>
            <a:r>
              <a:rPr sz="1600" b="1" i="0">
                <a:solidFill>
                  <a:srgbClr val="1D1D1F"/>
                </a:solidFill>
                <a:latin typeface="Helvetica Neue"/>
              </a:rPr>
              <a:t>Appraisal</a:t>
            </a:r>
          </a:p>
        </p:txBody>
      </p:sp>
      <p:sp>
        <p:nvSpPr>
          <p:cNvPr id="21" name="Rounded Rectangle 20"/>
          <p:cNvSpPr/>
          <p:nvPr/>
        </p:nvSpPr>
        <p:spPr>
          <a:xfrm>
            <a:off x="2249424" y="2734056"/>
            <a:ext cx="786384"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own copy</a:t>
            </a:r>
          </a:p>
        </p:txBody>
      </p:sp>
      <p:sp>
        <p:nvSpPr>
          <p:cNvPr id="22" name="TextBox 21"/>
          <p:cNvSpPr txBox="1"/>
          <p:nvPr/>
        </p:nvSpPr>
        <p:spPr>
          <a:xfrm>
            <a:off x="731520" y="3090672"/>
            <a:ext cx="2331720" cy="868680"/>
          </a:xfrm>
          <a:prstGeom prst="rect">
            <a:avLst/>
          </a:prstGeom>
          <a:noFill/>
        </p:spPr>
        <p:txBody>
          <a:bodyPr wrap="square" lIns="0" rIns="0" tIns="0" bIns="0" anchor="t">
            <a:noAutofit/>
          </a:bodyPr>
          <a:lstStyle/>
          <a:p>
            <a:pPr algn="l">
              <a:lnSpc>
                <a:spcPct val="115000"/>
              </a:lnSpc>
              <a:spcAft>
                <a:spcPts val="0"/>
              </a:spcAft>
            </a:pPr>
            <a:r>
              <a:rPr sz="1250" b="0" i="0">
                <a:solidFill>
                  <a:srgbClr val="B0383E"/>
                </a:solidFill>
                <a:latin typeface="Helvetica Neue"/>
              </a:rPr>
              <a:t>Quoted gross, not what the seller keeps → wrong channel.</a:t>
            </a:r>
          </a:p>
        </p:txBody>
      </p:sp>
      <p:cxnSp>
        <p:nvCxnSpPr>
          <p:cNvPr id="23" name="Connector 22"/>
          <p:cNvCxnSpPr/>
          <p:nvPr/>
        </p:nvCxnSpPr>
        <p:spPr>
          <a:xfrm>
            <a:off x="3218688" y="3319272"/>
            <a:ext cx="164592" cy="0"/>
          </a:xfrm>
          <a:prstGeom prst="line">
            <a:avLst/>
          </a:prstGeom>
          <a:ln w="15875">
            <a:solidFill>
              <a:srgbClr val="C7C7CC"/>
            </a:solidFill>
            <a:tailEnd type="triangle" w="med" len="med"/>
          </a:ln>
        </p:spPr>
      </p:cxnSp>
      <p:sp>
        <p:nvSpPr>
          <p:cNvPr id="24" name="!!stage_1"/>
          <p:cNvSpPr/>
          <p:nvPr/>
        </p:nvSpPr>
        <p:spPr>
          <a:xfrm>
            <a:off x="3401568" y="2578608"/>
            <a:ext cx="2651760" cy="1481328"/>
          </a:xfrm>
          <a:prstGeom prst="roundRect">
            <a:avLst>
              <a:gd name="adj" fmla="val 1234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3584448" y="2724912"/>
            <a:ext cx="1554480" cy="274320"/>
          </a:xfrm>
          <a:prstGeom prst="rect">
            <a:avLst/>
          </a:prstGeom>
          <a:noFill/>
        </p:spPr>
        <p:txBody>
          <a:bodyPr wrap="square" lIns="0" rIns="0" tIns="0" bIns="0" anchor="t">
            <a:noAutofit/>
          </a:bodyPr>
          <a:lstStyle/>
          <a:p>
            <a:pPr algn="l">
              <a:lnSpc>
                <a:spcPct val="112000"/>
              </a:lnSpc>
              <a:spcAft>
                <a:spcPts val="0"/>
              </a:spcAft>
            </a:pPr>
            <a:r>
              <a:rPr sz="1600" b="1" i="0">
                <a:solidFill>
                  <a:srgbClr val="1D1D1F"/>
                </a:solidFill>
                <a:latin typeface="Helvetica Neue"/>
              </a:rPr>
              <a:t>Inspection</a:t>
            </a:r>
          </a:p>
        </p:txBody>
      </p:sp>
      <p:sp>
        <p:nvSpPr>
          <p:cNvPr id="26" name="Rounded Rectangle 25"/>
          <p:cNvSpPr/>
          <p:nvPr/>
        </p:nvSpPr>
        <p:spPr>
          <a:xfrm>
            <a:off x="5102352" y="2734056"/>
            <a:ext cx="786384"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own copy</a:t>
            </a:r>
          </a:p>
        </p:txBody>
      </p:sp>
      <p:sp>
        <p:nvSpPr>
          <p:cNvPr id="27" name="TextBox 26"/>
          <p:cNvSpPr txBox="1"/>
          <p:nvPr/>
        </p:nvSpPr>
        <p:spPr>
          <a:xfrm>
            <a:off x="3584448" y="3090672"/>
            <a:ext cx="2331720" cy="868680"/>
          </a:xfrm>
          <a:prstGeom prst="rect">
            <a:avLst/>
          </a:prstGeom>
          <a:noFill/>
        </p:spPr>
        <p:txBody>
          <a:bodyPr wrap="square" lIns="0" rIns="0" tIns="0" bIns="0" anchor="t">
            <a:noAutofit/>
          </a:bodyPr>
          <a:lstStyle/>
          <a:p>
            <a:pPr algn="l">
              <a:lnSpc>
                <a:spcPct val="115000"/>
              </a:lnSpc>
              <a:spcAft>
                <a:spcPts val="0"/>
              </a:spcAft>
            </a:pPr>
            <a:r>
              <a:rPr sz="1250" b="0" i="0">
                <a:solidFill>
                  <a:srgbClr val="B0383E"/>
                </a:solidFill>
                <a:latin typeface="Helvetica Neue"/>
              </a:rPr>
              <a:t>Notes disagree; ‘not observed’ quietly becomes ‘yes’ → arbitration.</a:t>
            </a:r>
          </a:p>
        </p:txBody>
      </p:sp>
      <p:cxnSp>
        <p:nvCxnSpPr>
          <p:cNvPr id="28" name="Connector 27"/>
          <p:cNvCxnSpPr/>
          <p:nvPr/>
        </p:nvCxnSpPr>
        <p:spPr>
          <a:xfrm>
            <a:off x="6071616" y="3319272"/>
            <a:ext cx="164592" cy="0"/>
          </a:xfrm>
          <a:prstGeom prst="line">
            <a:avLst/>
          </a:prstGeom>
          <a:ln w="15875">
            <a:solidFill>
              <a:srgbClr val="C7C7CC"/>
            </a:solidFill>
            <a:tailEnd type="triangle" w="med" len="med"/>
          </a:ln>
        </p:spPr>
      </p:cxnSp>
      <p:sp>
        <p:nvSpPr>
          <p:cNvPr id="29" name="!!stage_2"/>
          <p:cNvSpPr/>
          <p:nvPr/>
        </p:nvSpPr>
        <p:spPr>
          <a:xfrm>
            <a:off x="6254496" y="2578608"/>
            <a:ext cx="2651760" cy="1481328"/>
          </a:xfrm>
          <a:prstGeom prst="roundRect">
            <a:avLst>
              <a:gd name="adj" fmla="val 1234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0" name="TextBox 29"/>
          <p:cNvSpPr txBox="1"/>
          <p:nvPr/>
        </p:nvSpPr>
        <p:spPr>
          <a:xfrm>
            <a:off x="6437376" y="2724912"/>
            <a:ext cx="1554480" cy="274320"/>
          </a:xfrm>
          <a:prstGeom prst="rect">
            <a:avLst/>
          </a:prstGeom>
          <a:noFill/>
        </p:spPr>
        <p:txBody>
          <a:bodyPr wrap="square" lIns="0" rIns="0" tIns="0" bIns="0" anchor="t">
            <a:noAutofit/>
          </a:bodyPr>
          <a:lstStyle/>
          <a:p>
            <a:pPr algn="l">
              <a:lnSpc>
                <a:spcPct val="112000"/>
              </a:lnSpc>
              <a:spcAft>
                <a:spcPts val="0"/>
              </a:spcAft>
            </a:pPr>
            <a:r>
              <a:rPr sz="1600" b="1" i="0">
                <a:solidFill>
                  <a:srgbClr val="1D1D1F"/>
                </a:solidFill>
                <a:latin typeface="Helvetica Neue"/>
              </a:rPr>
              <a:t>Auction</a:t>
            </a:r>
          </a:p>
        </p:txBody>
      </p:sp>
      <p:sp>
        <p:nvSpPr>
          <p:cNvPr id="31" name="Rounded Rectangle 30"/>
          <p:cNvSpPr/>
          <p:nvPr/>
        </p:nvSpPr>
        <p:spPr>
          <a:xfrm>
            <a:off x="7955279" y="2734056"/>
            <a:ext cx="786384"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own copy</a:t>
            </a:r>
          </a:p>
        </p:txBody>
      </p:sp>
      <p:sp>
        <p:nvSpPr>
          <p:cNvPr id="32" name="TextBox 31"/>
          <p:cNvSpPr txBox="1"/>
          <p:nvPr/>
        </p:nvSpPr>
        <p:spPr>
          <a:xfrm>
            <a:off x="6437376" y="3090672"/>
            <a:ext cx="2331720" cy="868680"/>
          </a:xfrm>
          <a:prstGeom prst="rect">
            <a:avLst/>
          </a:prstGeom>
          <a:noFill/>
        </p:spPr>
        <p:txBody>
          <a:bodyPr wrap="square" lIns="0" rIns="0" tIns="0" bIns="0" anchor="t">
            <a:noAutofit/>
          </a:bodyPr>
          <a:lstStyle/>
          <a:p>
            <a:pPr algn="l">
              <a:lnSpc>
                <a:spcPct val="115000"/>
              </a:lnSpc>
              <a:spcAft>
                <a:spcPts val="0"/>
              </a:spcAft>
            </a:pPr>
            <a:r>
              <a:rPr sz="1250" b="0" i="0">
                <a:solidFill>
                  <a:srgbClr val="B0383E"/>
                </a:solidFill>
                <a:latin typeface="Helvetica Neue"/>
              </a:rPr>
              <a:t>Sold on yesterday’s facts → the price is no longer true.</a:t>
            </a:r>
          </a:p>
        </p:txBody>
      </p:sp>
      <p:cxnSp>
        <p:nvCxnSpPr>
          <p:cNvPr id="33" name="Connector 32"/>
          <p:cNvCxnSpPr/>
          <p:nvPr/>
        </p:nvCxnSpPr>
        <p:spPr>
          <a:xfrm>
            <a:off x="8924544" y="3319272"/>
            <a:ext cx="164592" cy="0"/>
          </a:xfrm>
          <a:prstGeom prst="line">
            <a:avLst/>
          </a:prstGeom>
          <a:ln w="15875">
            <a:solidFill>
              <a:srgbClr val="C7C7CC"/>
            </a:solidFill>
            <a:tailEnd type="triangle" w="med" len="med"/>
          </a:ln>
        </p:spPr>
      </p:cxnSp>
      <p:sp>
        <p:nvSpPr>
          <p:cNvPr id="34" name="!!stage_3"/>
          <p:cNvSpPr/>
          <p:nvPr/>
        </p:nvSpPr>
        <p:spPr>
          <a:xfrm>
            <a:off x="9107424" y="2578608"/>
            <a:ext cx="2651760" cy="1481328"/>
          </a:xfrm>
          <a:prstGeom prst="roundRect">
            <a:avLst>
              <a:gd name="adj" fmla="val 1234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5" name="TextBox 34"/>
          <p:cNvSpPr txBox="1"/>
          <p:nvPr/>
        </p:nvSpPr>
        <p:spPr>
          <a:xfrm>
            <a:off x="9290303" y="2724912"/>
            <a:ext cx="1554480" cy="274320"/>
          </a:xfrm>
          <a:prstGeom prst="rect">
            <a:avLst/>
          </a:prstGeom>
          <a:noFill/>
        </p:spPr>
        <p:txBody>
          <a:bodyPr wrap="square" lIns="0" rIns="0" tIns="0" bIns="0" anchor="t">
            <a:noAutofit/>
          </a:bodyPr>
          <a:lstStyle/>
          <a:p>
            <a:pPr algn="l">
              <a:lnSpc>
                <a:spcPct val="112000"/>
              </a:lnSpc>
              <a:spcAft>
                <a:spcPts val="0"/>
              </a:spcAft>
            </a:pPr>
            <a:r>
              <a:rPr sz="1600" b="1" i="0">
                <a:solidFill>
                  <a:srgbClr val="1D1D1F"/>
                </a:solidFill>
                <a:latin typeface="Helvetica Neue"/>
              </a:rPr>
              <a:t>Transport</a:t>
            </a:r>
          </a:p>
        </p:txBody>
      </p:sp>
      <p:sp>
        <p:nvSpPr>
          <p:cNvPr id="36" name="Rounded Rectangle 35"/>
          <p:cNvSpPr/>
          <p:nvPr/>
        </p:nvSpPr>
        <p:spPr>
          <a:xfrm>
            <a:off x="10808207" y="2734056"/>
            <a:ext cx="786384"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own copy</a:t>
            </a:r>
          </a:p>
        </p:txBody>
      </p:sp>
      <p:sp>
        <p:nvSpPr>
          <p:cNvPr id="37" name="TextBox 36"/>
          <p:cNvSpPr txBox="1"/>
          <p:nvPr/>
        </p:nvSpPr>
        <p:spPr>
          <a:xfrm>
            <a:off x="9290303" y="3090672"/>
            <a:ext cx="2331720" cy="868680"/>
          </a:xfrm>
          <a:prstGeom prst="rect">
            <a:avLst/>
          </a:prstGeom>
          <a:noFill/>
        </p:spPr>
        <p:txBody>
          <a:bodyPr wrap="square" lIns="0" rIns="0" tIns="0" bIns="0" anchor="t">
            <a:noAutofit/>
          </a:bodyPr>
          <a:lstStyle/>
          <a:p>
            <a:pPr algn="l">
              <a:lnSpc>
                <a:spcPct val="115000"/>
              </a:lnSpc>
              <a:spcAft>
                <a:spcPts val="0"/>
              </a:spcAft>
            </a:pPr>
            <a:r>
              <a:rPr sz="1250" b="0" i="0">
                <a:solidFill>
                  <a:srgbClr val="B0383E"/>
                </a:solidFill>
                <a:latin typeface="Helvetica Neue"/>
              </a:rPr>
              <a:t>A truck without a winch meets a non-runner → dry run.</a:t>
            </a:r>
          </a:p>
        </p:txBody>
      </p:sp>
      <p:sp>
        <p:nvSpPr>
          <p:cNvPr id="38" name="TextBox 37"/>
          <p:cNvSpPr txBox="1"/>
          <p:nvPr/>
        </p:nvSpPr>
        <p:spPr>
          <a:xfrm>
            <a:off x="548640" y="4261104"/>
            <a:ext cx="5486400" cy="274320"/>
          </a:xfrm>
          <a:prstGeom prst="rect">
            <a:avLst/>
          </a:prstGeom>
          <a:noFill/>
        </p:spPr>
        <p:txBody>
          <a:bodyPr wrap="square" lIns="0" rIns="0" tIns="0" bIns="0" anchor="t">
            <a:noAutofit/>
          </a:bodyPr>
          <a:lstStyle/>
          <a:p>
            <a:pPr algn="l">
              <a:lnSpc>
                <a:spcPct val="112000"/>
              </a:lnSpc>
              <a:spcAft>
                <a:spcPts val="0"/>
              </a:spcAft>
            </a:pPr>
            <a:r>
              <a:rPr sz="1300" b="1" i="0">
                <a:solidFill>
                  <a:srgbClr val="6E6E73"/>
                </a:solidFill>
                <a:latin typeface="Helvetica Neue"/>
              </a:rPr>
              <a:t>Who feels it (click a person)</a:t>
            </a:r>
          </a:p>
        </p:txBody>
      </p:sp>
      <p:sp>
        <p:nvSpPr>
          <p:cNvPr id="39" name="!!persona_0">
            <a:hlinkClick action="ppaction://hlinksldjump" r:id="rId11"/>
          </p:cNvPr>
          <p:cNvSpPr/>
          <p:nvPr/>
        </p:nvSpPr>
        <p:spPr>
          <a:xfrm>
            <a:off x="548640" y="4572000"/>
            <a:ext cx="3611880" cy="169164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0" name="Oval 39">
            <a:hlinkClick action="ppaction://hlinksldjump" r:id="rId11"/>
          </p:cNvPr>
          <p:cNvSpPr/>
          <p:nvPr/>
        </p:nvSpPr>
        <p:spPr>
          <a:xfrm>
            <a:off x="749808" y="4754880"/>
            <a:ext cx="566928" cy="566928"/>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500" b="1" i="0">
                <a:solidFill>
                  <a:srgbClr val="2560D6"/>
                </a:solidFill>
                <a:latin typeface="Helvetica Neue"/>
              </a:rPr>
              <a:t>DR</a:t>
            </a:r>
          </a:p>
        </p:txBody>
      </p:sp>
      <p:sp>
        <p:nvSpPr>
          <p:cNvPr id="41" name="TextBox 40"/>
          <p:cNvSpPr txBox="1"/>
          <p:nvPr/>
        </p:nvSpPr>
        <p:spPr>
          <a:xfrm>
            <a:off x="1463040" y="4754880"/>
            <a:ext cx="2560320" cy="566928"/>
          </a:xfrm>
          <a:prstGeom prst="rect">
            <a:avLst/>
          </a:prstGeom>
          <a:noFill/>
        </p:spPr>
        <p:txBody>
          <a:bodyPr wrap="square" lIns="0" rIns="0" tIns="0" bIns="0" anchor="t">
            <a:noAutofit/>
          </a:bodyPr>
          <a:lstStyle/>
          <a:p>
            <a:pPr algn="l">
              <a:lnSpc>
                <a:spcPct val="105000"/>
              </a:lnSpc>
              <a:spcAft>
                <a:spcPts val="0"/>
              </a:spcAft>
            </a:pPr>
            <a:r>
              <a:rPr sz="1500" b="1" i="0">
                <a:solidFill>
                  <a:srgbClr val="1D1D1F"/>
                </a:solidFill>
                <a:latin typeface="Helvetica Neue"/>
              </a:rPr>
              <a:t>Dana</a:t>
            </a:r>
          </a:p>
          <a:p>
            <a:pPr algn="l">
              <a:lnSpc>
                <a:spcPct val="105000"/>
              </a:lnSpc>
              <a:spcAft>
                <a:spcPts val="0"/>
              </a:spcAft>
            </a:pPr>
            <a:r>
              <a:rPr sz="1100" b="0" i="0">
                <a:solidFill>
                  <a:srgbClr val="6E6E73"/>
                </a:solidFill>
                <a:latin typeface="Helvetica Neue"/>
              </a:rPr>
              <a:t>Seller · dealer remarketing</a:t>
            </a:r>
          </a:p>
        </p:txBody>
      </p:sp>
      <p:sp>
        <p:nvSpPr>
          <p:cNvPr id="42" name="TextBox 41"/>
          <p:cNvSpPr txBox="1"/>
          <p:nvPr/>
        </p:nvSpPr>
        <p:spPr>
          <a:xfrm>
            <a:off x="749808" y="5440680"/>
            <a:ext cx="3246120" cy="548640"/>
          </a:xfrm>
          <a:prstGeom prst="rect">
            <a:avLst/>
          </a:prstGeom>
          <a:noFill/>
        </p:spPr>
        <p:txBody>
          <a:bodyPr wrap="square" lIns="0" rIns="0" tIns="0" bIns="0" anchor="t">
            <a:noAutofit/>
          </a:bodyPr>
          <a:lstStyle/>
          <a:p>
            <a:pPr algn="l">
              <a:lnSpc>
                <a:spcPct val="112000"/>
              </a:lnSpc>
              <a:spcAft>
                <a:spcPts val="0"/>
              </a:spcAft>
            </a:pPr>
            <a:r>
              <a:rPr sz="1200" b="0" i="1">
                <a:solidFill>
                  <a:srgbClr val="1D1D1F"/>
                </a:solidFill>
                <a:latin typeface="Helvetica Neue"/>
              </a:rPr>
              <a:t>“Where do I net the most, and how fast do I get paid?”</a:t>
            </a:r>
          </a:p>
        </p:txBody>
      </p:sp>
      <p:sp>
        <p:nvSpPr>
          <p:cNvPr id="43" name="TextBox 42"/>
          <p:cNvSpPr txBox="1"/>
          <p:nvPr/>
        </p:nvSpPr>
        <p:spPr>
          <a:xfrm>
            <a:off x="749808" y="5943600"/>
            <a:ext cx="3200400" cy="228600"/>
          </a:xfrm>
          <a:prstGeom prst="rect">
            <a:avLst/>
          </a:prstGeom>
          <a:noFill/>
        </p:spPr>
        <p:txBody>
          <a:bodyPr wrap="square" lIns="0" rIns="0" tIns="0" bIns="0" anchor="t">
            <a:noAutofit/>
          </a:bodyPr>
          <a:lstStyle/>
          <a:p>
            <a:pPr algn="l">
              <a:lnSpc>
                <a:spcPct val="112000"/>
              </a:lnSpc>
              <a:spcAft>
                <a:spcPts val="0"/>
              </a:spcAft>
            </a:pPr>
            <a:r>
              <a:rPr sz="1050" b="1" i="0">
                <a:solidFill>
                  <a:srgbClr val="2560D6"/>
                </a:solidFill>
                <a:latin typeface="Helvetica Neue"/>
              </a:rPr>
              <a:t>See their day →</a:t>
            </a:r>
          </a:p>
        </p:txBody>
      </p:sp>
      <p:sp>
        <p:nvSpPr>
          <p:cNvPr id="44" name="!!persona_1">
            <a:hlinkClick action="ppaction://hlinksldjump" r:id="rId12"/>
          </p:cNvPr>
          <p:cNvSpPr/>
          <p:nvPr/>
        </p:nvSpPr>
        <p:spPr>
          <a:xfrm>
            <a:off x="4352544" y="4572000"/>
            <a:ext cx="3611880" cy="169164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5" name="Oval 44">
            <a:hlinkClick action="ppaction://hlinksldjump" r:id="rId12"/>
          </p:cNvPr>
          <p:cNvSpPr/>
          <p:nvPr/>
        </p:nvSpPr>
        <p:spPr>
          <a:xfrm>
            <a:off x="4553712" y="4754880"/>
            <a:ext cx="566928" cy="566928"/>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500" b="1" i="0">
                <a:solidFill>
                  <a:srgbClr val="2F7A4F"/>
                </a:solidFill>
                <a:latin typeface="Helvetica Neue"/>
              </a:rPr>
              <a:t>MT</a:t>
            </a:r>
          </a:p>
        </p:txBody>
      </p:sp>
      <p:sp>
        <p:nvSpPr>
          <p:cNvPr id="46" name="TextBox 45"/>
          <p:cNvSpPr txBox="1"/>
          <p:nvPr/>
        </p:nvSpPr>
        <p:spPr>
          <a:xfrm>
            <a:off x="5266944" y="4754880"/>
            <a:ext cx="2560320" cy="566928"/>
          </a:xfrm>
          <a:prstGeom prst="rect">
            <a:avLst/>
          </a:prstGeom>
          <a:noFill/>
        </p:spPr>
        <p:txBody>
          <a:bodyPr wrap="square" lIns="0" rIns="0" tIns="0" bIns="0" anchor="t">
            <a:noAutofit/>
          </a:bodyPr>
          <a:lstStyle/>
          <a:p>
            <a:pPr algn="l">
              <a:lnSpc>
                <a:spcPct val="105000"/>
              </a:lnSpc>
              <a:spcAft>
                <a:spcPts val="0"/>
              </a:spcAft>
            </a:pPr>
            <a:r>
              <a:rPr sz="1500" b="1" i="0">
                <a:solidFill>
                  <a:srgbClr val="1D1D1F"/>
                </a:solidFill>
                <a:latin typeface="Helvetica Neue"/>
              </a:rPr>
              <a:t>Marcus</a:t>
            </a:r>
          </a:p>
          <a:p>
            <a:pPr algn="l">
              <a:lnSpc>
                <a:spcPct val="105000"/>
              </a:lnSpc>
              <a:spcAft>
                <a:spcPts val="0"/>
              </a:spcAft>
            </a:pPr>
            <a:r>
              <a:rPr sz="1100" b="0" i="0">
                <a:solidFill>
                  <a:srgbClr val="6E6E73"/>
                </a:solidFill>
                <a:latin typeface="Helvetica Neue"/>
              </a:rPr>
              <a:t>Buyer · independent rebuilder</a:t>
            </a:r>
          </a:p>
        </p:txBody>
      </p:sp>
      <p:sp>
        <p:nvSpPr>
          <p:cNvPr id="47" name="TextBox 46"/>
          <p:cNvSpPr txBox="1"/>
          <p:nvPr/>
        </p:nvSpPr>
        <p:spPr>
          <a:xfrm>
            <a:off x="4553712" y="5440680"/>
            <a:ext cx="3246120" cy="548640"/>
          </a:xfrm>
          <a:prstGeom prst="rect">
            <a:avLst/>
          </a:prstGeom>
          <a:noFill/>
        </p:spPr>
        <p:txBody>
          <a:bodyPr wrap="square" lIns="0" rIns="0" tIns="0" bIns="0" anchor="t">
            <a:noAutofit/>
          </a:bodyPr>
          <a:lstStyle/>
          <a:p>
            <a:pPr algn="l">
              <a:lnSpc>
                <a:spcPct val="112000"/>
              </a:lnSpc>
              <a:spcAft>
                <a:spcPts val="0"/>
              </a:spcAft>
            </a:pPr>
            <a:r>
              <a:rPr sz="1200" b="0" i="1">
                <a:solidFill>
                  <a:srgbClr val="1D1D1F"/>
                </a:solidFill>
                <a:latin typeface="Helvetica Neue"/>
              </a:rPr>
              <a:t>“Is it what they say it is, and what will it cost me landed?”</a:t>
            </a:r>
          </a:p>
        </p:txBody>
      </p:sp>
      <p:sp>
        <p:nvSpPr>
          <p:cNvPr id="48" name="TextBox 47"/>
          <p:cNvSpPr txBox="1"/>
          <p:nvPr/>
        </p:nvSpPr>
        <p:spPr>
          <a:xfrm>
            <a:off x="4553712" y="5943600"/>
            <a:ext cx="3200400" cy="228600"/>
          </a:xfrm>
          <a:prstGeom prst="rect">
            <a:avLst/>
          </a:prstGeom>
          <a:noFill/>
        </p:spPr>
        <p:txBody>
          <a:bodyPr wrap="square" lIns="0" rIns="0" tIns="0" bIns="0" anchor="t">
            <a:noAutofit/>
          </a:bodyPr>
          <a:lstStyle/>
          <a:p>
            <a:pPr algn="l">
              <a:lnSpc>
                <a:spcPct val="112000"/>
              </a:lnSpc>
              <a:spcAft>
                <a:spcPts val="0"/>
              </a:spcAft>
            </a:pPr>
            <a:r>
              <a:rPr sz="1050" b="1" i="0">
                <a:solidFill>
                  <a:srgbClr val="2560D6"/>
                </a:solidFill>
                <a:latin typeface="Helvetica Neue"/>
              </a:rPr>
              <a:t>See their day →</a:t>
            </a:r>
          </a:p>
        </p:txBody>
      </p:sp>
      <p:sp>
        <p:nvSpPr>
          <p:cNvPr id="49" name="!!persona_2">
            <a:hlinkClick action="ppaction://hlinksldjump" r:id="rId13"/>
          </p:cNvPr>
          <p:cNvSpPr/>
          <p:nvPr/>
        </p:nvSpPr>
        <p:spPr>
          <a:xfrm>
            <a:off x="8156448" y="4572000"/>
            <a:ext cx="3611880" cy="169164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50" name="Oval 49">
            <a:hlinkClick action="ppaction://hlinksldjump" r:id="rId13"/>
          </p:cNvPr>
          <p:cNvSpPr/>
          <p:nvPr/>
        </p:nvSpPr>
        <p:spPr>
          <a:xfrm>
            <a:off x="8357616" y="4754880"/>
            <a:ext cx="566928" cy="566928"/>
          </a:xfrm>
          <a:prstGeom prst="ellipse">
            <a:avLst/>
          </a:prstGeom>
          <a:solidFill>
            <a:srgbClr val="FDF1DC"/>
          </a:solidFill>
          <a:ln>
            <a:noFill/>
          </a:ln>
          <a:effectLst/>
        </p:spPr>
        <p:txBody>
          <a:bodyPr rtlCol="0" anchor="ctr" wrap="square" lIns="0" rIns="0" tIns="0" bIns="0">
            <a:noAutofit/>
          </a:bodyPr>
          <a:lstStyle/>
          <a:p>
            <a:pPr algn="ctr">
              <a:lnSpc>
                <a:spcPct val="112000"/>
              </a:lnSpc>
              <a:spcAft>
                <a:spcPts val="0"/>
              </a:spcAft>
            </a:pPr>
            <a:r>
              <a:rPr sz="1500" b="1" i="0">
                <a:solidFill>
                  <a:srgbClr val="8A5A10"/>
                </a:solidFill>
                <a:latin typeface="Helvetica Neue"/>
              </a:rPr>
              <a:t>PS</a:t>
            </a:r>
          </a:p>
        </p:txBody>
      </p:sp>
      <p:sp>
        <p:nvSpPr>
          <p:cNvPr id="51" name="TextBox 50"/>
          <p:cNvSpPr txBox="1"/>
          <p:nvPr/>
        </p:nvSpPr>
        <p:spPr>
          <a:xfrm>
            <a:off x="9070848" y="4754880"/>
            <a:ext cx="2560320" cy="566928"/>
          </a:xfrm>
          <a:prstGeom prst="rect">
            <a:avLst/>
          </a:prstGeom>
          <a:noFill/>
        </p:spPr>
        <p:txBody>
          <a:bodyPr wrap="square" lIns="0" rIns="0" tIns="0" bIns="0" anchor="t">
            <a:noAutofit/>
          </a:bodyPr>
          <a:lstStyle/>
          <a:p>
            <a:pPr algn="l">
              <a:lnSpc>
                <a:spcPct val="105000"/>
              </a:lnSpc>
              <a:spcAft>
                <a:spcPts val="0"/>
              </a:spcAft>
            </a:pPr>
            <a:r>
              <a:rPr sz="1500" b="1" i="0">
                <a:solidFill>
                  <a:srgbClr val="1D1D1F"/>
                </a:solidFill>
                <a:latin typeface="Helvetica Neue"/>
              </a:rPr>
              <a:t>Priya</a:t>
            </a:r>
          </a:p>
          <a:p>
            <a:pPr algn="l">
              <a:lnSpc>
                <a:spcPct val="105000"/>
              </a:lnSpc>
              <a:spcAft>
                <a:spcPts val="0"/>
              </a:spcAft>
            </a:pPr>
            <a:r>
              <a:rPr sz="1100" b="0" i="0">
                <a:solidFill>
                  <a:srgbClr val="6E6E73"/>
                </a:solidFill>
                <a:latin typeface="Helvetica Neue"/>
              </a:rPr>
              <a:t>Transport dispatcher</a:t>
            </a:r>
          </a:p>
        </p:txBody>
      </p:sp>
      <p:sp>
        <p:nvSpPr>
          <p:cNvPr id="52" name="TextBox 51"/>
          <p:cNvSpPr txBox="1"/>
          <p:nvPr/>
        </p:nvSpPr>
        <p:spPr>
          <a:xfrm>
            <a:off x="8357616" y="5440680"/>
            <a:ext cx="3246120" cy="548640"/>
          </a:xfrm>
          <a:prstGeom prst="rect">
            <a:avLst/>
          </a:prstGeom>
          <a:noFill/>
        </p:spPr>
        <p:txBody>
          <a:bodyPr wrap="square" lIns="0" rIns="0" tIns="0" bIns="0" anchor="t">
            <a:noAutofit/>
          </a:bodyPr>
          <a:lstStyle/>
          <a:p>
            <a:pPr algn="l">
              <a:lnSpc>
                <a:spcPct val="112000"/>
              </a:lnSpc>
              <a:spcAft>
                <a:spcPts val="0"/>
              </a:spcAft>
            </a:pPr>
            <a:r>
              <a:rPr sz="1200" b="0" i="1">
                <a:solidFill>
                  <a:srgbClr val="1D1D1F"/>
                </a:solidFill>
                <a:latin typeface="Helvetica Neue"/>
              </a:rPr>
              <a:t>“Can my truck actually load it, and is it ready?”</a:t>
            </a:r>
          </a:p>
        </p:txBody>
      </p:sp>
      <p:sp>
        <p:nvSpPr>
          <p:cNvPr id="53" name="TextBox 52"/>
          <p:cNvSpPr txBox="1"/>
          <p:nvPr/>
        </p:nvSpPr>
        <p:spPr>
          <a:xfrm>
            <a:off x="8357616" y="5943600"/>
            <a:ext cx="3200400" cy="228600"/>
          </a:xfrm>
          <a:prstGeom prst="rect">
            <a:avLst/>
          </a:prstGeom>
          <a:noFill/>
        </p:spPr>
        <p:txBody>
          <a:bodyPr wrap="square" lIns="0" rIns="0" tIns="0" bIns="0" anchor="t">
            <a:noAutofit/>
          </a:bodyPr>
          <a:lstStyle/>
          <a:p>
            <a:pPr algn="l">
              <a:lnSpc>
                <a:spcPct val="112000"/>
              </a:lnSpc>
              <a:spcAft>
                <a:spcPts val="0"/>
              </a:spcAft>
            </a:pPr>
            <a:r>
              <a:rPr sz="1050" b="1" i="0">
                <a:solidFill>
                  <a:srgbClr val="2560D6"/>
                </a:solidFill>
                <a:latin typeface="Helvetica Neue"/>
              </a:rPr>
              <a:t>See their day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390128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3</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The idea · a new way to attack it</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Don’t build another tool. Share one record.</a:t>
            </a:r>
          </a:p>
        </p:txBody>
      </p:sp>
      <p:sp>
        <p:nvSpPr>
          <p:cNvPr id="18"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Every step reads the same versioned vehicle record and remembers which revision it used. When facts change, results go stale, and the platform refuses to act on stale numbers.</a:t>
            </a:r>
          </a:p>
        </p:txBody>
      </p:sp>
      <p:sp>
        <p:nvSpPr>
          <p:cNvPr id="19" name="!!record"/>
          <p:cNvSpPr/>
          <p:nvPr/>
        </p:nvSpPr>
        <p:spPr>
          <a:xfrm>
            <a:off x="4069080" y="2606040"/>
            <a:ext cx="4050791" cy="1417320"/>
          </a:xfrm>
          <a:prstGeom prst="roundRect">
            <a:avLst>
              <a:gd name="adj" fmla="val 12903"/>
            </a:avLst>
          </a:prstGeom>
          <a:solidFill>
            <a:srgbClr val="EAF1FF"/>
          </a:solidFill>
          <a:ln>
            <a:noFill/>
          </a:ln>
          <a:effectLst/>
        </p:spPr>
        <p:txBody>
          <a:bodyPr rtlCol="0" anchor="ctr"/>
          <a:lstStyle/>
          <a:p>
            <a:pPr algn="ctr"/>
          </a:p>
        </p:txBody>
      </p:sp>
      <p:sp>
        <p:nvSpPr>
          <p:cNvPr id="20" name="TextBox 19"/>
          <p:cNvSpPr txBox="1"/>
          <p:nvPr/>
        </p:nvSpPr>
        <p:spPr>
          <a:xfrm>
            <a:off x="4279392" y="2724912"/>
            <a:ext cx="2377440" cy="274320"/>
          </a:xfrm>
          <a:prstGeom prst="rect">
            <a:avLst/>
          </a:prstGeom>
          <a:noFill/>
        </p:spPr>
        <p:txBody>
          <a:bodyPr wrap="square" lIns="0" rIns="0" tIns="0" bIns="0" anchor="t">
            <a:noAutofit/>
          </a:bodyPr>
          <a:lstStyle/>
          <a:p>
            <a:pPr algn="l">
              <a:lnSpc>
                <a:spcPct val="112000"/>
              </a:lnSpc>
              <a:spcAft>
                <a:spcPts val="0"/>
              </a:spcAft>
            </a:pPr>
            <a:r>
              <a:rPr sz="1600" b="1" i="0">
                <a:solidFill>
                  <a:srgbClr val="2560D6"/>
                </a:solidFill>
                <a:latin typeface="Helvetica Neue"/>
              </a:rPr>
              <a:t>Vehicle record</a:t>
            </a:r>
          </a:p>
        </p:txBody>
      </p:sp>
      <p:sp>
        <p:nvSpPr>
          <p:cNvPr id="21" name="Rounded Rectangle 20"/>
          <p:cNvSpPr/>
          <p:nvPr/>
        </p:nvSpPr>
        <p:spPr>
          <a:xfrm>
            <a:off x="6903720" y="2734056"/>
            <a:ext cx="1005840" cy="256032"/>
          </a:xfrm>
          <a:prstGeom prst="roundRect">
            <a:avLst>
              <a:gd name="adj" fmla="val 50000"/>
            </a:avLst>
          </a:prstGeom>
          <a:solidFill>
            <a:srgbClr val="2F6BE6"/>
          </a:solidFill>
          <a:ln>
            <a:noFill/>
          </a:ln>
          <a:effectLst/>
        </p:spPr>
        <p:txBody>
          <a:bodyPr rtlCol="0" anchor="ctr" wrap="none" tIns="0" bIns="0">
            <a:noAutofit/>
          </a:bodyPr>
          <a:lstStyle/>
          <a:p>
            <a:pPr algn="ctr">
              <a:lnSpc>
                <a:spcPct val="112000"/>
              </a:lnSpc>
              <a:spcAft>
                <a:spcPts val="0"/>
              </a:spcAft>
            </a:pPr>
            <a:r>
              <a:rPr sz="1000" b="1" i="0">
                <a:solidFill>
                  <a:srgbClr val="FFFFFF"/>
                </a:solidFill>
                <a:latin typeface="Helvetica Neue"/>
              </a:rPr>
              <a:t>Revision 2</a:t>
            </a:r>
          </a:p>
        </p:txBody>
      </p:sp>
      <p:sp>
        <p:nvSpPr>
          <p:cNvPr id="22" name="TextBox 21"/>
          <p:cNvSpPr txBox="1"/>
          <p:nvPr/>
        </p:nvSpPr>
        <p:spPr>
          <a:xfrm>
            <a:off x="4279392" y="3072384"/>
            <a:ext cx="3566160" cy="274320"/>
          </a:xfrm>
          <a:prstGeom prst="rect">
            <a:avLst/>
          </a:prstGeom>
          <a:noFill/>
        </p:spPr>
        <p:txBody>
          <a:bodyPr wrap="square" lIns="0" rIns="0" tIns="0" bIns="0" anchor="t">
            <a:noAutofit/>
          </a:bodyPr>
          <a:lstStyle/>
          <a:p>
            <a:pPr algn="l">
              <a:lnSpc>
                <a:spcPct val="112000"/>
              </a:lnSpc>
              <a:spcAft>
                <a:spcPts val="0"/>
              </a:spcAft>
            </a:pPr>
            <a:r>
              <a:rPr sz="1150" b="0" i="0">
                <a:solidFill>
                  <a:srgbClr val="6E6E73"/>
                </a:solidFill>
                <a:latin typeface="Helvetica Neue"/>
              </a:rPr>
              <a:t>V-DEMO-001 · 2018 Fixture Motors Strata</a:t>
            </a:r>
          </a:p>
        </p:txBody>
      </p:sp>
      <p:sp>
        <p:nvSpPr>
          <p:cNvPr id="23" name="Rounded Rectangle 22"/>
          <p:cNvSpPr/>
          <p:nvPr/>
        </p:nvSpPr>
        <p:spPr>
          <a:xfrm>
            <a:off x="4279392" y="3474720"/>
            <a:ext cx="1034795" cy="274320"/>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50" b="1" i="0">
                <a:solidFill>
                  <a:srgbClr val="B0383E"/>
                </a:solidFill>
                <a:latin typeface="Helvetica Neue"/>
              </a:rPr>
              <a:t>Starts: No</a:t>
            </a:r>
          </a:p>
        </p:txBody>
      </p:sp>
      <p:sp>
        <p:nvSpPr>
          <p:cNvPr id="24" name="Rounded Rectangle 23"/>
          <p:cNvSpPr/>
          <p:nvPr/>
        </p:nvSpPr>
        <p:spPr>
          <a:xfrm>
            <a:off x="5387340" y="3474720"/>
            <a:ext cx="1179575" cy="274320"/>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50" b="1" i="0">
                <a:solidFill>
                  <a:srgbClr val="B0383E"/>
                </a:solidFill>
                <a:latin typeface="Helvetica Neue"/>
              </a:rPr>
              <a:t>Drivable: No</a:t>
            </a:r>
          </a:p>
        </p:txBody>
      </p:sp>
      <p:sp>
        <p:nvSpPr>
          <p:cNvPr id="25" name="Rounded Rectangle 24"/>
          <p:cNvSpPr/>
          <p:nvPr/>
        </p:nvSpPr>
        <p:spPr>
          <a:xfrm>
            <a:off x="6640068" y="3474720"/>
            <a:ext cx="1251966" cy="274320"/>
          </a:xfrm>
          <a:prstGeom prst="roundRect">
            <a:avLst>
              <a:gd name="adj" fmla="val 50000"/>
            </a:avLst>
          </a:prstGeom>
          <a:solidFill>
            <a:srgbClr val="EFECFB"/>
          </a:solidFill>
          <a:ln>
            <a:noFill/>
          </a:ln>
          <a:effectLst/>
        </p:spPr>
        <p:txBody>
          <a:bodyPr rtlCol="0" anchor="ctr" wrap="none" tIns="0" bIns="0">
            <a:noAutofit/>
          </a:bodyPr>
          <a:lstStyle/>
          <a:p>
            <a:pPr algn="ctr">
              <a:lnSpc>
                <a:spcPct val="112000"/>
              </a:lnSpc>
              <a:spcAft>
                <a:spcPts val="0"/>
              </a:spcAft>
            </a:pPr>
            <a:r>
              <a:rPr sz="950" b="1" i="0">
                <a:solidFill>
                  <a:srgbClr val="5E4BB0"/>
                </a:solidFill>
                <a:latin typeface="Helvetica Neue"/>
              </a:rPr>
              <a:t>Keys: Unknown</a:t>
            </a:r>
          </a:p>
        </p:txBody>
      </p:sp>
      <p:sp>
        <p:nvSpPr>
          <p:cNvPr id="26" name="Rounded Rectangle 25"/>
          <p:cNvSpPr/>
          <p:nvPr/>
        </p:nvSpPr>
        <p:spPr>
          <a:xfrm>
            <a:off x="548640" y="2743200"/>
            <a:ext cx="3429000" cy="1143000"/>
          </a:xfrm>
          <a:prstGeom prst="roundRect">
            <a:avLst>
              <a:gd name="adj" fmla="val 12800"/>
            </a:avLst>
          </a:prstGeom>
          <a:solidFill>
            <a:srgbClr val="E6F4EA"/>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2F7A4F"/>
                </a:solidFill>
                <a:latin typeface="Helvetica Neue"/>
              </a:rPr>
              <a:t>AI proposes, a person confirms</a:t>
            </a:r>
          </a:p>
          <a:p>
            <a:pPr algn="l">
              <a:lnSpc>
                <a:spcPct val="112000"/>
              </a:lnSpc>
              <a:spcAft>
                <a:spcPts val="0"/>
              </a:spcAft>
            </a:pPr>
            <a:r>
              <a:rPr sz="1250" b="0" i="0">
                <a:solidFill>
                  <a:srgbClr val="2F7A4F"/>
                </a:solidFill>
                <a:latin typeface="Helvetica Neue"/>
              </a:rPr>
              <a:t>→ the record gets a new revision.</a:t>
            </a:r>
          </a:p>
        </p:txBody>
      </p:sp>
      <p:sp>
        <p:nvSpPr>
          <p:cNvPr id="27" name="Rounded Rectangle 26"/>
          <p:cNvSpPr/>
          <p:nvPr/>
        </p:nvSpPr>
        <p:spPr>
          <a:xfrm>
            <a:off x="8229600" y="2743200"/>
            <a:ext cx="3410712" cy="1143000"/>
          </a:xfrm>
          <a:prstGeom prst="roundRect">
            <a:avLst>
              <a:gd name="adj" fmla="val 12800"/>
            </a:avLst>
          </a:prstGeom>
          <a:solidFill>
            <a:srgbClr val="FDF1DC"/>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8A5A10"/>
                </a:solidFill>
                <a:latin typeface="Helvetica Neue"/>
              </a:rPr>
              <a:t>Facts changed?</a:t>
            </a:r>
          </a:p>
          <a:p>
            <a:pPr algn="l">
              <a:lnSpc>
                <a:spcPct val="112000"/>
              </a:lnSpc>
              <a:spcAft>
                <a:spcPts val="0"/>
              </a:spcAft>
            </a:pPr>
            <a:r>
              <a:rPr sz="1250" b="0" i="0">
                <a:solidFill>
                  <a:srgbClr val="8A5A10"/>
                </a:solidFill>
                <a:latin typeface="Helvetica Neue"/>
              </a:rPr>
              <a:t>Dependent results turn ‘Out of date’; stale numbers can’t be used to sell.</a:t>
            </a:r>
          </a:p>
        </p:txBody>
      </p:sp>
      <p:cxnSp>
        <p:nvCxnSpPr>
          <p:cNvPr id="28" name="Connector 27"/>
          <p:cNvCxnSpPr/>
          <p:nvPr/>
        </p:nvCxnSpPr>
        <p:spPr>
          <a:xfrm flipV="1">
            <a:off x="1874519" y="4041648"/>
            <a:ext cx="2743201" cy="530352"/>
          </a:xfrm>
          <a:prstGeom prst="line">
            <a:avLst/>
          </a:prstGeom>
          <a:ln w="15875">
            <a:solidFill>
              <a:srgbClr val="B8C8EE"/>
            </a:solidFill>
          </a:ln>
        </p:spPr>
      </p:cxnSp>
      <p:sp>
        <p:nvSpPr>
          <p:cNvPr id="29" name="!!istep_0"/>
          <p:cNvSpPr/>
          <p:nvPr/>
        </p:nvSpPr>
        <p:spPr>
          <a:xfrm>
            <a:off x="548640" y="4572000"/>
            <a:ext cx="2651760" cy="1645920"/>
          </a:xfrm>
          <a:prstGeom prst="roundRect">
            <a:avLst>
              <a:gd name="adj" fmla="val 1111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0" name="Oval 29"/>
          <p:cNvSpPr/>
          <p:nvPr/>
        </p:nvSpPr>
        <p:spPr>
          <a:xfrm>
            <a:off x="731520" y="4754880"/>
            <a:ext cx="420624" cy="420624"/>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1</a:t>
            </a:r>
          </a:p>
        </p:txBody>
      </p:sp>
      <p:sp>
        <p:nvSpPr>
          <p:cNvPr id="31" name="TextBox 30"/>
          <p:cNvSpPr txBox="1"/>
          <p:nvPr/>
        </p:nvSpPr>
        <p:spPr>
          <a:xfrm>
            <a:off x="1280160" y="4727448"/>
            <a:ext cx="1828800" cy="50292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Value</a:t>
            </a:r>
          </a:p>
          <a:p>
            <a:pPr algn="l">
              <a:lnSpc>
                <a:spcPct val="100000"/>
              </a:lnSpc>
              <a:spcAft>
                <a:spcPts val="0"/>
              </a:spcAft>
            </a:pPr>
            <a:r>
              <a:rPr sz="1100" b="1" i="0">
                <a:solidFill>
                  <a:srgbClr val="2560D6"/>
                </a:solidFill>
                <a:latin typeface="Helvetica Neue"/>
              </a:rPr>
              <a:t>BestExit</a:t>
            </a:r>
          </a:p>
        </p:txBody>
      </p:sp>
      <p:sp>
        <p:nvSpPr>
          <p:cNvPr id="32" name="TextBox 31"/>
          <p:cNvSpPr txBox="1"/>
          <p:nvPr/>
        </p:nvSpPr>
        <p:spPr>
          <a:xfrm>
            <a:off x="731520" y="5349240"/>
            <a:ext cx="2331720" cy="45720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Net proceeds per channel</a:t>
            </a:r>
          </a:p>
        </p:txBody>
      </p:sp>
      <p:sp>
        <p:nvSpPr>
          <p:cNvPr id="33" name="Rounded Rectangle 32"/>
          <p:cNvSpPr/>
          <p:nvPr/>
        </p:nvSpPr>
        <p:spPr>
          <a:xfrm>
            <a:off x="731520" y="5806440"/>
            <a:ext cx="960120"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pins revision</a:t>
            </a:r>
          </a:p>
        </p:txBody>
      </p:sp>
      <p:cxnSp>
        <p:nvCxnSpPr>
          <p:cNvPr id="34" name="Connector 33"/>
          <p:cNvCxnSpPr/>
          <p:nvPr/>
        </p:nvCxnSpPr>
        <p:spPr>
          <a:xfrm flipV="1">
            <a:off x="4727448" y="4041648"/>
            <a:ext cx="877824" cy="530352"/>
          </a:xfrm>
          <a:prstGeom prst="line">
            <a:avLst/>
          </a:prstGeom>
          <a:ln w="15875">
            <a:solidFill>
              <a:srgbClr val="B8C8EE"/>
            </a:solidFill>
          </a:ln>
        </p:spPr>
      </p:cxnSp>
      <p:sp>
        <p:nvSpPr>
          <p:cNvPr id="35" name="!!istep_1"/>
          <p:cNvSpPr/>
          <p:nvPr/>
        </p:nvSpPr>
        <p:spPr>
          <a:xfrm>
            <a:off x="3401568" y="4572000"/>
            <a:ext cx="2651760" cy="1645920"/>
          </a:xfrm>
          <a:prstGeom prst="roundRect">
            <a:avLst>
              <a:gd name="adj" fmla="val 1111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6" name="Oval 35"/>
          <p:cNvSpPr/>
          <p:nvPr/>
        </p:nvSpPr>
        <p:spPr>
          <a:xfrm>
            <a:off x="3584448" y="4754880"/>
            <a:ext cx="420624" cy="420624"/>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2</a:t>
            </a:r>
          </a:p>
        </p:txBody>
      </p:sp>
      <p:sp>
        <p:nvSpPr>
          <p:cNvPr id="37" name="TextBox 36"/>
          <p:cNvSpPr txBox="1"/>
          <p:nvPr/>
        </p:nvSpPr>
        <p:spPr>
          <a:xfrm>
            <a:off x="4133088" y="4727448"/>
            <a:ext cx="1828800" cy="50292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Inspect</a:t>
            </a:r>
          </a:p>
          <a:p>
            <a:pPr algn="l">
              <a:lnSpc>
                <a:spcPct val="100000"/>
              </a:lnSpc>
              <a:spcAft>
                <a:spcPts val="0"/>
              </a:spcAft>
            </a:pPr>
            <a:r>
              <a:rPr sz="1100" b="1" i="0">
                <a:solidFill>
                  <a:srgbClr val="2560D6"/>
                </a:solidFill>
                <a:latin typeface="Helvetica Neue"/>
              </a:rPr>
              <a:t>SecondLook</a:t>
            </a:r>
          </a:p>
        </p:txBody>
      </p:sp>
      <p:sp>
        <p:nvSpPr>
          <p:cNvPr id="38" name="TextBox 37"/>
          <p:cNvSpPr txBox="1"/>
          <p:nvPr/>
        </p:nvSpPr>
        <p:spPr>
          <a:xfrm>
            <a:off x="3584448" y="5349240"/>
            <a:ext cx="2331720" cy="45720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AI that cites its evidence</a:t>
            </a:r>
          </a:p>
        </p:txBody>
      </p:sp>
      <p:sp>
        <p:nvSpPr>
          <p:cNvPr id="39" name="Rounded Rectangle 38"/>
          <p:cNvSpPr/>
          <p:nvPr/>
        </p:nvSpPr>
        <p:spPr>
          <a:xfrm>
            <a:off x="3584448" y="5806440"/>
            <a:ext cx="960120"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pins revision</a:t>
            </a:r>
          </a:p>
        </p:txBody>
      </p:sp>
      <p:cxnSp>
        <p:nvCxnSpPr>
          <p:cNvPr id="40" name="Connector 39"/>
          <p:cNvCxnSpPr/>
          <p:nvPr/>
        </p:nvCxnSpPr>
        <p:spPr>
          <a:xfrm flipH="1" flipV="1">
            <a:off x="6592824" y="4041648"/>
            <a:ext cx="987551" cy="530352"/>
          </a:xfrm>
          <a:prstGeom prst="line">
            <a:avLst/>
          </a:prstGeom>
          <a:ln w="15875">
            <a:solidFill>
              <a:srgbClr val="B8C8EE"/>
            </a:solidFill>
          </a:ln>
        </p:spPr>
      </p:cxnSp>
      <p:sp>
        <p:nvSpPr>
          <p:cNvPr id="41" name="!!istep_2"/>
          <p:cNvSpPr/>
          <p:nvPr/>
        </p:nvSpPr>
        <p:spPr>
          <a:xfrm>
            <a:off x="6254496" y="4572000"/>
            <a:ext cx="2651760" cy="1645920"/>
          </a:xfrm>
          <a:prstGeom prst="roundRect">
            <a:avLst>
              <a:gd name="adj" fmla="val 1111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2" name="Oval 41"/>
          <p:cNvSpPr/>
          <p:nvPr/>
        </p:nvSpPr>
        <p:spPr>
          <a:xfrm>
            <a:off x="6437376" y="4754880"/>
            <a:ext cx="420624" cy="420624"/>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3</a:t>
            </a:r>
          </a:p>
        </p:txBody>
      </p:sp>
      <p:sp>
        <p:nvSpPr>
          <p:cNvPr id="43" name="TextBox 42"/>
          <p:cNvSpPr txBox="1"/>
          <p:nvPr/>
        </p:nvSpPr>
        <p:spPr>
          <a:xfrm>
            <a:off x="6986016" y="4727448"/>
            <a:ext cx="1828800" cy="50292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Sell</a:t>
            </a:r>
          </a:p>
          <a:p>
            <a:pPr algn="l">
              <a:lnSpc>
                <a:spcPct val="100000"/>
              </a:lnSpc>
              <a:spcAft>
                <a:spcPts val="0"/>
              </a:spcAft>
            </a:pPr>
            <a:r>
              <a:rPr sz="1100" b="1" i="0">
                <a:solidFill>
                  <a:srgbClr val="2560D6"/>
                </a:solidFill>
                <a:latin typeface="Helvetica Neue"/>
              </a:rPr>
              <a:t>Deal + checkout</a:t>
            </a:r>
          </a:p>
        </p:txBody>
      </p:sp>
      <p:sp>
        <p:nvSpPr>
          <p:cNvPr id="44" name="TextBox 43"/>
          <p:cNvSpPr txBox="1"/>
          <p:nvPr/>
        </p:nvSpPr>
        <p:spPr>
          <a:xfrm>
            <a:off x="6437376" y="5349240"/>
            <a:ext cx="2331720" cy="45720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Landed cost, transport choice</a:t>
            </a:r>
          </a:p>
        </p:txBody>
      </p:sp>
      <p:sp>
        <p:nvSpPr>
          <p:cNvPr id="45" name="Rounded Rectangle 44"/>
          <p:cNvSpPr/>
          <p:nvPr/>
        </p:nvSpPr>
        <p:spPr>
          <a:xfrm>
            <a:off x="6437376" y="5806440"/>
            <a:ext cx="960120"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pins revision</a:t>
            </a:r>
          </a:p>
        </p:txBody>
      </p:sp>
      <p:cxnSp>
        <p:nvCxnSpPr>
          <p:cNvPr id="46" name="Connector 45"/>
          <p:cNvCxnSpPr/>
          <p:nvPr/>
        </p:nvCxnSpPr>
        <p:spPr>
          <a:xfrm flipH="1" flipV="1">
            <a:off x="7580375" y="4041648"/>
            <a:ext cx="2852928" cy="530352"/>
          </a:xfrm>
          <a:prstGeom prst="line">
            <a:avLst/>
          </a:prstGeom>
          <a:ln w="15875">
            <a:solidFill>
              <a:srgbClr val="B8C8EE"/>
            </a:solidFill>
          </a:ln>
        </p:spPr>
      </p:cxnSp>
      <p:sp>
        <p:nvSpPr>
          <p:cNvPr id="47" name="!!istep_3"/>
          <p:cNvSpPr/>
          <p:nvPr/>
        </p:nvSpPr>
        <p:spPr>
          <a:xfrm>
            <a:off x="9107424" y="4572000"/>
            <a:ext cx="2651760" cy="1645920"/>
          </a:xfrm>
          <a:prstGeom prst="roundRect">
            <a:avLst>
              <a:gd name="adj" fmla="val 1111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8" name="Oval 47"/>
          <p:cNvSpPr/>
          <p:nvPr/>
        </p:nvSpPr>
        <p:spPr>
          <a:xfrm>
            <a:off x="9290303" y="4754880"/>
            <a:ext cx="420624" cy="420624"/>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4</a:t>
            </a:r>
          </a:p>
        </p:txBody>
      </p:sp>
      <p:sp>
        <p:nvSpPr>
          <p:cNvPr id="49" name="TextBox 48"/>
          <p:cNvSpPr txBox="1"/>
          <p:nvPr/>
        </p:nvSpPr>
        <p:spPr>
          <a:xfrm>
            <a:off x="9838944" y="4727448"/>
            <a:ext cx="1828800" cy="50292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Deliver</a:t>
            </a:r>
          </a:p>
          <a:p>
            <a:pPr algn="l">
              <a:lnSpc>
                <a:spcPct val="100000"/>
              </a:lnSpc>
              <a:spcAft>
                <a:spcPts val="0"/>
              </a:spcAft>
            </a:pPr>
            <a:r>
              <a:rPr sz="1100" b="1" i="0">
                <a:solidFill>
                  <a:srgbClr val="2560D6"/>
                </a:solidFill>
                <a:latin typeface="Helvetica Neue"/>
              </a:rPr>
              <a:t>LoadLink</a:t>
            </a:r>
          </a:p>
        </p:txBody>
      </p:sp>
      <p:sp>
        <p:nvSpPr>
          <p:cNvPr id="50" name="TextBox 49"/>
          <p:cNvSpPr txBox="1"/>
          <p:nvPr/>
        </p:nvSpPr>
        <p:spPr>
          <a:xfrm>
            <a:off x="9290303" y="5349240"/>
            <a:ext cx="2331720" cy="45720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Equipment-aware routes</a:t>
            </a:r>
          </a:p>
        </p:txBody>
      </p:sp>
      <p:sp>
        <p:nvSpPr>
          <p:cNvPr id="51" name="Rounded Rectangle 50"/>
          <p:cNvSpPr/>
          <p:nvPr/>
        </p:nvSpPr>
        <p:spPr>
          <a:xfrm>
            <a:off x="9290303" y="5806440"/>
            <a:ext cx="960120" cy="237744"/>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00" b="1" i="0">
                <a:solidFill>
                  <a:srgbClr val="48484A"/>
                </a:solidFill>
                <a:latin typeface="Helvetica Neue"/>
              </a:rPr>
              <a:t>pins revision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4779111"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4</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Live demo · about 1:45</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Watch one car go from appraisal to delivery.</a:t>
            </a:r>
          </a:p>
        </p:txBody>
      </p:sp>
      <p:sp>
        <p:nvSpPr>
          <p:cNvPr id="18"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Switch to the browser. Five moments, one shared record.</a:t>
            </a:r>
          </a:p>
        </p:txBody>
      </p:sp>
      <p:sp>
        <p:nvSpPr>
          <p:cNvPr id="19" name="!!moment_0"/>
          <p:cNvSpPr/>
          <p:nvPr/>
        </p:nvSpPr>
        <p:spPr>
          <a:xfrm>
            <a:off x="548640" y="2542032"/>
            <a:ext cx="6903720" cy="640080"/>
          </a:xfrm>
          <a:prstGeom prst="roundRect">
            <a:avLst>
              <a:gd name="adj" fmla="val 2857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0" name="Oval 19"/>
          <p:cNvSpPr/>
          <p:nvPr/>
        </p:nvSpPr>
        <p:spPr>
          <a:xfrm>
            <a:off x="713232" y="2660903"/>
            <a:ext cx="402336" cy="402336"/>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1</a:t>
            </a:r>
          </a:p>
        </p:txBody>
      </p:sp>
      <p:sp>
        <p:nvSpPr>
          <p:cNvPr id="21" name="TextBox 20"/>
          <p:cNvSpPr txBox="1"/>
          <p:nvPr/>
        </p:nvSpPr>
        <p:spPr>
          <a:xfrm>
            <a:off x="1261872" y="2615184"/>
            <a:ext cx="5120640" cy="512064"/>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Value</a:t>
            </a:r>
          </a:p>
          <a:p>
            <a:pPr algn="l">
              <a:lnSpc>
                <a:spcPct val="105000"/>
              </a:lnSpc>
              <a:spcAft>
                <a:spcPts val="0"/>
              </a:spcAft>
            </a:pPr>
            <a:r>
              <a:rPr sz="1150" b="0" i="0">
                <a:solidFill>
                  <a:srgbClr val="6E6E73"/>
                </a:solidFill>
                <a:latin typeface="Helvetica Neue"/>
              </a:rPr>
              <a:t>Estimate net outcomes: ACV nets $13,850 vs Copart $13,738.</a:t>
            </a:r>
          </a:p>
        </p:txBody>
      </p:sp>
      <p:sp>
        <p:nvSpPr>
          <p:cNvPr id="22" name="Rounded Rectangle 21"/>
          <p:cNvSpPr/>
          <p:nvPr/>
        </p:nvSpPr>
        <p:spPr>
          <a:xfrm>
            <a:off x="6601968" y="2724912"/>
            <a:ext cx="685800" cy="274320"/>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00" b="1" i="0">
                <a:solidFill>
                  <a:srgbClr val="48484A"/>
                </a:solidFill>
                <a:latin typeface="Helvetica Neue"/>
              </a:rPr>
              <a:t>0:15</a:t>
            </a:r>
          </a:p>
        </p:txBody>
      </p:sp>
      <p:sp>
        <p:nvSpPr>
          <p:cNvPr id="23" name="!!moment_1"/>
          <p:cNvSpPr/>
          <p:nvPr/>
        </p:nvSpPr>
        <p:spPr>
          <a:xfrm>
            <a:off x="548640" y="3300984"/>
            <a:ext cx="6903720" cy="640080"/>
          </a:xfrm>
          <a:prstGeom prst="roundRect">
            <a:avLst>
              <a:gd name="adj" fmla="val 2857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Oval 23"/>
          <p:cNvSpPr/>
          <p:nvPr/>
        </p:nvSpPr>
        <p:spPr>
          <a:xfrm>
            <a:off x="713232" y="3419856"/>
            <a:ext cx="402336" cy="402336"/>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2</a:t>
            </a:r>
          </a:p>
        </p:txBody>
      </p:sp>
      <p:sp>
        <p:nvSpPr>
          <p:cNvPr id="25" name="TextBox 24"/>
          <p:cNvSpPr txBox="1"/>
          <p:nvPr/>
        </p:nvSpPr>
        <p:spPr>
          <a:xfrm>
            <a:off x="1261872" y="3374136"/>
            <a:ext cx="5120640" cy="512064"/>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Inspect</a:t>
            </a:r>
          </a:p>
          <a:p>
            <a:pPr algn="l">
              <a:lnSpc>
                <a:spcPct val="105000"/>
              </a:lnSpc>
              <a:spcAft>
                <a:spcPts val="0"/>
              </a:spcAft>
            </a:pPr>
            <a:r>
              <a:rPr sz="1150" b="0" i="0">
                <a:solidFill>
                  <a:srgbClr val="6E6E73"/>
                </a:solidFill>
                <a:latin typeface="Helvetica Neue"/>
              </a:rPr>
              <a:t>Add the inspector’s note → AI cites evidence and flags the conflict.</a:t>
            </a:r>
          </a:p>
        </p:txBody>
      </p:sp>
      <p:sp>
        <p:nvSpPr>
          <p:cNvPr id="26" name="Rounded Rectangle 25"/>
          <p:cNvSpPr/>
          <p:nvPr/>
        </p:nvSpPr>
        <p:spPr>
          <a:xfrm>
            <a:off x="6601968" y="3483864"/>
            <a:ext cx="685800" cy="274320"/>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00" b="1" i="0">
                <a:solidFill>
                  <a:srgbClr val="48484A"/>
                </a:solidFill>
                <a:latin typeface="Helvetica Neue"/>
              </a:rPr>
              <a:t>0:30</a:t>
            </a:r>
          </a:p>
        </p:txBody>
      </p:sp>
      <p:sp>
        <p:nvSpPr>
          <p:cNvPr id="27" name="!!moment_2"/>
          <p:cNvSpPr/>
          <p:nvPr/>
        </p:nvSpPr>
        <p:spPr>
          <a:xfrm>
            <a:off x="548640" y="4059935"/>
            <a:ext cx="6903720" cy="640080"/>
          </a:xfrm>
          <a:prstGeom prst="roundRect">
            <a:avLst>
              <a:gd name="adj" fmla="val 2857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8" name="Oval 27"/>
          <p:cNvSpPr/>
          <p:nvPr/>
        </p:nvSpPr>
        <p:spPr>
          <a:xfrm>
            <a:off x="713232" y="4178807"/>
            <a:ext cx="402336" cy="402336"/>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3</a:t>
            </a:r>
          </a:p>
        </p:txBody>
      </p:sp>
      <p:sp>
        <p:nvSpPr>
          <p:cNvPr id="29" name="TextBox 28"/>
          <p:cNvSpPr txBox="1"/>
          <p:nvPr/>
        </p:nvSpPr>
        <p:spPr>
          <a:xfrm>
            <a:off x="1261872" y="4133087"/>
            <a:ext cx="5120640" cy="512064"/>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Confirm &amp; refuse</a:t>
            </a:r>
          </a:p>
          <a:p>
            <a:pPr algn="l">
              <a:lnSpc>
                <a:spcPct val="105000"/>
              </a:lnSpc>
              <a:spcAft>
                <a:spcPts val="0"/>
              </a:spcAft>
            </a:pPr>
            <a:r>
              <a:rPr sz="1150" b="0" i="0">
                <a:solidFill>
                  <a:srgbClr val="6E6E73"/>
                </a:solidFill>
                <a:latin typeface="Helvetica Neue"/>
              </a:rPr>
              <a:t>Confirm ‘won’t start’ → the deal is refused until we recompute ($10,950).</a:t>
            </a:r>
          </a:p>
        </p:txBody>
      </p:sp>
      <p:sp>
        <p:nvSpPr>
          <p:cNvPr id="30" name="Rounded Rectangle 29"/>
          <p:cNvSpPr/>
          <p:nvPr/>
        </p:nvSpPr>
        <p:spPr>
          <a:xfrm>
            <a:off x="6601968" y="4242816"/>
            <a:ext cx="685800" cy="274320"/>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00" b="1" i="0">
                <a:solidFill>
                  <a:srgbClr val="48484A"/>
                </a:solidFill>
                <a:latin typeface="Helvetica Neue"/>
              </a:rPr>
              <a:t>0:25</a:t>
            </a:r>
          </a:p>
        </p:txBody>
      </p:sp>
      <p:sp>
        <p:nvSpPr>
          <p:cNvPr id="31" name="!!moment_3"/>
          <p:cNvSpPr/>
          <p:nvPr/>
        </p:nvSpPr>
        <p:spPr>
          <a:xfrm>
            <a:off x="548640" y="4818888"/>
            <a:ext cx="6903720" cy="640080"/>
          </a:xfrm>
          <a:prstGeom prst="roundRect">
            <a:avLst>
              <a:gd name="adj" fmla="val 2857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2" name="Oval 31"/>
          <p:cNvSpPr/>
          <p:nvPr/>
        </p:nvSpPr>
        <p:spPr>
          <a:xfrm>
            <a:off x="713232" y="4937759"/>
            <a:ext cx="402336" cy="402336"/>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4</a:t>
            </a:r>
          </a:p>
        </p:txBody>
      </p:sp>
      <p:sp>
        <p:nvSpPr>
          <p:cNvPr id="33" name="TextBox 32"/>
          <p:cNvSpPr txBox="1"/>
          <p:nvPr/>
        </p:nvSpPr>
        <p:spPr>
          <a:xfrm>
            <a:off x="1261872" y="4892040"/>
            <a:ext cx="5120640" cy="512064"/>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Sell</a:t>
            </a:r>
          </a:p>
          <a:p>
            <a:pPr algn="l">
              <a:lnSpc>
                <a:spcPct val="105000"/>
              </a:lnSpc>
              <a:spcAft>
                <a:spcPts val="0"/>
              </a:spcAft>
            </a:pPr>
            <a:r>
              <a:rPr sz="1150" b="0" i="0">
                <a:solidFill>
                  <a:srgbClr val="6E6E73"/>
                </a:solidFill>
                <a:latin typeface="Helvetica Neue"/>
              </a:rPr>
              <a:t>Confirm the deal: buyer lands at $12,365, and a winch is required.</a:t>
            </a:r>
          </a:p>
        </p:txBody>
      </p:sp>
      <p:sp>
        <p:nvSpPr>
          <p:cNvPr id="34" name="Rounded Rectangle 33"/>
          <p:cNvSpPr/>
          <p:nvPr/>
        </p:nvSpPr>
        <p:spPr>
          <a:xfrm>
            <a:off x="6601968" y="5001768"/>
            <a:ext cx="685800" cy="274320"/>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00" b="1" i="0">
                <a:solidFill>
                  <a:srgbClr val="48484A"/>
                </a:solidFill>
                <a:latin typeface="Helvetica Neue"/>
              </a:rPr>
              <a:t>0:10</a:t>
            </a:r>
          </a:p>
        </p:txBody>
      </p:sp>
      <p:sp>
        <p:nvSpPr>
          <p:cNvPr id="35" name="!!moment_4"/>
          <p:cNvSpPr/>
          <p:nvPr/>
        </p:nvSpPr>
        <p:spPr>
          <a:xfrm>
            <a:off x="548640" y="5577840"/>
            <a:ext cx="6903720" cy="640080"/>
          </a:xfrm>
          <a:prstGeom prst="roundRect">
            <a:avLst>
              <a:gd name="adj" fmla="val 2857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6" name="Oval 35"/>
          <p:cNvSpPr/>
          <p:nvPr/>
        </p:nvSpPr>
        <p:spPr>
          <a:xfrm>
            <a:off x="713232" y="5696712"/>
            <a:ext cx="402336" cy="402336"/>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5</a:t>
            </a:r>
          </a:p>
        </p:txBody>
      </p:sp>
      <p:sp>
        <p:nvSpPr>
          <p:cNvPr id="37" name="TextBox 36"/>
          <p:cNvSpPr txBox="1"/>
          <p:nvPr/>
        </p:nvSpPr>
        <p:spPr>
          <a:xfrm>
            <a:off x="1261872" y="5650992"/>
            <a:ext cx="5120640" cy="512064"/>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Deliver</a:t>
            </a:r>
          </a:p>
          <a:p>
            <a:pPr algn="l">
              <a:lnSpc>
                <a:spcPct val="105000"/>
              </a:lnSpc>
              <a:spcAft>
                <a:spcPts val="0"/>
              </a:spcAft>
            </a:pPr>
            <a:r>
              <a:rPr sz="1150" b="0" i="0">
                <a:solidFill>
                  <a:srgbClr val="6E6E73"/>
                </a:solidFill>
                <a:latin typeface="Helvetica Neue"/>
              </a:rPr>
              <a:t>Plan routes, break the winch, re-plan: no truck pretends.</a:t>
            </a:r>
          </a:p>
        </p:txBody>
      </p:sp>
      <p:sp>
        <p:nvSpPr>
          <p:cNvPr id="38" name="Rounded Rectangle 37"/>
          <p:cNvSpPr/>
          <p:nvPr/>
        </p:nvSpPr>
        <p:spPr>
          <a:xfrm>
            <a:off x="6601968" y="5760720"/>
            <a:ext cx="685800" cy="274320"/>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00" b="1" i="0">
                <a:solidFill>
                  <a:srgbClr val="48484A"/>
                </a:solidFill>
                <a:latin typeface="Helvetica Neue"/>
              </a:rPr>
              <a:t>0:25</a:t>
            </a:r>
          </a:p>
        </p:txBody>
      </p:sp>
      <p:sp>
        <p:nvSpPr>
          <p:cNvPr id="39" name="!!demo_cta"/>
          <p:cNvSpPr/>
          <p:nvPr/>
        </p:nvSpPr>
        <p:spPr>
          <a:xfrm>
            <a:off x="7726679" y="2542032"/>
            <a:ext cx="3913632" cy="2011680"/>
          </a:xfrm>
          <a:prstGeom prst="roundRect">
            <a:avLst>
              <a:gd name="adj" fmla="val 9090"/>
            </a:avLst>
          </a:prstGeom>
          <a:solidFill>
            <a:srgbClr val="2F6BE6"/>
          </a:solidFill>
          <a:ln>
            <a:noFill/>
          </a:ln>
          <a:effectLst/>
        </p:spPr>
        <p:txBody>
          <a:bodyPr rtlCol="0" anchor="ctr"/>
          <a:lstStyle/>
          <a:p>
            <a:pPr algn="ctr"/>
          </a:p>
        </p:txBody>
      </p:sp>
      <p:sp>
        <p:nvSpPr>
          <p:cNvPr id="40" name="TextBox 39"/>
          <p:cNvSpPr txBox="1"/>
          <p:nvPr/>
        </p:nvSpPr>
        <p:spPr>
          <a:xfrm>
            <a:off x="8001000" y="2724912"/>
            <a:ext cx="3383280" cy="365760"/>
          </a:xfrm>
          <a:prstGeom prst="rect">
            <a:avLst/>
          </a:prstGeom>
          <a:noFill/>
        </p:spPr>
        <p:txBody>
          <a:bodyPr wrap="square" lIns="0" rIns="0" tIns="0" bIns="0" anchor="t">
            <a:noAutofit/>
          </a:bodyPr>
          <a:lstStyle/>
          <a:p>
            <a:pPr algn="l">
              <a:lnSpc>
                <a:spcPct val="112000"/>
              </a:lnSpc>
              <a:spcAft>
                <a:spcPts val="0"/>
              </a:spcAft>
            </a:pPr>
            <a:r>
              <a:rPr sz="2000" b="1" i="0">
                <a:solidFill>
                  <a:srgbClr val="FFFFFF"/>
                </a:solidFill>
                <a:latin typeface="Helvetica Neue"/>
              </a:rPr>
              <a:t>Open the live demo</a:t>
            </a:r>
          </a:p>
        </p:txBody>
      </p:sp>
      <p:sp>
        <p:nvSpPr>
          <p:cNvPr id="41" name="TextBox 40"/>
          <p:cNvSpPr txBox="1"/>
          <p:nvPr/>
        </p:nvSpPr>
        <p:spPr>
          <a:xfrm>
            <a:off x="8001000" y="3127248"/>
            <a:ext cx="3383280" cy="548640"/>
          </a:xfrm>
          <a:prstGeom prst="rect">
            <a:avLst/>
          </a:prstGeom>
          <a:noFill/>
        </p:spPr>
        <p:txBody>
          <a:bodyPr wrap="square" lIns="0" rIns="0" tIns="0" bIns="0" anchor="t">
            <a:noAutofit/>
          </a:bodyPr>
          <a:lstStyle/>
          <a:p>
            <a:pPr algn="l">
              <a:lnSpc>
                <a:spcPct val="115000"/>
              </a:lnSpc>
              <a:spcAft>
                <a:spcPts val="0"/>
              </a:spcAft>
            </a:pPr>
            <a:r>
              <a:rPr sz="1150" b="0" i="0">
                <a:solidFill>
                  <a:srgbClr val="DCE6FF"/>
                </a:solidFill>
                <a:latin typeface="Helvetica Neue"/>
              </a:rPr>
              <a:t>localhost:3000 · Reset scenario first · rehearsed AI result loads instantly</a:t>
            </a:r>
          </a:p>
        </p:txBody>
      </p:sp>
      <p:sp>
        <p:nvSpPr>
          <p:cNvPr id="42" name="Rounded Rectangle 41">
            <a:hlinkClick r:id="rId10"/>
          </p:cNvPr>
          <p:cNvSpPr/>
          <p:nvPr/>
        </p:nvSpPr>
        <p:spPr>
          <a:xfrm>
            <a:off x="8001000" y="3813048"/>
            <a:ext cx="2103120" cy="457200"/>
          </a:xfrm>
          <a:prstGeom prst="roundRect">
            <a:avLst>
              <a:gd name="adj" fmla="val 50000"/>
            </a:avLst>
          </a:prstGeom>
          <a:solidFill>
            <a:srgbClr val="FFFFFF"/>
          </a:solidFill>
          <a:ln>
            <a:noFill/>
          </a:ln>
          <a:effectLst/>
        </p:spPr>
        <p:txBody>
          <a:bodyPr rtlCol="0" anchor="ctr" wrap="square" lIns="109728" rIns="109728" tIns="36576" bIns="36576">
            <a:noAutofit/>
          </a:bodyPr>
          <a:lstStyle/>
          <a:p>
            <a:pPr algn="ctr">
              <a:lnSpc>
                <a:spcPct val="112000"/>
              </a:lnSpc>
              <a:spcAft>
                <a:spcPts val="0"/>
              </a:spcAft>
            </a:pPr>
            <a:r>
              <a:rPr sz="1400" b="1" i="0">
                <a:solidFill>
                  <a:srgbClr val="2F6BE6"/>
                </a:solidFill>
                <a:latin typeface="Helvetica Neue"/>
              </a:rPr>
              <a:t>Open ↗</a:t>
            </a:r>
          </a:p>
        </p:txBody>
      </p:sp>
      <p:sp>
        <p:nvSpPr>
          <p:cNvPr id="43" name="!!demo_backup"/>
          <p:cNvSpPr/>
          <p:nvPr/>
        </p:nvSpPr>
        <p:spPr>
          <a:xfrm>
            <a:off x="7726679" y="4727448"/>
            <a:ext cx="3913632" cy="1572768"/>
          </a:xfrm>
          <a:prstGeom prst="roundRect">
            <a:avLst>
              <a:gd name="adj" fmla="val 11627"/>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4" name="TextBox 43"/>
          <p:cNvSpPr txBox="1"/>
          <p:nvPr/>
        </p:nvSpPr>
        <p:spPr>
          <a:xfrm>
            <a:off x="7955279" y="4846320"/>
            <a:ext cx="3566160" cy="274320"/>
          </a:xfrm>
          <a:prstGeom prst="rect">
            <a:avLst/>
          </a:prstGeom>
          <a:noFill/>
        </p:spPr>
        <p:txBody>
          <a:bodyPr wrap="square" lIns="0" rIns="0" tIns="0" bIns="0" anchor="t">
            <a:noAutofit/>
          </a:bodyPr>
          <a:lstStyle/>
          <a:p>
            <a:pPr algn="l">
              <a:lnSpc>
                <a:spcPct val="112000"/>
              </a:lnSpc>
              <a:spcAft>
                <a:spcPts val="0"/>
              </a:spcAft>
            </a:pPr>
            <a:r>
              <a:rPr sz="1200" b="1" i="0">
                <a:solidFill>
                  <a:srgbClr val="1D1D1F"/>
                </a:solidFill>
                <a:latin typeface="Helvetica Neue"/>
              </a:rPr>
              <a:t>Live demo down? Show it here instead:</a:t>
            </a:r>
          </a:p>
        </p:txBody>
      </p:sp>
      <p:sp>
        <p:nvSpPr>
          <p:cNvPr id="45" name="Rounded Rectangle 44">
            <a:hlinkClick action="ppaction://hlinksldjump" r:id="rId11"/>
          </p:cNvPr>
          <p:cNvSpPr/>
          <p:nvPr/>
        </p:nvSpPr>
        <p:spPr>
          <a:xfrm>
            <a:off x="7955279" y="5230368"/>
            <a:ext cx="1691640" cy="34747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1 Value</a:t>
            </a:r>
          </a:p>
        </p:txBody>
      </p:sp>
      <p:sp>
        <p:nvSpPr>
          <p:cNvPr id="46" name="Rounded Rectangle 45">
            <a:hlinkClick action="ppaction://hlinksldjump" r:id="rId12"/>
          </p:cNvPr>
          <p:cNvSpPr/>
          <p:nvPr/>
        </p:nvSpPr>
        <p:spPr>
          <a:xfrm>
            <a:off x="9765792" y="5230368"/>
            <a:ext cx="1691640" cy="34747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2 Inspect</a:t>
            </a:r>
          </a:p>
        </p:txBody>
      </p:sp>
      <p:sp>
        <p:nvSpPr>
          <p:cNvPr id="47" name="Rounded Rectangle 46">
            <a:hlinkClick action="ppaction://hlinksldjump" r:id="rId6"/>
          </p:cNvPr>
          <p:cNvSpPr/>
          <p:nvPr/>
        </p:nvSpPr>
        <p:spPr>
          <a:xfrm>
            <a:off x="7955279" y="5687568"/>
            <a:ext cx="1691640" cy="34747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3 Sell</a:t>
            </a:r>
          </a:p>
        </p:txBody>
      </p:sp>
      <p:sp>
        <p:nvSpPr>
          <p:cNvPr id="48" name="Rounded Rectangle 47">
            <a:hlinkClick action="ppaction://hlinksldjump" r:id="rId13"/>
          </p:cNvPr>
          <p:cNvSpPr/>
          <p:nvPr/>
        </p:nvSpPr>
        <p:spPr>
          <a:xfrm>
            <a:off x="9765792" y="5687568"/>
            <a:ext cx="1691640" cy="34747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4 Deliver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5656935"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5</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Buyer checkout · transport is an independent choice</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ACV Transport: the buyer’s call.</a:t>
            </a:r>
          </a:p>
        </p:txBody>
      </p:sp>
      <p:sp>
        <p:nvSpPr>
          <p:cNvPr id="18" name="!!sub"/>
          <p:cNvSpPr txBox="1"/>
          <p:nvPr/>
        </p:nvSpPr>
        <p:spPr>
          <a:xfrm>
            <a:off x="548640" y="1810512"/>
            <a:ext cx="76809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Most ACV sellers ship free and the buyer pays transport. So transport is a yes/no at checkout, and the seller’s net never moves.</a:t>
            </a:r>
          </a:p>
        </p:txBody>
      </p:sp>
      <p:sp>
        <p:nvSpPr>
          <p:cNvPr id="19" name="!!co_track"/>
          <p:cNvSpPr/>
          <p:nvPr/>
        </p:nvSpPr>
        <p:spPr>
          <a:xfrm>
            <a:off x="8641080" y="1188720"/>
            <a:ext cx="2999232" cy="365760"/>
          </a:xfrm>
          <a:prstGeom prst="roundRect">
            <a:avLst>
              <a:gd name="adj" fmla="val 30000"/>
            </a:avLst>
          </a:prstGeom>
          <a:solidFill>
            <a:srgbClr val="E8E8ED"/>
          </a:solidFill>
          <a:ln>
            <a:noFill/>
          </a:ln>
          <a:effectLst/>
        </p:spPr>
        <p:txBody>
          <a:bodyPr rtlCol="0" anchor="ctr"/>
          <a:lstStyle/>
          <a:p>
            <a:pPr algn="ctr"/>
          </a:p>
        </p:txBody>
      </p:sp>
      <p:sp>
        <p:nvSpPr>
          <p:cNvPr id="20" name="!!co_active"/>
          <p:cNvSpPr/>
          <p:nvPr/>
        </p:nvSpPr>
        <p:spPr>
          <a:xfrm>
            <a:off x="8677655" y="1225296"/>
            <a:ext cx="1463040"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co_0"/>
          <p:cNvSpPr/>
          <p:nvPr/>
        </p:nvSpPr>
        <p:spPr>
          <a:xfrm>
            <a:off x="8677655" y="1225296"/>
            <a:ext cx="14630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Transport on</a:t>
            </a:r>
          </a:p>
        </p:txBody>
      </p:sp>
      <p:sp>
        <p:nvSpPr>
          <p:cNvPr id="22" name="!!co_1">
            <a:hlinkClick action="ppaction://hlinksldjump" r:id="rId11"/>
          </p:cNvPr>
          <p:cNvSpPr/>
          <p:nvPr/>
        </p:nvSpPr>
        <p:spPr>
          <a:xfrm>
            <a:off x="10140695" y="1225296"/>
            <a:ext cx="14630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Transport off</a:t>
            </a:r>
          </a:p>
        </p:txBody>
      </p:sp>
      <p:sp>
        <p:nvSpPr>
          <p:cNvPr id="23" name="!!co_buyer"/>
          <p:cNvSpPr/>
          <p:nvPr/>
        </p:nvSpPr>
        <p:spPr>
          <a:xfrm>
            <a:off x="548640" y="2560320"/>
            <a:ext cx="4892040"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Oval 23"/>
          <p:cNvSpPr/>
          <p:nvPr/>
        </p:nvSpPr>
        <p:spPr>
          <a:xfrm>
            <a:off x="749808" y="2743200"/>
            <a:ext cx="457200" cy="457200"/>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200" b="1" i="0">
                <a:solidFill>
                  <a:srgbClr val="2F7A4F"/>
                </a:solidFill>
                <a:latin typeface="Helvetica Neue"/>
              </a:rPr>
              <a:t>MT</a:t>
            </a:r>
          </a:p>
        </p:txBody>
      </p:sp>
      <p:sp>
        <p:nvSpPr>
          <p:cNvPr id="25" name="TextBox 24"/>
          <p:cNvSpPr txBox="1"/>
          <p:nvPr/>
        </p:nvSpPr>
        <p:spPr>
          <a:xfrm>
            <a:off x="1325880" y="2734056"/>
            <a:ext cx="3840480" cy="457200"/>
          </a:xfrm>
          <a:prstGeom prst="rect">
            <a:avLst/>
          </a:prstGeom>
          <a:noFill/>
        </p:spPr>
        <p:txBody>
          <a:bodyPr wrap="square" lIns="0" rIns="0" tIns="0" bIns="0" anchor="t">
            <a:noAutofit/>
          </a:bodyPr>
          <a:lstStyle/>
          <a:p>
            <a:pPr algn="l">
              <a:lnSpc>
                <a:spcPct val="100000"/>
              </a:lnSpc>
              <a:spcAft>
                <a:spcPts val="0"/>
              </a:spcAft>
            </a:pPr>
            <a:r>
              <a:rPr sz="1400" b="1" i="0">
                <a:solidFill>
                  <a:srgbClr val="1D1D1F"/>
                </a:solidFill>
                <a:latin typeface="Helvetica Neue"/>
              </a:rPr>
              <a:t>Marcus · buyer checkout</a:t>
            </a:r>
          </a:p>
          <a:p>
            <a:pPr algn="l">
              <a:lnSpc>
                <a:spcPct val="100000"/>
              </a:lnSpc>
              <a:spcAft>
                <a:spcPts val="0"/>
              </a:spcAft>
            </a:pPr>
            <a:r>
              <a:rPr sz="1050" b="0" i="0">
                <a:solidFill>
                  <a:srgbClr val="6E6E73"/>
                </a:solidFill>
                <a:latin typeface="Helvetica Neue"/>
              </a:rPr>
              <a:t>Synthetic Rebuilder 201</a:t>
            </a:r>
          </a:p>
        </p:txBody>
      </p:sp>
      <p:sp>
        <p:nvSpPr>
          <p:cNvPr id="26" name="TextBox 25"/>
          <p:cNvSpPr txBox="1"/>
          <p:nvPr/>
        </p:nvSpPr>
        <p:spPr>
          <a:xfrm>
            <a:off x="777240" y="3401568"/>
            <a:ext cx="3200400" cy="274320"/>
          </a:xfrm>
          <a:prstGeom prst="rect">
            <a:avLst/>
          </a:prstGeom>
          <a:noFill/>
        </p:spPr>
        <p:txBody>
          <a:bodyPr wrap="square" lIns="0" rIns="0" tIns="0" bIns="0" anchor="t">
            <a:noAutofit/>
          </a:bodyPr>
          <a:lstStyle/>
          <a:p>
            <a:pPr algn="l">
              <a:lnSpc>
                <a:spcPct val="112000"/>
              </a:lnSpc>
              <a:spcAft>
                <a:spcPts val="0"/>
              </a:spcAft>
            </a:pPr>
            <a:r>
              <a:rPr sz="1300" b="0" i="0">
                <a:solidFill>
                  <a:srgbClr val="6E6E73"/>
                </a:solidFill>
                <a:latin typeface="Helvetica Neue"/>
              </a:rPr>
              <a:t>Vehicle price</a:t>
            </a:r>
          </a:p>
        </p:txBody>
      </p:sp>
      <p:sp>
        <p:nvSpPr>
          <p:cNvPr id="27" name="TextBox 26"/>
          <p:cNvSpPr txBox="1"/>
          <p:nvPr/>
        </p:nvSpPr>
        <p:spPr>
          <a:xfrm>
            <a:off x="3840480" y="3401568"/>
            <a:ext cx="1371600" cy="274320"/>
          </a:xfrm>
          <a:prstGeom prst="rect">
            <a:avLst/>
          </a:prstGeom>
          <a:noFill/>
        </p:spPr>
        <p:txBody>
          <a:bodyPr wrap="square" lIns="0" rIns="0" tIns="0" bIns="0" anchor="t">
            <a:noAutofit/>
          </a:bodyPr>
          <a:lstStyle/>
          <a:p>
            <a:pPr algn="r">
              <a:lnSpc>
                <a:spcPct val="112000"/>
              </a:lnSpc>
              <a:spcAft>
                <a:spcPts val="0"/>
              </a:spcAft>
            </a:pPr>
            <a:r>
              <a:rPr sz="1300" b="1" i="0">
                <a:solidFill>
                  <a:srgbClr val="1D1D1F"/>
                </a:solidFill>
                <a:latin typeface="Helvetica Neue"/>
              </a:rPr>
              <a:t>$11,300</a:t>
            </a:r>
          </a:p>
        </p:txBody>
      </p:sp>
      <p:sp>
        <p:nvSpPr>
          <p:cNvPr id="28" name="TextBox 27"/>
          <p:cNvSpPr txBox="1"/>
          <p:nvPr/>
        </p:nvSpPr>
        <p:spPr>
          <a:xfrm>
            <a:off x="777240" y="3785616"/>
            <a:ext cx="3200400" cy="274320"/>
          </a:xfrm>
          <a:prstGeom prst="rect">
            <a:avLst/>
          </a:prstGeom>
          <a:noFill/>
        </p:spPr>
        <p:txBody>
          <a:bodyPr wrap="square" lIns="0" rIns="0" tIns="0" bIns="0" anchor="t">
            <a:noAutofit/>
          </a:bodyPr>
          <a:lstStyle/>
          <a:p>
            <a:pPr algn="l">
              <a:lnSpc>
                <a:spcPct val="112000"/>
              </a:lnSpc>
              <a:spcAft>
                <a:spcPts val="0"/>
              </a:spcAft>
            </a:pPr>
            <a:r>
              <a:rPr sz="1300" b="0" i="0">
                <a:solidFill>
                  <a:srgbClr val="6E6E73"/>
                </a:solidFill>
                <a:latin typeface="Helvetica Neue"/>
              </a:rPr>
              <a:t>Buyer fee</a:t>
            </a:r>
          </a:p>
        </p:txBody>
      </p:sp>
      <p:sp>
        <p:nvSpPr>
          <p:cNvPr id="29" name="TextBox 28"/>
          <p:cNvSpPr txBox="1"/>
          <p:nvPr/>
        </p:nvSpPr>
        <p:spPr>
          <a:xfrm>
            <a:off x="3840480" y="3785616"/>
            <a:ext cx="1371600" cy="274320"/>
          </a:xfrm>
          <a:prstGeom prst="rect">
            <a:avLst/>
          </a:prstGeom>
          <a:noFill/>
        </p:spPr>
        <p:txBody>
          <a:bodyPr wrap="square" lIns="0" rIns="0" tIns="0" bIns="0" anchor="t">
            <a:noAutofit/>
          </a:bodyPr>
          <a:lstStyle/>
          <a:p>
            <a:pPr algn="r">
              <a:lnSpc>
                <a:spcPct val="112000"/>
              </a:lnSpc>
              <a:spcAft>
                <a:spcPts val="0"/>
              </a:spcAft>
            </a:pPr>
            <a:r>
              <a:rPr sz="1300" b="1" i="0">
                <a:solidFill>
                  <a:srgbClr val="1D1D1F"/>
                </a:solidFill>
                <a:latin typeface="Helvetica Neue"/>
              </a:rPr>
              <a:t>$425</a:t>
            </a:r>
          </a:p>
        </p:txBody>
      </p:sp>
      <p:sp>
        <p:nvSpPr>
          <p:cNvPr id="30" name="!!co_tr_bg"/>
          <p:cNvSpPr/>
          <p:nvPr/>
        </p:nvSpPr>
        <p:spPr>
          <a:xfrm>
            <a:off x="749808" y="4224528"/>
            <a:ext cx="4480560" cy="868680"/>
          </a:xfrm>
          <a:prstGeom prst="roundRect">
            <a:avLst>
              <a:gd name="adj" fmla="val 14736"/>
            </a:avLst>
          </a:prstGeom>
          <a:solidFill>
            <a:srgbClr val="E6F4EA"/>
          </a:solidFill>
          <a:ln>
            <a:noFill/>
          </a:ln>
          <a:effectLst/>
        </p:spPr>
        <p:txBody>
          <a:bodyPr rtlCol="0" anchor="ctr"/>
          <a:lstStyle/>
          <a:p>
            <a:pPr algn="ctr"/>
          </a:p>
        </p:txBody>
      </p:sp>
      <p:sp>
        <p:nvSpPr>
          <p:cNvPr id="31" name="!!sw_track"/>
          <p:cNvSpPr/>
          <p:nvPr/>
        </p:nvSpPr>
        <p:spPr>
          <a:xfrm>
            <a:off x="914400" y="4480560"/>
            <a:ext cx="658368" cy="365760"/>
          </a:xfrm>
          <a:prstGeom prst="roundRect">
            <a:avLst>
              <a:gd name="adj" fmla="val 50000"/>
            </a:avLst>
          </a:prstGeom>
          <a:solidFill>
            <a:srgbClr val="34C759"/>
          </a:solidFill>
          <a:ln>
            <a:noFill/>
          </a:ln>
          <a:effectLst/>
        </p:spPr>
        <p:txBody>
          <a:bodyPr rtlCol="0" anchor="ctr"/>
          <a:lstStyle/>
          <a:p>
            <a:pPr algn="ctr"/>
          </a:p>
        </p:txBody>
      </p:sp>
      <p:sp>
        <p:nvSpPr>
          <p:cNvPr id="32" name="!!sw_knob"/>
          <p:cNvSpPr/>
          <p:nvPr/>
        </p:nvSpPr>
        <p:spPr>
          <a:xfrm>
            <a:off x="1243584" y="4517136"/>
            <a:ext cx="292608" cy="292608"/>
          </a:xfrm>
          <a:prstGeom prst="ellipse">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3" name="!!co_tr_label"/>
          <p:cNvSpPr txBox="1"/>
          <p:nvPr/>
        </p:nvSpPr>
        <p:spPr>
          <a:xfrm>
            <a:off x="1737360" y="4315968"/>
            <a:ext cx="2468880" cy="685800"/>
          </a:xfrm>
          <a:prstGeom prst="rect">
            <a:avLst/>
          </a:prstGeom>
          <a:noFill/>
        </p:spPr>
        <p:txBody>
          <a:bodyPr wrap="square" lIns="0" rIns="0" tIns="0" bIns="0" anchor="t">
            <a:noAutofit/>
          </a:bodyPr>
          <a:lstStyle/>
          <a:p>
            <a:pPr algn="l">
              <a:lnSpc>
                <a:spcPct val="105000"/>
              </a:lnSpc>
              <a:spcAft>
                <a:spcPts val="0"/>
              </a:spcAft>
            </a:pPr>
            <a:r>
              <a:rPr sz="1350" b="1" i="0">
                <a:solidFill>
                  <a:srgbClr val="1D1D1F"/>
                </a:solidFill>
                <a:latin typeface="Helvetica Neue"/>
              </a:rPr>
              <a:t>ACV Transport</a:t>
            </a:r>
          </a:p>
          <a:p>
            <a:pPr algn="l">
              <a:lnSpc>
                <a:spcPct val="105000"/>
              </a:lnSpc>
              <a:spcAft>
                <a:spcPts val="0"/>
              </a:spcAft>
            </a:pPr>
            <a:r>
              <a:rPr sz="1050" b="0" i="0">
                <a:solidFill>
                  <a:srgbClr val="6E6E73"/>
                </a:solidFill>
                <a:latin typeface="Helvetica Neue"/>
              </a:rPr>
              <a:t>225 km · winch truck (car won’t start)</a:t>
            </a:r>
          </a:p>
        </p:txBody>
      </p:sp>
      <p:sp>
        <p:nvSpPr>
          <p:cNvPr id="34" name="!!co_tr_amt"/>
          <p:cNvSpPr txBox="1"/>
          <p:nvPr/>
        </p:nvSpPr>
        <p:spPr>
          <a:xfrm>
            <a:off x="3840480" y="4480560"/>
            <a:ext cx="1371600" cy="320040"/>
          </a:xfrm>
          <a:prstGeom prst="rect">
            <a:avLst/>
          </a:prstGeom>
          <a:noFill/>
        </p:spPr>
        <p:txBody>
          <a:bodyPr wrap="square" lIns="0" rIns="0" tIns="0" bIns="0" anchor="t">
            <a:noAutofit/>
          </a:bodyPr>
          <a:lstStyle/>
          <a:p>
            <a:pPr algn="r">
              <a:lnSpc>
                <a:spcPct val="112000"/>
              </a:lnSpc>
              <a:spcAft>
                <a:spcPts val="0"/>
              </a:spcAft>
            </a:pPr>
            <a:r>
              <a:rPr sz="1400" b="1" i="0">
                <a:solidFill>
                  <a:srgbClr val="2F7A4F"/>
                </a:solidFill>
                <a:latin typeface="Helvetica Neue"/>
              </a:rPr>
              <a:t>$640</a:t>
            </a:r>
          </a:p>
        </p:txBody>
      </p:sp>
      <p:sp>
        <p:nvSpPr>
          <p:cNvPr id="35" name="Rounded Rectangle 34"/>
          <p:cNvSpPr/>
          <p:nvPr/>
        </p:nvSpPr>
        <p:spPr>
          <a:xfrm>
            <a:off x="777240" y="5285232"/>
            <a:ext cx="4434840" cy="10972"/>
          </a:xfrm>
          <a:prstGeom prst="roundRect">
            <a:avLst>
              <a:gd name="adj" fmla="val 0"/>
            </a:avLst>
          </a:prstGeom>
          <a:solidFill>
            <a:srgbClr val="E3E3E8"/>
          </a:solidFill>
          <a:ln>
            <a:noFill/>
          </a:ln>
          <a:effectLst/>
        </p:spPr>
        <p:txBody>
          <a:bodyPr rtlCol="0" anchor="ctr"/>
          <a:lstStyle/>
          <a:p>
            <a:pPr algn="ctr"/>
          </a:p>
        </p:txBody>
      </p:sp>
      <p:sp>
        <p:nvSpPr>
          <p:cNvPr id="36" name="TextBox 35"/>
          <p:cNvSpPr txBox="1"/>
          <p:nvPr/>
        </p:nvSpPr>
        <p:spPr>
          <a:xfrm>
            <a:off x="777240" y="5413248"/>
            <a:ext cx="2286000" cy="274320"/>
          </a:xfrm>
          <a:prstGeom prst="rect">
            <a:avLst/>
          </a:prstGeom>
          <a:noFill/>
        </p:spPr>
        <p:txBody>
          <a:bodyPr wrap="square" lIns="0" rIns="0" tIns="0" bIns="0" anchor="t">
            <a:noAutofit/>
          </a:bodyPr>
          <a:lstStyle/>
          <a:p>
            <a:pPr algn="l">
              <a:lnSpc>
                <a:spcPct val="112000"/>
              </a:lnSpc>
              <a:spcAft>
                <a:spcPts val="0"/>
              </a:spcAft>
            </a:pPr>
            <a:r>
              <a:rPr sz="1300" b="0" i="0">
                <a:solidFill>
                  <a:srgbClr val="6E6E73"/>
                </a:solidFill>
                <a:latin typeface="Helvetica Neue"/>
              </a:rPr>
              <a:t>Total at checkout</a:t>
            </a:r>
          </a:p>
        </p:txBody>
      </p:sp>
      <p:sp>
        <p:nvSpPr>
          <p:cNvPr id="37" name="!!co_total"/>
          <p:cNvSpPr txBox="1"/>
          <p:nvPr/>
        </p:nvSpPr>
        <p:spPr>
          <a:xfrm>
            <a:off x="2651760" y="5321808"/>
            <a:ext cx="2560320" cy="502920"/>
          </a:xfrm>
          <a:prstGeom prst="rect">
            <a:avLst/>
          </a:prstGeom>
          <a:noFill/>
        </p:spPr>
        <p:txBody>
          <a:bodyPr wrap="square" lIns="0" rIns="0" tIns="0" bIns="0" anchor="t">
            <a:noAutofit/>
          </a:bodyPr>
          <a:lstStyle/>
          <a:p>
            <a:pPr algn="r">
              <a:lnSpc>
                <a:spcPct val="112000"/>
              </a:lnSpc>
              <a:spcAft>
                <a:spcPts val="0"/>
              </a:spcAft>
            </a:pPr>
            <a:r>
              <a:rPr sz="3000" b="1" i="0" spc="-60">
                <a:solidFill>
                  <a:srgbClr val="1D1D1F"/>
                </a:solidFill>
                <a:latin typeface="Helvetica Neue"/>
              </a:rPr>
              <a:t>$12,365</a:t>
            </a:r>
          </a:p>
        </p:txBody>
      </p:sp>
      <p:sp>
        <p:nvSpPr>
          <p:cNvPr id="38" name="!!co_note"/>
          <p:cNvSpPr txBox="1"/>
          <p:nvPr/>
        </p:nvSpPr>
        <p:spPr>
          <a:xfrm>
            <a:off x="777240" y="5870448"/>
            <a:ext cx="4434840" cy="365760"/>
          </a:xfrm>
          <a:prstGeom prst="rect">
            <a:avLst/>
          </a:prstGeom>
          <a:noFill/>
        </p:spPr>
        <p:txBody>
          <a:bodyPr wrap="square" lIns="0" rIns="0" tIns="0" bIns="0" anchor="t">
            <a:noAutofit/>
          </a:bodyPr>
          <a:lstStyle/>
          <a:p>
            <a:pPr algn="l">
              <a:lnSpc>
                <a:spcPct val="112000"/>
              </a:lnSpc>
              <a:spcAft>
                <a:spcPts val="0"/>
              </a:spcAft>
            </a:pPr>
            <a:r>
              <a:rPr sz="1050" b="0" i="0">
                <a:solidFill>
                  <a:srgbClr val="2F7A4F"/>
                </a:solidFill>
                <a:latin typeface="Helvetica Neue"/>
              </a:rPr>
              <a:t>Delivered to the buyer’s site, winch auto-required.</a:t>
            </a:r>
          </a:p>
        </p:txBody>
      </p:sp>
      <p:sp>
        <p:nvSpPr>
          <p:cNvPr id="39" name="!!co_seller"/>
          <p:cNvSpPr/>
          <p:nvPr/>
        </p:nvSpPr>
        <p:spPr>
          <a:xfrm>
            <a:off x="5623560" y="2560320"/>
            <a:ext cx="2834640" cy="3730752"/>
          </a:xfrm>
          <a:prstGeom prst="roundRect">
            <a:avLst>
              <a:gd name="adj" fmla="val 645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0" name="Oval 39"/>
          <p:cNvSpPr/>
          <p:nvPr/>
        </p:nvSpPr>
        <p:spPr>
          <a:xfrm>
            <a:off x="5824728" y="2743200"/>
            <a:ext cx="457200" cy="457200"/>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200" b="1" i="0">
                <a:solidFill>
                  <a:srgbClr val="2560D6"/>
                </a:solidFill>
                <a:latin typeface="Helvetica Neue"/>
              </a:rPr>
              <a:t>DR</a:t>
            </a:r>
          </a:p>
        </p:txBody>
      </p:sp>
      <p:sp>
        <p:nvSpPr>
          <p:cNvPr id="41" name="TextBox 40"/>
          <p:cNvSpPr txBox="1"/>
          <p:nvPr/>
        </p:nvSpPr>
        <p:spPr>
          <a:xfrm>
            <a:off x="6400800" y="2734056"/>
            <a:ext cx="1920240" cy="457200"/>
          </a:xfrm>
          <a:prstGeom prst="rect">
            <a:avLst/>
          </a:prstGeom>
          <a:noFill/>
        </p:spPr>
        <p:txBody>
          <a:bodyPr wrap="square" lIns="0" rIns="0" tIns="0" bIns="0" anchor="t">
            <a:noAutofit/>
          </a:bodyPr>
          <a:lstStyle/>
          <a:p>
            <a:pPr algn="l">
              <a:lnSpc>
                <a:spcPct val="100000"/>
              </a:lnSpc>
              <a:spcAft>
                <a:spcPts val="0"/>
              </a:spcAft>
            </a:pPr>
            <a:r>
              <a:rPr sz="1400" b="1" i="0">
                <a:solidFill>
                  <a:srgbClr val="1D1D1F"/>
                </a:solidFill>
                <a:latin typeface="Helvetica Neue"/>
              </a:rPr>
              <a:t>Dana · seller</a:t>
            </a:r>
          </a:p>
          <a:p>
            <a:pPr algn="l">
              <a:lnSpc>
                <a:spcPct val="100000"/>
              </a:lnSpc>
              <a:spcAft>
                <a:spcPts val="0"/>
              </a:spcAft>
            </a:pPr>
            <a:r>
              <a:rPr sz="1050" b="0" i="0">
                <a:solidFill>
                  <a:srgbClr val="6E6E73"/>
                </a:solidFill>
                <a:latin typeface="Helvetica Neue"/>
              </a:rPr>
              <a:t>Synthetic Dealer 1</a:t>
            </a:r>
          </a:p>
        </p:txBody>
      </p:sp>
      <p:sp>
        <p:nvSpPr>
          <p:cNvPr id="42" name="TextBox 41"/>
          <p:cNvSpPr txBox="1"/>
          <p:nvPr/>
        </p:nvSpPr>
        <p:spPr>
          <a:xfrm>
            <a:off x="5852160" y="3520440"/>
            <a:ext cx="2468880" cy="27432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Seller net</a:t>
            </a:r>
          </a:p>
        </p:txBody>
      </p:sp>
      <p:sp>
        <p:nvSpPr>
          <p:cNvPr id="43" name="!!co_seller_net"/>
          <p:cNvSpPr txBox="1"/>
          <p:nvPr/>
        </p:nvSpPr>
        <p:spPr>
          <a:xfrm>
            <a:off x="5852160" y="3767328"/>
            <a:ext cx="2468880" cy="548640"/>
          </a:xfrm>
          <a:prstGeom prst="rect">
            <a:avLst/>
          </a:prstGeom>
          <a:noFill/>
        </p:spPr>
        <p:txBody>
          <a:bodyPr wrap="square" lIns="0" rIns="0" tIns="0" bIns="0" anchor="t">
            <a:noAutofit/>
          </a:bodyPr>
          <a:lstStyle/>
          <a:p>
            <a:pPr algn="l">
              <a:lnSpc>
                <a:spcPct val="112000"/>
              </a:lnSpc>
              <a:spcAft>
                <a:spcPts val="0"/>
              </a:spcAft>
            </a:pPr>
            <a:r>
              <a:rPr sz="3400" b="1" i="0" spc="-60">
                <a:solidFill>
                  <a:srgbClr val="1D1D1F"/>
                </a:solidFill>
                <a:latin typeface="Helvetica Neue"/>
              </a:rPr>
              <a:t>$10,950</a:t>
            </a:r>
          </a:p>
        </p:txBody>
      </p:sp>
      <p:sp>
        <p:nvSpPr>
          <p:cNvPr id="44" name="TextBox 43"/>
          <p:cNvSpPr txBox="1"/>
          <p:nvPr/>
        </p:nvSpPr>
        <p:spPr>
          <a:xfrm>
            <a:off x="5852160" y="4389120"/>
            <a:ext cx="24688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6E6E73"/>
                </a:solidFill>
                <a:latin typeface="Helvetica Neue"/>
              </a:rPr>
              <a:t>price − $350 seller fee</a:t>
            </a:r>
          </a:p>
        </p:txBody>
      </p:sp>
      <p:sp>
        <p:nvSpPr>
          <p:cNvPr id="45" name="Rounded Rectangle 44"/>
          <p:cNvSpPr/>
          <p:nvPr/>
        </p:nvSpPr>
        <p:spPr>
          <a:xfrm>
            <a:off x="5852160" y="4846320"/>
            <a:ext cx="1568196" cy="310896"/>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100" b="1" i="0">
                <a:solidFill>
                  <a:srgbClr val="2F7A4F"/>
                </a:solidFill>
                <a:latin typeface="Helvetica Neue"/>
              </a:rPr>
              <a:t>Same either way</a:t>
            </a:r>
          </a:p>
        </p:txBody>
      </p:sp>
      <p:sp>
        <p:nvSpPr>
          <p:cNvPr id="46" name="TextBox 45"/>
          <p:cNvSpPr txBox="1"/>
          <p:nvPr/>
        </p:nvSpPr>
        <p:spPr>
          <a:xfrm>
            <a:off x="5852160" y="5349240"/>
            <a:ext cx="2468880" cy="822960"/>
          </a:xfrm>
          <a:prstGeom prst="rect">
            <a:avLst/>
          </a:prstGeom>
          <a:noFill/>
        </p:spPr>
        <p:txBody>
          <a:bodyPr wrap="square" lIns="0" rIns="0" tIns="0" bIns="0" anchor="t">
            <a:noAutofit/>
          </a:bodyPr>
          <a:lstStyle/>
          <a:p>
            <a:pPr algn="l">
              <a:lnSpc>
                <a:spcPct val="115000"/>
              </a:lnSpc>
              <a:spcAft>
                <a:spcPts val="0"/>
              </a:spcAft>
            </a:pPr>
            <a:r>
              <a:rPr sz="1100" b="0" i="0">
                <a:solidFill>
                  <a:srgbClr val="6E6E73"/>
                </a:solidFill>
                <a:latin typeface="Helvetica Neue"/>
              </a:rPr>
              <a:t>Transport never touches the seller’s money on ACV, so it’s an independent variable.</a:t>
            </a:r>
          </a:p>
        </p:txBody>
      </p:sp>
      <p:sp>
        <p:nvSpPr>
          <p:cNvPr id="47" name="!!co_acv"/>
          <p:cNvSpPr/>
          <p:nvPr/>
        </p:nvSpPr>
        <p:spPr>
          <a:xfrm>
            <a:off x="8641080" y="2560320"/>
            <a:ext cx="2999232" cy="3730752"/>
          </a:xfrm>
          <a:prstGeom prst="roundRect">
            <a:avLst>
              <a:gd name="adj" fmla="val 6097"/>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8" name="TextBox 47"/>
          <p:cNvSpPr txBox="1"/>
          <p:nvPr/>
        </p:nvSpPr>
        <p:spPr>
          <a:xfrm>
            <a:off x="8869680" y="2743200"/>
            <a:ext cx="2560320" cy="457200"/>
          </a:xfrm>
          <a:prstGeom prst="rect">
            <a:avLst/>
          </a:prstGeom>
          <a:noFill/>
        </p:spPr>
        <p:txBody>
          <a:bodyPr wrap="square" lIns="0" rIns="0" tIns="0" bIns="0" anchor="t">
            <a:noAutofit/>
          </a:bodyPr>
          <a:lstStyle/>
          <a:p>
            <a:pPr algn="l">
              <a:lnSpc>
                <a:spcPct val="100000"/>
              </a:lnSpc>
              <a:spcAft>
                <a:spcPts val="0"/>
              </a:spcAft>
            </a:pPr>
            <a:r>
              <a:rPr sz="1400" b="1" i="0">
                <a:solidFill>
                  <a:srgbClr val="1D1D1F"/>
                </a:solidFill>
                <a:latin typeface="Helvetica Neue"/>
              </a:rPr>
              <a:t>ACV · platform</a:t>
            </a:r>
          </a:p>
          <a:p>
            <a:pPr algn="l">
              <a:lnSpc>
                <a:spcPct val="100000"/>
              </a:lnSpc>
              <a:spcAft>
                <a:spcPts val="0"/>
              </a:spcAft>
            </a:pPr>
            <a:r>
              <a:rPr sz="1050" b="0" i="0">
                <a:solidFill>
                  <a:srgbClr val="6E6E73"/>
                </a:solidFill>
                <a:latin typeface="Helvetica Neue"/>
              </a:rPr>
              <a:t>what the choice is worth</a:t>
            </a:r>
          </a:p>
        </p:txBody>
      </p:sp>
      <p:sp>
        <p:nvSpPr>
          <p:cNvPr id="49" name="TextBox 48"/>
          <p:cNvSpPr txBox="1"/>
          <p:nvPr/>
        </p:nvSpPr>
        <p:spPr>
          <a:xfrm>
            <a:off x="8869680" y="3520440"/>
            <a:ext cx="2560320" cy="27432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Transport revenue</a:t>
            </a:r>
          </a:p>
        </p:txBody>
      </p:sp>
      <p:sp>
        <p:nvSpPr>
          <p:cNvPr id="50" name="!!co_rev"/>
          <p:cNvSpPr txBox="1"/>
          <p:nvPr/>
        </p:nvSpPr>
        <p:spPr>
          <a:xfrm>
            <a:off x="8869680" y="3767328"/>
            <a:ext cx="2560320" cy="548640"/>
          </a:xfrm>
          <a:prstGeom prst="rect">
            <a:avLst/>
          </a:prstGeom>
          <a:noFill/>
        </p:spPr>
        <p:txBody>
          <a:bodyPr wrap="square" lIns="0" rIns="0" tIns="0" bIns="0" anchor="t">
            <a:noAutofit/>
          </a:bodyPr>
          <a:lstStyle/>
          <a:p>
            <a:pPr algn="l">
              <a:lnSpc>
                <a:spcPct val="112000"/>
              </a:lnSpc>
              <a:spcAft>
                <a:spcPts val="0"/>
              </a:spcAft>
            </a:pPr>
            <a:r>
              <a:rPr sz="3400" b="1" i="0" spc="-60">
                <a:solidFill>
                  <a:srgbClr val="2F7A4F"/>
                </a:solidFill>
                <a:latin typeface="Helvetica Neue"/>
              </a:rPr>
              <a:t>$640</a:t>
            </a:r>
          </a:p>
        </p:txBody>
      </p:sp>
      <p:sp>
        <p:nvSpPr>
          <p:cNvPr id="51" name="!!co_items"/>
          <p:cNvSpPr txBox="1"/>
          <p:nvPr/>
        </p:nvSpPr>
        <p:spPr>
          <a:xfrm>
            <a:off x="8869680" y="4434840"/>
            <a:ext cx="2651760" cy="1097280"/>
          </a:xfrm>
          <a:prstGeom prst="rect">
            <a:avLst/>
          </a:prstGeom>
          <a:noFill/>
        </p:spPr>
        <p:txBody>
          <a:bodyPr wrap="square" lIns="0" rIns="0" tIns="0" bIns="0" anchor="t">
            <a:noAutofit/>
          </a:bodyPr>
          <a:lstStyle/>
          <a:p>
            <a:pPr algn="l">
              <a:lnSpc>
                <a:spcPct val="115000"/>
              </a:lnSpc>
              <a:spcAft>
                <a:spcPts val="300"/>
              </a:spcAft>
            </a:pPr>
            <a:r>
              <a:rPr sz="1150" b="1" i="0">
                <a:solidFill>
                  <a:srgbClr val="34C759"/>
                </a:solidFill>
                <a:latin typeface="Helvetica Neue"/>
              </a:rPr>
              <a:t>●  </a:t>
            </a:r>
            <a:r>
              <a:rPr sz="1150" b="0" i="0">
                <a:solidFill>
                  <a:srgbClr val="1D1D1F"/>
                </a:solidFill>
                <a:latin typeface="Helvetica Neue"/>
              </a:rPr>
              <a:t>Winch truck auto-assigned</a:t>
            </a:r>
          </a:p>
          <a:p>
            <a:pPr algn="l">
              <a:lnSpc>
                <a:spcPct val="115000"/>
              </a:lnSpc>
              <a:spcAft>
                <a:spcPts val="300"/>
              </a:spcAft>
            </a:pPr>
            <a:r>
              <a:rPr sz="1150" b="1" i="0">
                <a:solidFill>
                  <a:srgbClr val="34C759"/>
                </a:solidFill>
                <a:latin typeface="Helvetica Neue"/>
              </a:rPr>
              <a:t>●  </a:t>
            </a:r>
            <a:r>
              <a:rPr sz="1150" b="0" i="0">
                <a:solidFill>
                  <a:srgbClr val="1D1D1F"/>
                </a:solidFill>
                <a:latin typeface="Helvetica Neue"/>
              </a:rPr>
              <a:t>Pooled on a LoadLink route</a:t>
            </a:r>
          </a:p>
          <a:p>
            <a:pPr algn="l">
              <a:lnSpc>
                <a:spcPct val="115000"/>
              </a:lnSpc>
              <a:spcAft>
                <a:spcPts val="300"/>
              </a:spcAft>
            </a:pPr>
            <a:r>
              <a:rPr sz="1150" b="1" i="0">
                <a:solidFill>
                  <a:srgbClr val="34C759"/>
                </a:solidFill>
                <a:latin typeface="Helvetica Neue"/>
              </a:rPr>
              <a:t>●  </a:t>
            </a:r>
            <a:r>
              <a:rPr sz="1150" b="0" i="0">
                <a:solidFill>
                  <a:srgbClr val="1D1D1F"/>
                </a:solidFill>
                <a:latin typeface="Helvetica Neue"/>
              </a:rPr>
              <a:t>Delivery tracked to buyer</a:t>
            </a:r>
          </a:p>
        </p:txBody>
      </p:sp>
      <p:sp>
        <p:nvSpPr>
          <p:cNvPr id="52" name="Rounded Rectangle 51">
            <a:hlinkClick action="ppaction://hlinksldjump" r:id="rId7"/>
          </p:cNvPr>
          <p:cNvSpPr/>
          <p:nvPr/>
        </p:nvSpPr>
        <p:spPr>
          <a:xfrm>
            <a:off x="8869680" y="5760720"/>
            <a:ext cx="2514600"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Attach rate = money → ROI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5656935"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6</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Buyer checkout · transport is an independent choice</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ACV Transport: the buyer’s call.</a:t>
            </a:r>
          </a:p>
        </p:txBody>
      </p:sp>
      <p:sp>
        <p:nvSpPr>
          <p:cNvPr id="18" name="!!sub"/>
          <p:cNvSpPr txBox="1"/>
          <p:nvPr/>
        </p:nvSpPr>
        <p:spPr>
          <a:xfrm>
            <a:off x="548640" y="1810512"/>
            <a:ext cx="76809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Most ACV sellers ship free and the buyer pays transport. So transport is a yes/no at checkout, and the seller’s net never moves.</a:t>
            </a:r>
          </a:p>
        </p:txBody>
      </p:sp>
      <p:sp>
        <p:nvSpPr>
          <p:cNvPr id="19" name="!!co_track"/>
          <p:cNvSpPr/>
          <p:nvPr/>
        </p:nvSpPr>
        <p:spPr>
          <a:xfrm>
            <a:off x="8641080" y="1188720"/>
            <a:ext cx="2999232" cy="365760"/>
          </a:xfrm>
          <a:prstGeom prst="roundRect">
            <a:avLst>
              <a:gd name="adj" fmla="val 30000"/>
            </a:avLst>
          </a:prstGeom>
          <a:solidFill>
            <a:srgbClr val="E8E8ED"/>
          </a:solidFill>
          <a:ln>
            <a:noFill/>
          </a:ln>
          <a:effectLst/>
        </p:spPr>
        <p:txBody>
          <a:bodyPr rtlCol="0" anchor="ctr"/>
          <a:lstStyle/>
          <a:p>
            <a:pPr algn="ctr"/>
          </a:p>
        </p:txBody>
      </p:sp>
      <p:sp>
        <p:nvSpPr>
          <p:cNvPr id="20" name="!!co_active"/>
          <p:cNvSpPr/>
          <p:nvPr/>
        </p:nvSpPr>
        <p:spPr>
          <a:xfrm>
            <a:off x="10140695" y="1225296"/>
            <a:ext cx="1463040"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co_0">
            <a:hlinkClick action="ppaction://hlinksldjump" r:id="rId6"/>
          </p:cNvPr>
          <p:cNvSpPr/>
          <p:nvPr/>
        </p:nvSpPr>
        <p:spPr>
          <a:xfrm>
            <a:off x="8677655" y="1225296"/>
            <a:ext cx="14630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Transport on</a:t>
            </a:r>
          </a:p>
        </p:txBody>
      </p:sp>
      <p:sp>
        <p:nvSpPr>
          <p:cNvPr id="22" name="!!co_1"/>
          <p:cNvSpPr/>
          <p:nvPr/>
        </p:nvSpPr>
        <p:spPr>
          <a:xfrm>
            <a:off x="10140695" y="1225296"/>
            <a:ext cx="14630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Transport off</a:t>
            </a:r>
          </a:p>
        </p:txBody>
      </p:sp>
      <p:sp>
        <p:nvSpPr>
          <p:cNvPr id="23" name="!!co_buyer"/>
          <p:cNvSpPr/>
          <p:nvPr/>
        </p:nvSpPr>
        <p:spPr>
          <a:xfrm>
            <a:off x="548640" y="2560320"/>
            <a:ext cx="4892040"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Oval 23"/>
          <p:cNvSpPr/>
          <p:nvPr/>
        </p:nvSpPr>
        <p:spPr>
          <a:xfrm>
            <a:off x="749808" y="2743200"/>
            <a:ext cx="457200" cy="457200"/>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200" b="1" i="0">
                <a:solidFill>
                  <a:srgbClr val="2F7A4F"/>
                </a:solidFill>
                <a:latin typeface="Helvetica Neue"/>
              </a:rPr>
              <a:t>MT</a:t>
            </a:r>
          </a:p>
        </p:txBody>
      </p:sp>
      <p:sp>
        <p:nvSpPr>
          <p:cNvPr id="25" name="TextBox 24"/>
          <p:cNvSpPr txBox="1"/>
          <p:nvPr/>
        </p:nvSpPr>
        <p:spPr>
          <a:xfrm>
            <a:off x="1325880" y="2734056"/>
            <a:ext cx="3840480" cy="457200"/>
          </a:xfrm>
          <a:prstGeom prst="rect">
            <a:avLst/>
          </a:prstGeom>
          <a:noFill/>
        </p:spPr>
        <p:txBody>
          <a:bodyPr wrap="square" lIns="0" rIns="0" tIns="0" bIns="0" anchor="t">
            <a:noAutofit/>
          </a:bodyPr>
          <a:lstStyle/>
          <a:p>
            <a:pPr algn="l">
              <a:lnSpc>
                <a:spcPct val="100000"/>
              </a:lnSpc>
              <a:spcAft>
                <a:spcPts val="0"/>
              </a:spcAft>
            </a:pPr>
            <a:r>
              <a:rPr sz="1400" b="1" i="0">
                <a:solidFill>
                  <a:srgbClr val="1D1D1F"/>
                </a:solidFill>
                <a:latin typeface="Helvetica Neue"/>
              </a:rPr>
              <a:t>Marcus · buyer checkout</a:t>
            </a:r>
          </a:p>
          <a:p>
            <a:pPr algn="l">
              <a:lnSpc>
                <a:spcPct val="100000"/>
              </a:lnSpc>
              <a:spcAft>
                <a:spcPts val="0"/>
              </a:spcAft>
            </a:pPr>
            <a:r>
              <a:rPr sz="1050" b="0" i="0">
                <a:solidFill>
                  <a:srgbClr val="6E6E73"/>
                </a:solidFill>
                <a:latin typeface="Helvetica Neue"/>
              </a:rPr>
              <a:t>Synthetic Rebuilder 201</a:t>
            </a:r>
          </a:p>
        </p:txBody>
      </p:sp>
      <p:sp>
        <p:nvSpPr>
          <p:cNvPr id="26" name="TextBox 25"/>
          <p:cNvSpPr txBox="1"/>
          <p:nvPr/>
        </p:nvSpPr>
        <p:spPr>
          <a:xfrm>
            <a:off x="777240" y="3401568"/>
            <a:ext cx="3200400" cy="274320"/>
          </a:xfrm>
          <a:prstGeom prst="rect">
            <a:avLst/>
          </a:prstGeom>
          <a:noFill/>
        </p:spPr>
        <p:txBody>
          <a:bodyPr wrap="square" lIns="0" rIns="0" tIns="0" bIns="0" anchor="t">
            <a:noAutofit/>
          </a:bodyPr>
          <a:lstStyle/>
          <a:p>
            <a:pPr algn="l">
              <a:lnSpc>
                <a:spcPct val="112000"/>
              </a:lnSpc>
              <a:spcAft>
                <a:spcPts val="0"/>
              </a:spcAft>
            </a:pPr>
            <a:r>
              <a:rPr sz="1300" b="0" i="0">
                <a:solidFill>
                  <a:srgbClr val="6E6E73"/>
                </a:solidFill>
                <a:latin typeface="Helvetica Neue"/>
              </a:rPr>
              <a:t>Vehicle price</a:t>
            </a:r>
          </a:p>
        </p:txBody>
      </p:sp>
      <p:sp>
        <p:nvSpPr>
          <p:cNvPr id="27" name="TextBox 26"/>
          <p:cNvSpPr txBox="1"/>
          <p:nvPr/>
        </p:nvSpPr>
        <p:spPr>
          <a:xfrm>
            <a:off x="3840480" y="3401568"/>
            <a:ext cx="1371600" cy="274320"/>
          </a:xfrm>
          <a:prstGeom prst="rect">
            <a:avLst/>
          </a:prstGeom>
          <a:noFill/>
        </p:spPr>
        <p:txBody>
          <a:bodyPr wrap="square" lIns="0" rIns="0" tIns="0" bIns="0" anchor="t">
            <a:noAutofit/>
          </a:bodyPr>
          <a:lstStyle/>
          <a:p>
            <a:pPr algn="r">
              <a:lnSpc>
                <a:spcPct val="112000"/>
              </a:lnSpc>
              <a:spcAft>
                <a:spcPts val="0"/>
              </a:spcAft>
            </a:pPr>
            <a:r>
              <a:rPr sz="1300" b="1" i="0">
                <a:solidFill>
                  <a:srgbClr val="1D1D1F"/>
                </a:solidFill>
                <a:latin typeface="Helvetica Neue"/>
              </a:rPr>
              <a:t>$11,300</a:t>
            </a:r>
          </a:p>
        </p:txBody>
      </p:sp>
      <p:sp>
        <p:nvSpPr>
          <p:cNvPr id="28" name="TextBox 27"/>
          <p:cNvSpPr txBox="1"/>
          <p:nvPr/>
        </p:nvSpPr>
        <p:spPr>
          <a:xfrm>
            <a:off x="777240" y="3785616"/>
            <a:ext cx="3200400" cy="274320"/>
          </a:xfrm>
          <a:prstGeom prst="rect">
            <a:avLst/>
          </a:prstGeom>
          <a:noFill/>
        </p:spPr>
        <p:txBody>
          <a:bodyPr wrap="square" lIns="0" rIns="0" tIns="0" bIns="0" anchor="t">
            <a:noAutofit/>
          </a:bodyPr>
          <a:lstStyle/>
          <a:p>
            <a:pPr algn="l">
              <a:lnSpc>
                <a:spcPct val="112000"/>
              </a:lnSpc>
              <a:spcAft>
                <a:spcPts val="0"/>
              </a:spcAft>
            </a:pPr>
            <a:r>
              <a:rPr sz="1300" b="0" i="0">
                <a:solidFill>
                  <a:srgbClr val="6E6E73"/>
                </a:solidFill>
                <a:latin typeface="Helvetica Neue"/>
              </a:rPr>
              <a:t>Buyer fee</a:t>
            </a:r>
          </a:p>
        </p:txBody>
      </p:sp>
      <p:sp>
        <p:nvSpPr>
          <p:cNvPr id="29" name="TextBox 28"/>
          <p:cNvSpPr txBox="1"/>
          <p:nvPr/>
        </p:nvSpPr>
        <p:spPr>
          <a:xfrm>
            <a:off x="3840480" y="3785616"/>
            <a:ext cx="1371600" cy="274320"/>
          </a:xfrm>
          <a:prstGeom prst="rect">
            <a:avLst/>
          </a:prstGeom>
          <a:noFill/>
        </p:spPr>
        <p:txBody>
          <a:bodyPr wrap="square" lIns="0" rIns="0" tIns="0" bIns="0" anchor="t">
            <a:noAutofit/>
          </a:bodyPr>
          <a:lstStyle/>
          <a:p>
            <a:pPr algn="r">
              <a:lnSpc>
                <a:spcPct val="112000"/>
              </a:lnSpc>
              <a:spcAft>
                <a:spcPts val="0"/>
              </a:spcAft>
            </a:pPr>
            <a:r>
              <a:rPr sz="1300" b="1" i="0">
                <a:solidFill>
                  <a:srgbClr val="1D1D1F"/>
                </a:solidFill>
                <a:latin typeface="Helvetica Neue"/>
              </a:rPr>
              <a:t>$425</a:t>
            </a:r>
          </a:p>
        </p:txBody>
      </p:sp>
      <p:sp>
        <p:nvSpPr>
          <p:cNvPr id="30" name="!!co_tr_bg"/>
          <p:cNvSpPr/>
          <p:nvPr/>
        </p:nvSpPr>
        <p:spPr>
          <a:xfrm>
            <a:off x="749808" y="4224528"/>
            <a:ext cx="4480560" cy="868680"/>
          </a:xfrm>
          <a:prstGeom prst="roundRect">
            <a:avLst>
              <a:gd name="adj" fmla="val 14736"/>
            </a:avLst>
          </a:prstGeom>
          <a:solidFill>
            <a:srgbClr val="F5F5F7"/>
          </a:solidFill>
          <a:ln w="9525">
            <a:solidFill>
              <a:srgbClr val="E3E3E8"/>
            </a:solidFill>
          </a:ln>
          <a:effectLst/>
        </p:spPr>
        <p:txBody>
          <a:bodyPr rtlCol="0" anchor="ctr"/>
          <a:lstStyle/>
          <a:p>
            <a:pPr algn="ctr"/>
          </a:p>
        </p:txBody>
      </p:sp>
      <p:sp>
        <p:nvSpPr>
          <p:cNvPr id="31" name="!!sw_track"/>
          <p:cNvSpPr/>
          <p:nvPr/>
        </p:nvSpPr>
        <p:spPr>
          <a:xfrm>
            <a:off x="914400" y="4480560"/>
            <a:ext cx="658368" cy="365760"/>
          </a:xfrm>
          <a:prstGeom prst="roundRect">
            <a:avLst>
              <a:gd name="adj" fmla="val 50000"/>
            </a:avLst>
          </a:prstGeom>
          <a:solidFill>
            <a:srgbClr val="D1D1D6"/>
          </a:solidFill>
          <a:ln>
            <a:noFill/>
          </a:ln>
          <a:effectLst/>
        </p:spPr>
        <p:txBody>
          <a:bodyPr rtlCol="0" anchor="ctr"/>
          <a:lstStyle/>
          <a:p>
            <a:pPr algn="ctr"/>
          </a:p>
        </p:txBody>
      </p:sp>
      <p:sp>
        <p:nvSpPr>
          <p:cNvPr id="32" name="!!sw_knob"/>
          <p:cNvSpPr/>
          <p:nvPr/>
        </p:nvSpPr>
        <p:spPr>
          <a:xfrm>
            <a:off x="950976" y="4517136"/>
            <a:ext cx="292608" cy="292608"/>
          </a:xfrm>
          <a:prstGeom prst="ellipse">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3" name="!!co_tr_label"/>
          <p:cNvSpPr txBox="1"/>
          <p:nvPr/>
        </p:nvSpPr>
        <p:spPr>
          <a:xfrm>
            <a:off x="1737360" y="4315968"/>
            <a:ext cx="2468880" cy="685800"/>
          </a:xfrm>
          <a:prstGeom prst="rect">
            <a:avLst/>
          </a:prstGeom>
          <a:noFill/>
        </p:spPr>
        <p:txBody>
          <a:bodyPr wrap="square" lIns="0" rIns="0" tIns="0" bIns="0" anchor="t">
            <a:noAutofit/>
          </a:bodyPr>
          <a:lstStyle/>
          <a:p>
            <a:pPr algn="l">
              <a:lnSpc>
                <a:spcPct val="105000"/>
              </a:lnSpc>
              <a:spcAft>
                <a:spcPts val="0"/>
              </a:spcAft>
            </a:pPr>
            <a:r>
              <a:rPr sz="1350" b="1" i="0">
                <a:solidFill>
                  <a:srgbClr val="1D1D1F"/>
                </a:solidFill>
                <a:latin typeface="Helvetica Neue"/>
              </a:rPr>
              <a:t>ACV Transport</a:t>
            </a:r>
          </a:p>
          <a:p>
            <a:pPr algn="l">
              <a:lnSpc>
                <a:spcPct val="105000"/>
              </a:lnSpc>
              <a:spcAft>
                <a:spcPts val="0"/>
              </a:spcAft>
            </a:pPr>
            <a:r>
              <a:rPr sz="1050" b="0" i="0">
                <a:solidFill>
                  <a:srgbClr val="6E6E73"/>
                </a:solidFill>
                <a:latin typeface="Helvetica Neue"/>
              </a:rPr>
              <a:t>Not selected · buyer arranges pickup</a:t>
            </a:r>
          </a:p>
        </p:txBody>
      </p:sp>
      <p:sp>
        <p:nvSpPr>
          <p:cNvPr id="34" name="!!co_tr_amt"/>
          <p:cNvSpPr txBox="1"/>
          <p:nvPr/>
        </p:nvSpPr>
        <p:spPr>
          <a:xfrm>
            <a:off x="3840480" y="4480560"/>
            <a:ext cx="1371600" cy="320040"/>
          </a:xfrm>
          <a:prstGeom prst="rect">
            <a:avLst/>
          </a:prstGeom>
          <a:noFill/>
        </p:spPr>
        <p:txBody>
          <a:bodyPr wrap="square" lIns="0" rIns="0" tIns="0" bIns="0" anchor="t">
            <a:noAutofit/>
          </a:bodyPr>
          <a:lstStyle/>
          <a:p>
            <a:pPr algn="r">
              <a:lnSpc>
                <a:spcPct val="112000"/>
              </a:lnSpc>
              <a:spcAft>
                <a:spcPts val="0"/>
              </a:spcAft>
            </a:pPr>
            <a:r>
              <a:rPr sz="1400" b="1" i="0">
                <a:solidFill>
                  <a:srgbClr val="8E8E93"/>
                </a:solidFill>
                <a:latin typeface="Helvetica Neue"/>
              </a:rPr>
              <a:t>$0</a:t>
            </a:r>
          </a:p>
        </p:txBody>
      </p:sp>
      <p:sp>
        <p:nvSpPr>
          <p:cNvPr id="35" name="Rounded Rectangle 34"/>
          <p:cNvSpPr/>
          <p:nvPr/>
        </p:nvSpPr>
        <p:spPr>
          <a:xfrm>
            <a:off x="777240" y="5285232"/>
            <a:ext cx="4434840" cy="10972"/>
          </a:xfrm>
          <a:prstGeom prst="roundRect">
            <a:avLst>
              <a:gd name="adj" fmla="val 0"/>
            </a:avLst>
          </a:prstGeom>
          <a:solidFill>
            <a:srgbClr val="E3E3E8"/>
          </a:solidFill>
          <a:ln>
            <a:noFill/>
          </a:ln>
          <a:effectLst/>
        </p:spPr>
        <p:txBody>
          <a:bodyPr rtlCol="0" anchor="ctr"/>
          <a:lstStyle/>
          <a:p>
            <a:pPr algn="ctr"/>
          </a:p>
        </p:txBody>
      </p:sp>
      <p:sp>
        <p:nvSpPr>
          <p:cNvPr id="36" name="TextBox 35"/>
          <p:cNvSpPr txBox="1"/>
          <p:nvPr/>
        </p:nvSpPr>
        <p:spPr>
          <a:xfrm>
            <a:off x="777240" y="5413248"/>
            <a:ext cx="2286000" cy="274320"/>
          </a:xfrm>
          <a:prstGeom prst="rect">
            <a:avLst/>
          </a:prstGeom>
          <a:noFill/>
        </p:spPr>
        <p:txBody>
          <a:bodyPr wrap="square" lIns="0" rIns="0" tIns="0" bIns="0" anchor="t">
            <a:noAutofit/>
          </a:bodyPr>
          <a:lstStyle/>
          <a:p>
            <a:pPr algn="l">
              <a:lnSpc>
                <a:spcPct val="112000"/>
              </a:lnSpc>
              <a:spcAft>
                <a:spcPts val="0"/>
              </a:spcAft>
            </a:pPr>
            <a:r>
              <a:rPr sz="1300" b="0" i="0">
                <a:solidFill>
                  <a:srgbClr val="6E6E73"/>
                </a:solidFill>
                <a:latin typeface="Helvetica Neue"/>
              </a:rPr>
              <a:t>Total at checkout</a:t>
            </a:r>
          </a:p>
        </p:txBody>
      </p:sp>
      <p:sp>
        <p:nvSpPr>
          <p:cNvPr id="37" name="!!co_total"/>
          <p:cNvSpPr txBox="1"/>
          <p:nvPr/>
        </p:nvSpPr>
        <p:spPr>
          <a:xfrm>
            <a:off x="2651760" y="5321808"/>
            <a:ext cx="2560320" cy="502920"/>
          </a:xfrm>
          <a:prstGeom prst="rect">
            <a:avLst/>
          </a:prstGeom>
          <a:noFill/>
        </p:spPr>
        <p:txBody>
          <a:bodyPr wrap="square" lIns="0" rIns="0" tIns="0" bIns="0" anchor="t">
            <a:noAutofit/>
          </a:bodyPr>
          <a:lstStyle/>
          <a:p>
            <a:pPr algn="r">
              <a:lnSpc>
                <a:spcPct val="112000"/>
              </a:lnSpc>
              <a:spcAft>
                <a:spcPts val="0"/>
              </a:spcAft>
            </a:pPr>
            <a:r>
              <a:rPr sz="3000" b="1" i="0" spc="-60">
                <a:solidFill>
                  <a:srgbClr val="1D1D1F"/>
                </a:solidFill>
                <a:latin typeface="Helvetica Neue"/>
              </a:rPr>
              <a:t>$11,725</a:t>
            </a:r>
          </a:p>
        </p:txBody>
      </p:sp>
      <p:sp>
        <p:nvSpPr>
          <p:cNvPr id="38" name="!!co_note"/>
          <p:cNvSpPr txBox="1"/>
          <p:nvPr/>
        </p:nvSpPr>
        <p:spPr>
          <a:xfrm>
            <a:off x="777240" y="5870448"/>
            <a:ext cx="4434840" cy="365760"/>
          </a:xfrm>
          <a:prstGeom prst="rect">
            <a:avLst/>
          </a:prstGeom>
          <a:noFill/>
        </p:spPr>
        <p:txBody>
          <a:bodyPr wrap="square" lIns="0" rIns="0" tIns="0" bIns="0" anchor="t">
            <a:noAutofit/>
          </a:bodyPr>
          <a:lstStyle/>
          <a:p>
            <a:pPr algn="l">
              <a:lnSpc>
                <a:spcPct val="112000"/>
              </a:lnSpc>
              <a:spcAft>
                <a:spcPts val="0"/>
              </a:spcAft>
            </a:pPr>
            <a:r>
              <a:rPr sz="1050" b="0" i="0">
                <a:solidFill>
                  <a:srgbClr val="8A5A10"/>
                </a:solidFill>
                <a:latin typeface="Helvetica Neue"/>
              </a:rPr>
              <a:t>Pickup is on the buyer. This car doesn’t start, so bring a winch.</a:t>
            </a:r>
          </a:p>
        </p:txBody>
      </p:sp>
      <p:sp>
        <p:nvSpPr>
          <p:cNvPr id="39" name="!!co_seller"/>
          <p:cNvSpPr/>
          <p:nvPr/>
        </p:nvSpPr>
        <p:spPr>
          <a:xfrm>
            <a:off x="5623560" y="2560320"/>
            <a:ext cx="2834640" cy="3730752"/>
          </a:xfrm>
          <a:prstGeom prst="roundRect">
            <a:avLst>
              <a:gd name="adj" fmla="val 645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0" name="Oval 39"/>
          <p:cNvSpPr/>
          <p:nvPr/>
        </p:nvSpPr>
        <p:spPr>
          <a:xfrm>
            <a:off x="5824728" y="2743200"/>
            <a:ext cx="457200" cy="457200"/>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200" b="1" i="0">
                <a:solidFill>
                  <a:srgbClr val="2560D6"/>
                </a:solidFill>
                <a:latin typeface="Helvetica Neue"/>
              </a:rPr>
              <a:t>DR</a:t>
            </a:r>
          </a:p>
        </p:txBody>
      </p:sp>
      <p:sp>
        <p:nvSpPr>
          <p:cNvPr id="41" name="TextBox 40"/>
          <p:cNvSpPr txBox="1"/>
          <p:nvPr/>
        </p:nvSpPr>
        <p:spPr>
          <a:xfrm>
            <a:off x="6400800" y="2734056"/>
            <a:ext cx="1920240" cy="457200"/>
          </a:xfrm>
          <a:prstGeom prst="rect">
            <a:avLst/>
          </a:prstGeom>
          <a:noFill/>
        </p:spPr>
        <p:txBody>
          <a:bodyPr wrap="square" lIns="0" rIns="0" tIns="0" bIns="0" anchor="t">
            <a:noAutofit/>
          </a:bodyPr>
          <a:lstStyle/>
          <a:p>
            <a:pPr algn="l">
              <a:lnSpc>
                <a:spcPct val="100000"/>
              </a:lnSpc>
              <a:spcAft>
                <a:spcPts val="0"/>
              </a:spcAft>
            </a:pPr>
            <a:r>
              <a:rPr sz="1400" b="1" i="0">
                <a:solidFill>
                  <a:srgbClr val="1D1D1F"/>
                </a:solidFill>
                <a:latin typeface="Helvetica Neue"/>
              </a:rPr>
              <a:t>Dana · seller</a:t>
            </a:r>
          </a:p>
          <a:p>
            <a:pPr algn="l">
              <a:lnSpc>
                <a:spcPct val="100000"/>
              </a:lnSpc>
              <a:spcAft>
                <a:spcPts val="0"/>
              </a:spcAft>
            </a:pPr>
            <a:r>
              <a:rPr sz="1050" b="0" i="0">
                <a:solidFill>
                  <a:srgbClr val="6E6E73"/>
                </a:solidFill>
                <a:latin typeface="Helvetica Neue"/>
              </a:rPr>
              <a:t>Synthetic Dealer 1</a:t>
            </a:r>
          </a:p>
        </p:txBody>
      </p:sp>
      <p:sp>
        <p:nvSpPr>
          <p:cNvPr id="42" name="TextBox 41"/>
          <p:cNvSpPr txBox="1"/>
          <p:nvPr/>
        </p:nvSpPr>
        <p:spPr>
          <a:xfrm>
            <a:off x="5852160" y="3520440"/>
            <a:ext cx="2468880" cy="27432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Seller net</a:t>
            </a:r>
          </a:p>
        </p:txBody>
      </p:sp>
      <p:sp>
        <p:nvSpPr>
          <p:cNvPr id="43" name="!!co_seller_net"/>
          <p:cNvSpPr txBox="1"/>
          <p:nvPr/>
        </p:nvSpPr>
        <p:spPr>
          <a:xfrm>
            <a:off x="5852160" y="3767328"/>
            <a:ext cx="2468880" cy="548640"/>
          </a:xfrm>
          <a:prstGeom prst="rect">
            <a:avLst/>
          </a:prstGeom>
          <a:noFill/>
        </p:spPr>
        <p:txBody>
          <a:bodyPr wrap="square" lIns="0" rIns="0" tIns="0" bIns="0" anchor="t">
            <a:noAutofit/>
          </a:bodyPr>
          <a:lstStyle/>
          <a:p>
            <a:pPr algn="l">
              <a:lnSpc>
                <a:spcPct val="112000"/>
              </a:lnSpc>
              <a:spcAft>
                <a:spcPts val="0"/>
              </a:spcAft>
            </a:pPr>
            <a:r>
              <a:rPr sz="3400" b="1" i="0" spc="-60">
                <a:solidFill>
                  <a:srgbClr val="1D1D1F"/>
                </a:solidFill>
                <a:latin typeface="Helvetica Neue"/>
              </a:rPr>
              <a:t>$10,950</a:t>
            </a:r>
          </a:p>
        </p:txBody>
      </p:sp>
      <p:sp>
        <p:nvSpPr>
          <p:cNvPr id="44" name="TextBox 43"/>
          <p:cNvSpPr txBox="1"/>
          <p:nvPr/>
        </p:nvSpPr>
        <p:spPr>
          <a:xfrm>
            <a:off x="5852160" y="4389120"/>
            <a:ext cx="24688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6E6E73"/>
                </a:solidFill>
                <a:latin typeface="Helvetica Neue"/>
              </a:rPr>
              <a:t>price − $350 seller fee</a:t>
            </a:r>
          </a:p>
        </p:txBody>
      </p:sp>
      <p:sp>
        <p:nvSpPr>
          <p:cNvPr id="45" name="Rounded Rectangle 44"/>
          <p:cNvSpPr/>
          <p:nvPr/>
        </p:nvSpPr>
        <p:spPr>
          <a:xfrm>
            <a:off x="5852160" y="4846320"/>
            <a:ext cx="1568196" cy="310896"/>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100" b="1" i="0">
                <a:solidFill>
                  <a:srgbClr val="2F7A4F"/>
                </a:solidFill>
                <a:latin typeface="Helvetica Neue"/>
              </a:rPr>
              <a:t>Same either way</a:t>
            </a:r>
          </a:p>
        </p:txBody>
      </p:sp>
      <p:sp>
        <p:nvSpPr>
          <p:cNvPr id="46" name="TextBox 45"/>
          <p:cNvSpPr txBox="1"/>
          <p:nvPr/>
        </p:nvSpPr>
        <p:spPr>
          <a:xfrm>
            <a:off x="5852160" y="5349240"/>
            <a:ext cx="2468880" cy="822960"/>
          </a:xfrm>
          <a:prstGeom prst="rect">
            <a:avLst/>
          </a:prstGeom>
          <a:noFill/>
        </p:spPr>
        <p:txBody>
          <a:bodyPr wrap="square" lIns="0" rIns="0" tIns="0" bIns="0" anchor="t">
            <a:noAutofit/>
          </a:bodyPr>
          <a:lstStyle/>
          <a:p>
            <a:pPr algn="l">
              <a:lnSpc>
                <a:spcPct val="115000"/>
              </a:lnSpc>
              <a:spcAft>
                <a:spcPts val="0"/>
              </a:spcAft>
            </a:pPr>
            <a:r>
              <a:rPr sz="1100" b="0" i="0">
                <a:solidFill>
                  <a:srgbClr val="6E6E73"/>
                </a:solidFill>
                <a:latin typeface="Helvetica Neue"/>
              </a:rPr>
              <a:t>Transport never touches the seller’s money on ACV, so it’s an independent variable.</a:t>
            </a:r>
          </a:p>
        </p:txBody>
      </p:sp>
      <p:sp>
        <p:nvSpPr>
          <p:cNvPr id="47" name="!!co_acv"/>
          <p:cNvSpPr/>
          <p:nvPr/>
        </p:nvSpPr>
        <p:spPr>
          <a:xfrm>
            <a:off x="8641080" y="2560320"/>
            <a:ext cx="2999232" cy="3730752"/>
          </a:xfrm>
          <a:prstGeom prst="roundRect">
            <a:avLst>
              <a:gd name="adj" fmla="val 6097"/>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8" name="TextBox 47"/>
          <p:cNvSpPr txBox="1"/>
          <p:nvPr/>
        </p:nvSpPr>
        <p:spPr>
          <a:xfrm>
            <a:off x="8869680" y="2743200"/>
            <a:ext cx="2560320" cy="457200"/>
          </a:xfrm>
          <a:prstGeom prst="rect">
            <a:avLst/>
          </a:prstGeom>
          <a:noFill/>
        </p:spPr>
        <p:txBody>
          <a:bodyPr wrap="square" lIns="0" rIns="0" tIns="0" bIns="0" anchor="t">
            <a:noAutofit/>
          </a:bodyPr>
          <a:lstStyle/>
          <a:p>
            <a:pPr algn="l">
              <a:lnSpc>
                <a:spcPct val="100000"/>
              </a:lnSpc>
              <a:spcAft>
                <a:spcPts val="0"/>
              </a:spcAft>
            </a:pPr>
            <a:r>
              <a:rPr sz="1400" b="1" i="0">
                <a:solidFill>
                  <a:srgbClr val="1D1D1F"/>
                </a:solidFill>
                <a:latin typeface="Helvetica Neue"/>
              </a:rPr>
              <a:t>ACV · platform</a:t>
            </a:r>
          </a:p>
          <a:p>
            <a:pPr algn="l">
              <a:lnSpc>
                <a:spcPct val="100000"/>
              </a:lnSpc>
              <a:spcAft>
                <a:spcPts val="0"/>
              </a:spcAft>
            </a:pPr>
            <a:r>
              <a:rPr sz="1050" b="0" i="0">
                <a:solidFill>
                  <a:srgbClr val="6E6E73"/>
                </a:solidFill>
                <a:latin typeface="Helvetica Neue"/>
              </a:rPr>
              <a:t>what the choice is worth</a:t>
            </a:r>
          </a:p>
        </p:txBody>
      </p:sp>
      <p:sp>
        <p:nvSpPr>
          <p:cNvPr id="49" name="TextBox 48"/>
          <p:cNvSpPr txBox="1"/>
          <p:nvPr/>
        </p:nvSpPr>
        <p:spPr>
          <a:xfrm>
            <a:off x="8869680" y="3520440"/>
            <a:ext cx="2560320" cy="274320"/>
          </a:xfrm>
          <a:prstGeom prst="rect">
            <a:avLst/>
          </a:prstGeom>
          <a:noFill/>
        </p:spPr>
        <p:txBody>
          <a:bodyPr wrap="square" lIns="0" rIns="0" tIns="0" bIns="0" anchor="t">
            <a:noAutofit/>
          </a:bodyPr>
          <a:lstStyle/>
          <a:p>
            <a:pPr algn="l">
              <a:lnSpc>
                <a:spcPct val="112000"/>
              </a:lnSpc>
              <a:spcAft>
                <a:spcPts val="0"/>
              </a:spcAft>
            </a:pPr>
            <a:r>
              <a:rPr sz="1200" b="0" i="0">
                <a:solidFill>
                  <a:srgbClr val="6E6E73"/>
                </a:solidFill>
                <a:latin typeface="Helvetica Neue"/>
              </a:rPr>
              <a:t>Transport revenue</a:t>
            </a:r>
          </a:p>
        </p:txBody>
      </p:sp>
      <p:sp>
        <p:nvSpPr>
          <p:cNvPr id="50" name="!!co_rev"/>
          <p:cNvSpPr txBox="1"/>
          <p:nvPr/>
        </p:nvSpPr>
        <p:spPr>
          <a:xfrm>
            <a:off x="8869680" y="3767328"/>
            <a:ext cx="2560320" cy="548640"/>
          </a:xfrm>
          <a:prstGeom prst="rect">
            <a:avLst/>
          </a:prstGeom>
          <a:noFill/>
        </p:spPr>
        <p:txBody>
          <a:bodyPr wrap="square" lIns="0" rIns="0" tIns="0" bIns="0" anchor="t">
            <a:noAutofit/>
          </a:bodyPr>
          <a:lstStyle/>
          <a:p>
            <a:pPr algn="l">
              <a:lnSpc>
                <a:spcPct val="112000"/>
              </a:lnSpc>
              <a:spcAft>
                <a:spcPts val="0"/>
              </a:spcAft>
            </a:pPr>
            <a:r>
              <a:rPr sz="3400" b="1" i="0" spc="-60">
                <a:solidFill>
                  <a:srgbClr val="8E8E93"/>
                </a:solidFill>
                <a:latin typeface="Helvetica Neue"/>
              </a:rPr>
              <a:t>$0</a:t>
            </a:r>
          </a:p>
        </p:txBody>
      </p:sp>
      <p:sp>
        <p:nvSpPr>
          <p:cNvPr id="51" name="!!co_items"/>
          <p:cNvSpPr txBox="1"/>
          <p:nvPr/>
        </p:nvSpPr>
        <p:spPr>
          <a:xfrm>
            <a:off x="8869680" y="4434840"/>
            <a:ext cx="2651760" cy="1097280"/>
          </a:xfrm>
          <a:prstGeom prst="rect">
            <a:avLst/>
          </a:prstGeom>
          <a:noFill/>
        </p:spPr>
        <p:txBody>
          <a:bodyPr wrap="square" lIns="0" rIns="0" tIns="0" bIns="0" anchor="t">
            <a:noAutofit/>
          </a:bodyPr>
          <a:lstStyle/>
          <a:p>
            <a:pPr algn="l">
              <a:lnSpc>
                <a:spcPct val="115000"/>
              </a:lnSpc>
              <a:spcAft>
                <a:spcPts val="300"/>
              </a:spcAft>
            </a:pPr>
            <a:r>
              <a:rPr sz="1150" b="1" i="0">
                <a:solidFill>
                  <a:srgbClr val="FF9F0A"/>
                </a:solidFill>
                <a:latin typeface="Helvetica Neue"/>
              </a:rPr>
              <a:t>●  </a:t>
            </a:r>
            <a:r>
              <a:rPr sz="1150" b="0" i="0">
                <a:solidFill>
                  <a:srgbClr val="1D1D1F"/>
                </a:solidFill>
                <a:latin typeface="Helvetica Neue"/>
              </a:rPr>
              <a:t>Buyer self-arranges pickup</a:t>
            </a:r>
          </a:p>
          <a:p>
            <a:pPr algn="l">
              <a:lnSpc>
                <a:spcPct val="115000"/>
              </a:lnSpc>
              <a:spcAft>
                <a:spcPts val="300"/>
              </a:spcAft>
            </a:pPr>
            <a:r>
              <a:rPr sz="1150" b="1" i="0">
                <a:solidFill>
                  <a:srgbClr val="FF9F0A"/>
                </a:solidFill>
                <a:latin typeface="Helvetica Neue"/>
              </a:rPr>
              <a:t>●  </a:t>
            </a:r>
            <a:r>
              <a:rPr sz="1150" b="0" i="0">
                <a:solidFill>
                  <a:srgbClr val="1D1D1F"/>
                </a:solidFill>
                <a:latin typeface="Helvetica Neue"/>
              </a:rPr>
              <a:t>Dry-run risk: needs a winch</a:t>
            </a:r>
          </a:p>
          <a:p>
            <a:pPr algn="l">
              <a:lnSpc>
                <a:spcPct val="115000"/>
              </a:lnSpc>
              <a:spcAft>
                <a:spcPts val="300"/>
              </a:spcAft>
            </a:pPr>
            <a:r>
              <a:rPr sz="1150" b="1" i="0">
                <a:solidFill>
                  <a:srgbClr val="FF9F0A"/>
                </a:solidFill>
                <a:latin typeface="Helvetica Neue"/>
              </a:rPr>
              <a:t>●  </a:t>
            </a:r>
            <a:r>
              <a:rPr sz="1150" b="0" i="0">
                <a:solidFill>
                  <a:srgbClr val="1D1D1F"/>
                </a:solidFill>
                <a:latin typeface="Helvetica Neue"/>
              </a:rPr>
              <a:t>No delivery visibility</a:t>
            </a:r>
          </a:p>
        </p:txBody>
      </p:sp>
      <p:sp>
        <p:nvSpPr>
          <p:cNvPr id="52" name="Rounded Rectangle 51">
            <a:hlinkClick action="ppaction://hlinksldjump" r:id="rId7"/>
          </p:cNvPr>
          <p:cNvSpPr/>
          <p:nvPr/>
        </p:nvSpPr>
        <p:spPr>
          <a:xfrm>
            <a:off x="8869680" y="5760720"/>
            <a:ext cx="2514600"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Attach rate = money → ROI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6534759"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7</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Making money · illustrative model</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What it’s worth, per 10,000 vehicles.</a:t>
            </a:r>
          </a:p>
        </p:txBody>
      </p:sp>
      <p:sp>
        <p:nvSpPr>
          <p:cNvPr id="18" name="!!sub"/>
          <p:cNvSpPr txBox="1"/>
          <p:nvPr/>
        </p:nvSpPr>
        <p:spPr>
          <a:xfrm>
            <a:off x="548640" y="1810512"/>
            <a:ext cx="713232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Five levers, each tied to a feature you just saw. Inputs are placeholders to swap for real ACV + Copart data; the structure is the point.</a:t>
            </a:r>
          </a:p>
        </p:txBody>
      </p:sp>
      <p:sp>
        <p:nvSpPr>
          <p:cNvPr id="19" name="!!sc_track"/>
          <p:cNvSpPr/>
          <p:nvPr/>
        </p:nvSpPr>
        <p:spPr>
          <a:xfrm>
            <a:off x="7882127" y="1188720"/>
            <a:ext cx="3803904" cy="365760"/>
          </a:xfrm>
          <a:prstGeom prst="roundRect">
            <a:avLst>
              <a:gd name="adj" fmla="val 30000"/>
            </a:avLst>
          </a:prstGeom>
          <a:solidFill>
            <a:srgbClr val="E8E8ED"/>
          </a:solidFill>
          <a:ln>
            <a:noFill/>
          </a:ln>
          <a:effectLst/>
        </p:spPr>
        <p:txBody>
          <a:bodyPr rtlCol="0" anchor="ctr"/>
          <a:lstStyle/>
          <a:p>
            <a:pPr algn="ctr"/>
          </a:p>
        </p:txBody>
      </p:sp>
      <p:sp>
        <p:nvSpPr>
          <p:cNvPr id="20" name="!!sc_active"/>
          <p:cNvSpPr/>
          <p:nvPr/>
        </p:nvSpPr>
        <p:spPr>
          <a:xfrm>
            <a:off x="9162287" y="1225296"/>
            <a:ext cx="1243584"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sc_0">
            <a:hlinkClick action="ppaction://hlinksldjump" r:id="rId11"/>
          </p:cNvPr>
          <p:cNvSpPr/>
          <p:nvPr/>
        </p:nvSpPr>
        <p:spPr>
          <a:xfrm>
            <a:off x="7918703"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Conservative</a:t>
            </a:r>
          </a:p>
        </p:txBody>
      </p:sp>
      <p:sp>
        <p:nvSpPr>
          <p:cNvPr id="22" name="!!sc_1"/>
          <p:cNvSpPr/>
          <p:nvPr/>
        </p:nvSpPr>
        <p:spPr>
          <a:xfrm>
            <a:off x="9162287"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Base</a:t>
            </a:r>
          </a:p>
        </p:txBody>
      </p:sp>
      <p:sp>
        <p:nvSpPr>
          <p:cNvPr id="23" name="!!sc_2">
            <a:hlinkClick action="ppaction://hlinksldjump" r:id="rId12"/>
          </p:cNvPr>
          <p:cNvSpPr/>
          <p:nvPr/>
        </p:nvSpPr>
        <p:spPr>
          <a:xfrm>
            <a:off x="10405872"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Aggressive</a:t>
            </a:r>
          </a:p>
        </p:txBody>
      </p:sp>
      <p:sp>
        <p:nvSpPr>
          <p:cNvPr id="24" name="!!roi_chart"/>
          <p:cNvSpPr/>
          <p:nvPr/>
        </p:nvSpPr>
        <p:spPr>
          <a:xfrm>
            <a:off x="548640" y="2560320"/>
            <a:ext cx="7086600"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777240" y="274320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Transport attach ↑</a:t>
            </a:r>
          </a:p>
          <a:p>
            <a:pPr algn="l">
              <a:lnSpc>
                <a:spcPct val="100000"/>
              </a:lnSpc>
              <a:spcAft>
                <a:spcPts val="0"/>
              </a:spcAft>
            </a:pPr>
            <a:r>
              <a:rPr sz="950" b="0" i="0">
                <a:solidFill>
                  <a:srgbClr val="6E6E73"/>
                </a:solidFill>
                <a:latin typeface="Helvetica Neue"/>
              </a:rPr>
              <a:t>Checkout + LoadLink</a:t>
            </a:r>
          </a:p>
        </p:txBody>
      </p:sp>
      <p:sp>
        <p:nvSpPr>
          <p:cNvPr id="26" name="!!bar_bg_0"/>
          <p:cNvSpPr/>
          <p:nvPr/>
        </p:nvSpPr>
        <p:spPr>
          <a:xfrm>
            <a:off x="2926080" y="2834640"/>
            <a:ext cx="3520440" cy="274320"/>
          </a:xfrm>
          <a:prstGeom prst="roundRect">
            <a:avLst>
              <a:gd name="adj" fmla="val 50000"/>
            </a:avLst>
          </a:prstGeom>
          <a:solidFill>
            <a:srgbClr val="F5F5F7"/>
          </a:solidFill>
          <a:ln>
            <a:noFill/>
          </a:ln>
          <a:effectLst/>
        </p:spPr>
        <p:txBody>
          <a:bodyPr rtlCol="0" anchor="ctr"/>
          <a:lstStyle/>
          <a:p>
            <a:pPr algn="ctr"/>
          </a:p>
        </p:txBody>
      </p:sp>
      <p:sp>
        <p:nvSpPr>
          <p:cNvPr id="27" name="!!bar_0"/>
          <p:cNvSpPr/>
          <p:nvPr/>
        </p:nvSpPr>
        <p:spPr>
          <a:xfrm>
            <a:off x="2926080" y="2834640"/>
            <a:ext cx="647139" cy="274320"/>
          </a:xfrm>
          <a:prstGeom prst="roundRect">
            <a:avLst>
              <a:gd name="adj" fmla="val 50000"/>
            </a:avLst>
          </a:prstGeom>
          <a:solidFill>
            <a:srgbClr val="2F6BE6"/>
          </a:solidFill>
          <a:ln>
            <a:noFill/>
          </a:ln>
          <a:effectLst/>
        </p:spPr>
        <p:txBody>
          <a:bodyPr rtlCol="0" anchor="ctr"/>
          <a:lstStyle/>
          <a:p>
            <a:pPr algn="ctr"/>
          </a:p>
        </p:txBody>
      </p:sp>
      <p:sp>
        <p:nvSpPr>
          <p:cNvPr id="28" name="!!bar_val_0"/>
          <p:cNvSpPr txBox="1"/>
          <p:nvPr/>
        </p:nvSpPr>
        <p:spPr>
          <a:xfrm>
            <a:off x="6510528" y="281635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$30K</a:t>
            </a:r>
          </a:p>
        </p:txBody>
      </p:sp>
      <p:sp>
        <p:nvSpPr>
          <p:cNvPr id="29" name="TextBox 28"/>
          <p:cNvSpPr txBox="1"/>
          <p:nvPr/>
        </p:nvSpPr>
        <p:spPr>
          <a:xfrm>
            <a:off x="777240" y="329184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Pooled routing</a:t>
            </a:r>
          </a:p>
          <a:p>
            <a:pPr algn="l">
              <a:lnSpc>
                <a:spcPct val="100000"/>
              </a:lnSpc>
              <a:spcAft>
                <a:spcPts val="0"/>
              </a:spcAft>
            </a:pPr>
            <a:r>
              <a:rPr sz="950" b="0" i="0">
                <a:solidFill>
                  <a:srgbClr val="6E6E73"/>
                </a:solidFill>
                <a:latin typeface="Helvetica Neue"/>
              </a:rPr>
              <a:t>LoadLink</a:t>
            </a:r>
          </a:p>
        </p:txBody>
      </p:sp>
      <p:sp>
        <p:nvSpPr>
          <p:cNvPr id="30" name="!!bar_bg_1"/>
          <p:cNvSpPr/>
          <p:nvPr/>
        </p:nvSpPr>
        <p:spPr>
          <a:xfrm>
            <a:off x="2926080" y="3383280"/>
            <a:ext cx="3520440" cy="274320"/>
          </a:xfrm>
          <a:prstGeom prst="roundRect">
            <a:avLst>
              <a:gd name="adj" fmla="val 50000"/>
            </a:avLst>
          </a:prstGeom>
          <a:solidFill>
            <a:srgbClr val="F5F5F7"/>
          </a:solidFill>
          <a:ln>
            <a:noFill/>
          </a:ln>
          <a:effectLst/>
        </p:spPr>
        <p:txBody>
          <a:bodyPr rtlCol="0" anchor="ctr"/>
          <a:lstStyle/>
          <a:p>
            <a:pPr algn="ctr"/>
          </a:p>
        </p:txBody>
      </p:sp>
      <p:sp>
        <p:nvSpPr>
          <p:cNvPr id="31" name="!!bar_1"/>
          <p:cNvSpPr/>
          <p:nvPr/>
        </p:nvSpPr>
        <p:spPr>
          <a:xfrm>
            <a:off x="2926080" y="3383280"/>
            <a:ext cx="1980247" cy="274320"/>
          </a:xfrm>
          <a:prstGeom prst="roundRect">
            <a:avLst>
              <a:gd name="adj" fmla="val 50000"/>
            </a:avLst>
          </a:prstGeom>
          <a:solidFill>
            <a:srgbClr val="5E9BFF"/>
          </a:solidFill>
          <a:ln>
            <a:noFill/>
          </a:ln>
          <a:effectLst/>
        </p:spPr>
        <p:txBody>
          <a:bodyPr rtlCol="0" anchor="ctr"/>
          <a:lstStyle/>
          <a:p>
            <a:pPr algn="ctr"/>
          </a:p>
        </p:txBody>
      </p:sp>
      <p:sp>
        <p:nvSpPr>
          <p:cNvPr id="32" name="!!bar_val_1"/>
          <p:cNvSpPr txBox="1"/>
          <p:nvPr/>
        </p:nvSpPr>
        <p:spPr>
          <a:xfrm>
            <a:off x="6510528" y="336499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$92K</a:t>
            </a:r>
          </a:p>
        </p:txBody>
      </p:sp>
      <p:sp>
        <p:nvSpPr>
          <p:cNvPr id="33" name="TextBox 32"/>
          <p:cNvSpPr txBox="1"/>
          <p:nvPr/>
        </p:nvSpPr>
        <p:spPr>
          <a:xfrm>
            <a:off x="777240" y="384048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Dry runs avoided</a:t>
            </a:r>
          </a:p>
          <a:p>
            <a:pPr algn="l">
              <a:lnSpc>
                <a:spcPct val="100000"/>
              </a:lnSpc>
              <a:spcAft>
                <a:spcPts val="0"/>
              </a:spcAft>
            </a:pPr>
            <a:r>
              <a:rPr sz="950" b="0" i="0">
                <a:solidFill>
                  <a:srgbClr val="6E6E73"/>
                </a:solidFill>
                <a:latin typeface="Helvetica Neue"/>
              </a:rPr>
              <a:t>LoadLink + SecondLook</a:t>
            </a:r>
          </a:p>
        </p:txBody>
      </p:sp>
      <p:sp>
        <p:nvSpPr>
          <p:cNvPr id="34" name="!!bar_bg_2"/>
          <p:cNvSpPr/>
          <p:nvPr/>
        </p:nvSpPr>
        <p:spPr>
          <a:xfrm>
            <a:off x="2926080" y="3931920"/>
            <a:ext cx="3520440" cy="274320"/>
          </a:xfrm>
          <a:prstGeom prst="roundRect">
            <a:avLst>
              <a:gd name="adj" fmla="val 50000"/>
            </a:avLst>
          </a:prstGeom>
          <a:solidFill>
            <a:srgbClr val="F5F5F7"/>
          </a:solidFill>
          <a:ln>
            <a:noFill/>
          </a:ln>
          <a:effectLst/>
        </p:spPr>
        <p:txBody>
          <a:bodyPr rtlCol="0" anchor="ctr"/>
          <a:lstStyle/>
          <a:p>
            <a:pPr algn="ctr"/>
          </a:p>
        </p:txBody>
      </p:sp>
      <p:sp>
        <p:nvSpPr>
          <p:cNvPr id="35" name="!!bar_2"/>
          <p:cNvSpPr/>
          <p:nvPr/>
        </p:nvSpPr>
        <p:spPr>
          <a:xfrm>
            <a:off x="2926080" y="3931920"/>
            <a:ext cx="262091" cy="274320"/>
          </a:xfrm>
          <a:prstGeom prst="roundRect">
            <a:avLst>
              <a:gd name="adj" fmla="val 50000"/>
            </a:avLst>
          </a:prstGeom>
          <a:solidFill>
            <a:srgbClr val="FF9F0A"/>
          </a:solidFill>
          <a:ln>
            <a:noFill/>
          </a:ln>
          <a:effectLst/>
        </p:spPr>
        <p:txBody>
          <a:bodyPr rtlCol="0" anchor="ctr"/>
          <a:lstStyle/>
          <a:p>
            <a:pPr algn="ctr"/>
          </a:p>
        </p:txBody>
      </p:sp>
      <p:sp>
        <p:nvSpPr>
          <p:cNvPr id="36" name="!!bar_val_2"/>
          <p:cNvSpPr txBox="1"/>
          <p:nvPr/>
        </p:nvSpPr>
        <p:spPr>
          <a:xfrm>
            <a:off x="6510528" y="391363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$12K</a:t>
            </a:r>
          </a:p>
        </p:txBody>
      </p:sp>
      <p:sp>
        <p:nvSpPr>
          <p:cNvPr id="37" name="TextBox 36"/>
          <p:cNvSpPr txBox="1"/>
          <p:nvPr/>
        </p:nvSpPr>
        <p:spPr>
          <a:xfrm>
            <a:off x="777240" y="438912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Arbitrations avoided</a:t>
            </a:r>
          </a:p>
          <a:p>
            <a:pPr algn="l">
              <a:lnSpc>
                <a:spcPct val="100000"/>
              </a:lnSpc>
              <a:spcAft>
                <a:spcPts val="0"/>
              </a:spcAft>
            </a:pPr>
            <a:r>
              <a:rPr sz="950" b="0" i="0">
                <a:solidFill>
                  <a:srgbClr val="6E6E73"/>
                </a:solidFill>
                <a:latin typeface="Helvetica Neue"/>
              </a:rPr>
              <a:t>SecondLook</a:t>
            </a:r>
          </a:p>
        </p:txBody>
      </p:sp>
      <p:sp>
        <p:nvSpPr>
          <p:cNvPr id="38" name="!!bar_bg_3"/>
          <p:cNvSpPr/>
          <p:nvPr/>
        </p:nvSpPr>
        <p:spPr>
          <a:xfrm>
            <a:off x="2926080" y="4480559"/>
            <a:ext cx="3520440" cy="274320"/>
          </a:xfrm>
          <a:prstGeom prst="roundRect">
            <a:avLst>
              <a:gd name="adj" fmla="val 50000"/>
            </a:avLst>
          </a:prstGeom>
          <a:solidFill>
            <a:srgbClr val="F5F5F7"/>
          </a:solidFill>
          <a:ln>
            <a:noFill/>
          </a:ln>
          <a:effectLst/>
        </p:spPr>
        <p:txBody>
          <a:bodyPr rtlCol="0" anchor="ctr"/>
          <a:lstStyle/>
          <a:p>
            <a:pPr algn="ctr"/>
          </a:p>
        </p:txBody>
      </p:sp>
      <p:sp>
        <p:nvSpPr>
          <p:cNvPr id="39" name="!!bar_3"/>
          <p:cNvSpPr/>
          <p:nvPr/>
        </p:nvSpPr>
        <p:spPr>
          <a:xfrm>
            <a:off x="2926080" y="4480559"/>
            <a:ext cx="690282" cy="274320"/>
          </a:xfrm>
          <a:prstGeom prst="roundRect">
            <a:avLst>
              <a:gd name="adj" fmla="val 50000"/>
            </a:avLst>
          </a:prstGeom>
          <a:solidFill>
            <a:srgbClr val="9B7BEA"/>
          </a:solidFill>
          <a:ln>
            <a:noFill/>
          </a:ln>
          <a:effectLst/>
        </p:spPr>
        <p:txBody>
          <a:bodyPr rtlCol="0" anchor="ctr"/>
          <a:lstStyle/>
          <a:p>
            <a:pPr algn="ctr"/>
          </a:p>
        </p:txBody>
      </p:sp>
      <p:sp>
        <p:nvSpPr>
          <p:cNvPr id="40" name="!!bar_val_3"/>
          <p:cNvSpPr txBox="1"/>
          <p:nvPr/>
        </p:nvSpPr>
        <p:spPr>
          <a:xfrm>
            <a:off x="6510528" y="446227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$32K</a:t>
            </a:r>
          </a:p>
        </p:txBody>
      </p:sp>
      <p:sp>
        <p:nvSpPr>
          <p:cNvPr id="41" name="TextBox 40"/>
          <p:cNvSpPr txBox="1"/>
          <p:nvPr/>
        </p:nvSpPr>
        <p:spPr>
          <a:xfrm>
            <a:off x="777240" y="493776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Sellers retained</a:t>
            </a:r>
          </a:p>
          <a:p>
            <a:pPr algn="l">
              <a:lnSpc>
                <a:spcPct val="100000"/>
              </a:lnSpc>
              <a:spcAft>
                <a:spcPts val="0"/>
              </a:spcAft>
            </a:pPr>
            <a:r>
              <a:rPr sz="950" b="0" i="0">
                <a:solidFill>
                  <a:srgbClr val="6E6E73"/>
                </a:solidFill>
                <a:latin typeface="Helvetica Neue"/>
              </a:rPr>
              <a:t>BestExit</a:t>
            </a:r>
          </a:p>
        </p:txBody>
      </p:sp>
      <p:sp>
        <p:nvSpPr>
          <p:cNvPr id="42" name="!!bar_bg_4"/>
          <p:cNvSpPr/>
          <p:nvPr/>
        </p:nvSpPr>
        <p:spPr>
          <a:xfrm>
            <a:off x="2926080" y="5029200"/>
            <a:ext cx="3520440" cy="274320"/>
          </a:xfrm>
          <a:prstGeom prst="roundRect">
            <a:avLst>
              <a:gd name="adj" fmla="val 50000"/>
            </a:avLst>
          </a:prstGeom>
          <a:solidFill>
            <a:srgbClr val="F5F5F7"/>
          </a:solidFill>
          <a:ln>
            <a:noFill/>
          </a:ln>
          <a:effectLst/>
        </p:spPr>
        <p:txBody>
          <a:bodyPr rtlCol="0" anchor="ctr"/>
          <a:lstStyle/>
          <a:p>
            <a:pPr algn="ctr"/>
          </a:p>
        </p:txBody>
      </p:sp>
      <p:sp>
        <p:nvSpPr>
          <p:cNvPr id="43" name="!!bar_4"/>
          <p:cNvSpPr/>
          <p:nvPr/>
        </p:nvSpPr>
        <p:spPr>
          <a:xfrm>
            <a:off x="2926080" y="5029200"/>
            <a:ext cx="1671777" cy="274320"/>
          </a:xfrm>
          <a:prstGeom prst="roundRect">
            <a:avLst>
              <a:gd name="adj" fmla="val 50000"/>
            </a:avLst>
          </a:prstGeom>
          <a:solidFill>
            <a:srgbClr val="34C759"/>
          </a:solidFill>
          <a:ln>
            <a:noFill/>
          </a:ln>
          <a:effectLst/>
        </p:spPr>
        <p:txBody>
          <a:bodyPr rtlCol="0" anchor="ctr"/>
          <a:lstStyle/>
          <a:p>
            <a:pPr algn="ctr"/>
          </a:p>
        </p:txBody>
      </p:sp>
      <p:sp>
        <p:nvSpPr>
          <p:cNvPr id="44" name="!!bar_val_4"/>
          <p:cNvSpPr txBox="1"/>
          <p:nvPr/>
        </p:nvSpPr>
        <p:spPr>
          <a:xfrm>
            <a:off x="6510528" y="501091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$78K</a:t>
            </a:r>
          </a:p>
        </p:txBody>
      </p:sp>
      <p:sp>
        <p:nvSpPr>
          <p:cNvPr id="45" name="Rounded Rectangle 44"/>
          <p:cNvSpPr/>
          <p:nvPr/>
        </p:nvSpPr>
        <p:spPr>
          <a:xfrm>
            <a:off x="777240" y="5532120"/>
            <a:ext cx="6629400" cy="10972"/>
          </a:xfrm>
          <a:prstGeom prst="roundRect">
            <a:avLst>
              <a:gd name="adj" fmla="val 0"/>
            </a:avLst>
          </a:prstGeom>
          <a:solidFill>
            <a:srgbClr val="E3E3E8"/>
          </a:solidFill>
          <a:ln>
            <a:noFill/>
          </a:ln>
          <a:effectLst/>
        </p:spPr>
        <p:txBody>
          <a:bodyPr rtlCol="0" anchor="ctr"/>
          <a:lstStyle/>
          <a:p>
            <a:pPr algn="ctr"/>
          </a:p>
        </p:txBody>
      </p:sp>
      <p:sp>
        <p:nvSpPr>
          <p:cNvPr id="46" name="!!roi_total"/>
          <p:cNvSpPr txBox="1"/>
          <p:nvPr/>
        </p:nvSpPr>
        <p:spPr>
          <a:xfrm>
            <a:off x="777240" y="5623560"/>
            <a:ext cx="2377440" cy="566928"/>
          </a:xfrm>
          <a:prstGeom prst="rect">
            <a:avLst/>
          </a:prstGeom>
          <a:noFill/>
        </p:spPr>
        <p:txBody>
          <a:bodyPr wrap="square" lIns="0" rIns="0" tIns="0" bIns="0" anchor="t">
            <a:noAutofit/>
          </a:bodyPr>
          <a:lstStyle/>
          <a:p>
            <a:pPr algn="l">
              <a:lnSpc>
                <a:spcPct val="100000"/>
              </a:lnSpc>
              <a:spcAft>
                <a:spcPts val="0"/>
              </a:spcAft>
            </a:pPr>
            <a:r>
              <a:rPr sz="1100" b="0" i="0">
                <a:solidFill>
                  <a:srgbClr val="6E6E73"/>
                </a:solidFill>
                <a:latin typeface="Helvetica Neue"/>
              </a:rPr>
              <a:t>Total value / year</a:t>
            </a:r>
          </a:p>
          <a:p>
            <a:pPr algn="l">
              <a:lnSpc>
                <a:spcPct val="100000"/>
              </a:lnSpc>
              <a:spcAft>
                <a:spcPts val="0"/>
              </a:spcAft>
            </a:pPr>
            <a:r>
              <a:rPr sz="2600" b="1" i="0" spc="-50">
                <a:solidFill>
                  <a:srgbClr val="1D1D1F"/>
                </a:solidFill>
                <a:latin typeface="Helvetica Neue"/>
              </a:rPr>
              <a:t>≈ $243K</a:t>
            </a:r>
          </a:p>
        </p:txBody>
      </p:sp>
      <p:sp>
        <p:nvSpPr>
          <p:cNvPr id="47" name="!!roi_per"/>
          <p:cNvSpPr txBox="1"/>
          <p:nvPr/>
        </p:nvSpPr>
        <p:spPr>
          <a:xfrm>
            <a:off x="3154680" y="5623560"/>
            <a:ext cx="2011680" cy="566928"/>
          </a:xfrm>
          <a:prstGeom prst="rect">
            <a:avLst/>
          </a:prstGeom>
          <a:noFill/>
        </p:spPr>
        <p:txBody>
          <a:bodyPr wrap="square" lIns="0" rIns="0" tIns="0" bIns="0" anchor="t">
            <a:noAutofit/>
          </a:bodyPr>
          <a:lstStyle/>
          <a:p>
            <a:pPr algn="l">
              <a:lnSpc>
                <a:spcPct val="100000"/>
              </a:lnSpc>
              <a:spcAft>
                <a:spcPts val="0"/>
              </a:spcAft>
            </a:pPr>
            <a:r>
              <a:rPr sz="1100" b="0" i="0">
                <a:solidFill>
                  <a:srgbClr val="6E6E73"/>
                </a:solidFill>
                <a:latin typeface="Helvetica Neue"/>
              </a:rPr>
              <a:t>Per vehicle</a:t>
            </a:r>
          </a:p>
          <a:p>
            <a:pPr algn="l">
              <a:lnSpc>
                <a:spcPct val="100000"/>
              </a:lnSpc>
              <a:spcAft>
                <a:spcPts val="0"/>
              </a:spcAft>
            </a:pPr>
            <a:r>
              <a:rPr sz="2600" b="1" i="0" spc="-50">
                <a:solidFill>
                  <a:srgbClr val="1D1D1F"/>
                </a:solidFill>
                <a:latin typeface="Helvetica Neue"/>
              </a:rPr>
              <a:t>≈ $24</a:t>
            </a:r>
          </a:p>
        </p:txBody>
      </p:sp>
      <p:sp>
        <p:nvSpPr>
          <p:cNvPr id="48" name="!!roi_insight"/>
          <p:cNvSpPr/>
          <p:nvPr/>
        </p:nvSpPr>
        <p:spPr>
          <a:xfrm>
            <a:off x="5257800" y="5806440"/>
            <a:ext cx="2148840" cy="310896"/>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50% of it is transport</a:t>
            </a:r>
          </a:p>
        </p:txBody>
      </p:sp>
      <p:sp>
        <p:nvSpPr>
          <p:cNvPr id="49" name="!!roi_assume"/>
          <p:cNvSpPr/>
          <p:nvPr/>
        </p:nvSpPr>
        <p:spPr>
          <a:xfrm>
            <a:off x="7882127" y="2560320"/>
            <a:ext cx="3758184"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50" name="!!roi_ass_title"/>
          <p:cNvSpPr txBox="1"/>
          <p:nvPr/>
        </p:nvSpPr>
        <p:spPr>
          <a:xfrm>
            <a:off x="8110727" y="2724912"/>
            <a:ext cx="3291840" cy="274320"/>
          </a:xfrm>
          <a:prstGeom prst="rect">
            <a:avLst/>
          </a:prstGeom>
          <a:noFill/>
        </p:spPr>
        <p:txBody>
          <a:bodyPr wrap="square" lIns="0" rIns="0" tIns="0" bIns="0" anchor="t">
            <a:noAutofit/>
          </a:bodyPr>
          <a:lstStyle/>
          <a:p>
            <a:pPr algn="l">
              <a:lnSpc>
                <a:spcPct val="112000"/>
              </a:lnSpc>
              <a:spcAft>
                <a:spcPts val="0"/>
              </a:spcAft>
            </a:pPr>
            <a:r>
              <a:rPr sz="1350" b="1" i="0">
                <a:solidFill>
                  <a:srgbClr val="1D1D1F"/>
                </a:solidFill>
                <a:latin typeface="Helvetica Neue"/>
              </a:rPr>
              <a:t>Assumptions · Base</a:t>
            </a:r>
          </a:p>
        </p:txBody>
      </p:sp>
      <p:sp>
        <p:nvSpPr>
          <p:cNvPr id="51" name="TextBox 50"/>
          <p:cNvSpPr txBox="1"/>
          <p:nvPr/>
        </p:nvSpPr>
        <p:spPr>
          <a:xfrm>
            <a:off x="8110727" y="3108960"/>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Transport attach (baseline 40%)</a:t>
            </a:r>
          </a:p>
        </p:txBody>
      </p:sp>
      <p:sp>
        <p:nvSpPr>
          <p:cNvPr id="52" name="!!roi_ass_0"/>
          <p:cNvSpPr txBox="1"/>
          <p:nvPr/>
        </p:nvSpPr>
        <p:spPr>
          <a:xfrm>
            <a:off x="10469880" y="3108960"/>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+5 pts</a:t>
            </a:r>
          </a:p>
        </p:txBody>
      </p:sp>
      <p:sp>
        <p:nvSpPr>
          <p:cNvPr id="53" name="TextBox 52"/>
          <p:cNvSpPr txBox="1"/>
          <p:nvPr/>
        </p:nvSpPr>
        <p:spPr>
          <a:xfrm>
            <a:off x="8110727" y="3410712"/>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Avg transport price · margin</a:t>
            </a:r>
          </a:p>
        </p:txBody>
      </p:sp>
      <p:sp>
        <p:nvSpPr>
          <p:cNvPr id="54" name="!!roi_ass_1"/>
          <p:cNvSpPr txBox="1"/>
          <p:nvPr/>
        </p:nvSpPr>
        <p:spPr>
          <a:xfrm>
            <a:off x="10469880" y="3410712"/>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$400 · 15%</a:t>
            </a:r>
          </a:p>
        </p:txBody>
      </p:sp>
      <p:sp>
        <p:nvSpPr>
          <p:cNvPr id="55" name="TextBox 54"/>
          <p:cNvSpPr txBox="1"/>
          <p:nvPr/>
        </p:nvSpPr>
        <p:spPr>
          <a:xfrm>
            <a:off x="8110727" y="3712463"/>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Pooling saving on carrier cost</a:t>
            </a:r>
          </a:p>
        </p:txBody>
      </p:sp>
      <p:sp>
        <p:nvSpPr>
          <p:cNvPr id="56" name="!!roi_ass_2"/>
          <p:cNvSpPr txBox="1"/>
          <p:nvPr/>
        </p:nvSpPr>
        <p:spPr>
          <a:xfrm>
            <a:off x="10469880" y="3712463"/>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6%</a:t>
            </a:r>
          </a:p>
        </p:txBody>
      </p:sp>
      <p:sp>
        <p:nvSpPr>
          <p:cNvPr id="57" name="TextBox 56"/>
          <p:cNvSpPr txBox="1"/>
          <p:nvPr/>
        </p:nvSpPr>
        <p:spPr>
          <a:xfrm>
            <a:off x="8110727" y="4014215"/>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Non-runners among shipments</a:t>
            </a:r>
          </a:p>
        </p:txBody>
      </p:sp>
      <p:sp>
        <p:nvSpPr>
          <p:cNvPr id="58" name="!!roi_ass_3"/>
          <p:cNvSpPr txBox="1"/>
          <p:nvPr/>
        </p:nvSpPr>
        <p:spPr>
          <a:xfrm>
            <a:off x="10469880" y="4014215"/>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15%</a:t>
            </a:r>
          </a:p>
        </p:txBody>
      </p:sp>
      <p:sp>
        <p:nvSpPr>
          <p:cNvPr id="59" name="TextBox 58"/>
          <p:cNvSpPr txBox="1"/>
          <p:nvPr/>
        </p:nvSpPr>
        <p:spPr>
          <a:xfrm>
            <a:off x="8110727" y="4315968"/>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Dry-run rate · cost</a:t>
            </a:r>
          </a:p>
        </p:txBody>
      </p:sp>
      <p:sp>
        <p:nvSpPr>
          <p:cNvPr id="60" name="!!roi_ass_4"/>
          <p:cNvSpPr txBox="1"/>
          <p:nvPr/>
        </p:nvSpPr>
        <p:spPr>
          <a:xfrm>
            <a:off x="10469880" y="4315968"/>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12% · $200</a:t>
            </a:r>
          </a:p>
        </p:txBody>
      </p:sp>
      <p:sp>
        <p:nvSpPr>
          <p:cNvPr id="61" name="TextBox 60"/>
          <p:cNvSpPr txBox="1"/>
          <p:nvPr/>
        </p:nvSpPr>
        <p:spPr>
          <a:xfrm>
            <a:off x="8110727" y="4617720"/>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Dry runs prevented</a:t>
            </a:r>
          </a:p>
        </p:txBody>
      </p:sp>
      <p:sp>
        <p:nvSpPr>
          <p:cNvPr id="62" name="!!roi_ass_5"/>
          <p:cNvSpPr txBox="1"/>
          <p:nvPr/>
        </p:nvSpPr>
        <p:spPr>
          <a:xfrm>
            <a:off x="10469880" y="4617720"/>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75%</a:t>
            </a:r>
          </a:p>
        </p:txBody>
      </p:sp>
      <p:sp>
        <p:nvSpPr>
          <p:cNvPr id="63" name="TextBox 62"/>
          <p:cNvSpPr txBox="1"/>
          <p:nvPr/>
        </p:nvSpPr>
        <p:spPr>
          <a:xfrm>
            <a:off x="8110727" y="4919472"/>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Arbitration rate · cost</a:t>
            </a:r>
          </a:p>
        </p:txBody>
      </p:sp>
      <p:sp>
        <p:nvSpPr>
          <p:cNvPr id="64" name="!!roi_ass_6"/>
          <p:cNvSpPr txBox="1"/>
          <p:nvPr/>
        </p:nvSpPr>
        <p:spPr>
          <a:xfrm>
            <a:off x="10469880" y="4919472"/>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4% · $400</a:t>
            </a:r>
          </a:p>
        </p:txBody>
      </p:sp>
      <p:sp>
        <p:nvSpPr>
          <p:cNvPr id="65" name="TextBox 64"/>
          <p:cNvSpPr txBox="1"/>
          <p:nvPr/>
        </p:nvSpPr>
        <p:spPr>
          <a:xfrm>
            <a:off x="8110727" y="5221224"/>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Arbitrations avoided</a:t>
            </a:r>
          </a:p>
        </p:txBody>
      </p:sp>
      <p:sp>
        <p:nvSpPr>
          <p:cNvPr id="66" name="!!roi_ass_7"/>
          <p:cNvSpPr txBox="1"/>
          <p:nvPr/>
        </p:nvSpPr>
        <p:spPr>
          <a:xfrm>
            <a:off x="10469880" y="5221224"/>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20%</a:t>
            </a:r>
          </a:p>
        </p:txBody>
      </p:sp>
      <p:sp>
        <p:nvSpPr>
          <p:cNvPr id="67" name="TextBox 66"/>
          <p:cNvSpPr txBox="1"/>
          <p:nvPr/>
        </p:nvSpPr>
        <p:spPr>
          <a:xfrm>
            <a:off x="8110727" y="5522976"/>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Sellers retained · fees/car</a:t>
            </a:r>
          </a:p>
        </p:txBody>
      </p:sp>
      <p:sp>
        <p:nvSpPr>
          <p:cNvPr id="68" name="!!roi_ass_8"/>
          <p:cNvSpPr txBox="1"/>
          <p:nvPr/>
        </p:nvSpPr>
        <p:spPr>
          <a:xfrm>
            <a:off x="10469880" y="5522976"/>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 · $775</a:t>
            </a:r>
          </a:p>
        </p:txBody>
      </p:sp>
      <p:sp>
        <p:nvSpPr>
          <p:cNvPr id="69" name="TextBox 68"/>
          <p:cNvSpPr txBox="1"/>
          <p:nvPr/>
        </p:nvSpPr>
        <p:spPr>
          <a:xfrm>
            <a:off x="8110727" y="5870448"/>
            <a:ext cx="3383280" cy="365760"/>
          </a:xfrm>
          <a:prstGeom prst="rect">
            <a:avLst/>
          </a:prstGeom>
          <a:noFill/>
        </p:spPr>
        <p:txBody>
          <a:bodyPr wrap="square" lIns="0" rIns="0" tIns="0" bIns="0" anchor="t">
            <a:noAutofit/>
          </a:bodyPr>
          <a:lstStyle/>
          <a:p>
            <a:pPr algn="l">
              <a:lnSpc>
                <a:spcPct val="110000"/>
              </a:lnSpc>
              <a:spcAft>
                <a:spcPts val="0"/>
              </a:spcAft>
            </a:pPr>
            <a:r>
              <a:rPr sz="850" b="0" i="0">
                <a:solidFill>
                  <a:srgbClr val="8E8E93"/>
                </a:solidFill>
                <a:latin typeface="Helvetica Neue"/>
              </a:rPr>
              <a:t>Fees/car = $350 seller + $425 buyer (demo fee table). AI cost: ≈10k tokens per read.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6534759"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8</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Making money · illustrative model</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What it’s worth, per 10,000 vehicles.</a:t>
            </a:r>
          </a:p>
        </p:txBody>
      </p:sp>
      <p:sp>
        <p:nvSpPr>
          <p:cNvPr id="18" name="!!sub"/>
          <p:cNvSpPr txBox="1"/>
          <p:nvPr/>
        </p:nvSpPr>
        <p:spPr>
          <a:xfrm>
            <a:off x="548640" y="1810512"/>
            <a:ext cx="713232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Five levers, each tied to a feature you just saw. Inputs are placeholders to swap for real ACV + Copart data; the structure is the point.</a:t>
            </a:r>
          </a:p>
        </p:txBody>
      </p:sp>
      <p:sp>
        <p:nvSpPr>
          <p:cNvPr id="19" name="!!sc_track"/>
          <p:cNvSpPr/>
          <p:nvPr/>
        </p:nvSpPr>
        <p:spPr>
          <a:xfrm>
            <a:off x="7882127" y="1188720"/>
            <a:ext cx="3803904" cy="365760"/>
          </a:xfrm>
          <a:prstGeom prst="roundRect">
            <a:avLst>
              <a:gd name="adj" fmla="val 30000"/>
            </a:avLst>
          </a:prstGeom>
          <a:solidFill>
            <a:srgbClr val="E8E8ED"/>
          </a:solidFill>
          <a:ln>
            <a:noFill/>
          </a:ln>
          <a:effectLst/>
        </p:spPr>
        <p:txBody>
          <a:bodyPr rtlCol="0" anchor="ctr"/>
          <a:lstStyle/>
          <a:p>
            <a:pPr algn="ctr"/>
          </a:p>
        </p:txBody>
      </p:sp>
      <p:sp>
        <p:nvSpPr>
          <p:cNvPr id="20" name="!!sc_active"/>
          <p:cNvSpPr/>
          <p:nvPr/>
        </p:nvSpPr>
        <p:spPr>
          <a:xfrm>
            <a:off x="7918703" y="1225296"/>
            <a:ext cx="1243584"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sc_0"/>
          <p:cNvSpPr/>
          <p:nvPr/>
        </p:nvSpPr>
        <p:spPr>
          <a:xfrm>
            <a:off x="7918703"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Conservative</a:t>
            </a:r>
          </a:p>
        </p:txBody>
      </p:sp>
      <p:sp>
        <p:nvSpPr>
          <p:cNvPr id="22" name="!!sc_1">
            <a:hlinkClick action="ppaction://hlinksldjump" r:id="rId7"/>
          </p:cNvPr>
          <p:cNvSpPr/>
          <p:nvPr/>
        </p:nvSpPr>
        <p:spPr>
          <a:xfrm>
            <a:off x="9162287"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Base</a:t>
            </a:r>
          </a:p>
        </p:txBody>
      </p:sp>
      <p:sp>
        <p:nvSpPr>
          <p:cNvPr id="23" name="!!sc_2">
            <a:hlinkClick action="ppaction://hlinksldjump" r:id="rId11"/>
          </p:cNvPr>
          <p:cNvSpPr/>
          <p:nvPr/>
        </p:nvSpPr>
        <p:spPr>
          <a:xfrm>
            <a:off x="10405872"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Aggressive</a:t>
            </a:r>
          </a:p>
        </p:txBody>
      </p:sp>
      <p:sp>
        <p:nvSpPr>
          <p:cNvPr id="24" name="!!roi_chart"/>
          <p:cNvSpPr/>
          <p:nvPr/>
        </p:nvSpPr>
        <p:spPr>
          <a:xfrm>
            <a:off x="548640" y="2560320"/>
            <a:ext cx="7086600"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777240" y="274320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Transport attach ↑</a:t>
            </a:r>
          </a:p>
          <a:p>
            <a:pPr algn="l">
              <a:lnSpc>
                <a:spcPct val="100000"/>
              </a:lnSpc>
              <a:spcAft>
                <a:spcPts val="0"/>
              </a:spcAft>
            </a:pPr>
            <a:r>
              <a:rPr sz="950" b="0" i="0">
                <a:solidFill>
                  <a:srgbClr val="6E6E73"/>
                </a:solidFill>
                <a:latin typeface="Helvetica Neue"/>
              </a:rPr>
              <a:t>Checkout + LoadLink</a:t>
            </a:r>
          </a:p>
        </p:txBody>
      </p:sp>
      <p:sp>
        <p:nvSpPr>
          <p:cNvPr id="26" name="!!bar_bg_0"/>
          <p:cNvSpPr/>
          <p:nvPr/>
        </p:nvSpPr>
        <p:spPr>
          <a:xfrm>
            <a:off x="2926080" y="2834640"/>
            <a:ext cx="3520440" cy="274320"/>
          </a:xfrm>
          <a:prstGeom prst="roundRect">
            <a:avLst>
              <a:gd name="adj" fmla="val 50000"/>
            </a:avLst>
          </a:prstGeom>
          <a:solidFill>
            <a:srgbClr val="F5F5F7"/>
          </a:solidFill>
          <a:ln>
            <a:noFill/>
          </a:ln>
          <a:effectLst/>
        </p:spPr>
        <p:txBody>
          <a:bodyPr rtlCol="0" anchor="ctr"/>
          <a:lstStyle/>
          <a:p>
            <a:pPr algn="ctr"/>
          </a:p>
        </p:txBody>
      </p:sp>
      <p:sp>
        <p:nvSpPr>
          <p:cNvPr id="27" name="!!bar_0"/>
          <p:cNvSpPr/>
          <p:nvPr/>
        </p:nvSpPr>
        <p:spPr>
          <a:xfrm>
            <a:off x="2926080" y="2834640"/>
            <a:ext cx="310627" cy="274320"/>
          </a:xfrm>
          <a:prstGeom prst="roundRect">
            <a:avLst>
              <a:gd name="adj" fmla="val 50000"/>
            </a:avLst>
          </a:prstGeom>
          <a:solidFill>
            <a:srgbClr val="2F6BE6"/>
          </a:solidFill>
          <a:ln>
            <a:noFill/>
          </a:ln>
          <a:effectLst/>
        </p:spPr>
        <p:txBody>
          <a:bodyPr rtlCol="0" anchor="ctr"/>
          <a:lstStyle/>
          <a:p>
            <a:pPr algn="ctr"/>
          </a:p>
        </p:txBody>
      </p:sp>
      <p:sp>
        <p:nvSpPr>
          <p:cNvPr id="28" name="!!bar_val_0"/>
          <p:cNvSpPr txBox="1"/>
          <p:nvPr/>
        </p:nvSpPr>
        <p:spPr>
          <a:xfrm>
            <a:off x="6510528" y="281635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$14K</a:t>
            </a:r>
          </a:p>
        </p:txBody>
      </p:sp>
      <p:sp>
        <p:nvSpPr>
          <p:cNvPr id="29" name="TextBox 28"/>
          <p:cNvSpPr txBox="1"/>
          <p:nvPr/>
        </p:nvSpPr>
        <p:spPr>
          <a:xfrm>
            <a:off x="777240" y="329184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Pooled routing</a:t>
            </a:r>
          </a:p>
          <a:p>
            <a:pPr algn="l">
              <a:lnSpc>
                <a:spcPct val="100000"/>
              </a:lnSpc>
              <a:spcAft>
                <a:spcPts val="0"/>
              </a:spcAft>
            </a:pPr>
            <a:r>
              <a:rPr sz="950" b="0" i="0">
                <a:solidFill>
                  <a:srgbClr val="6E6E73"/>
                </a:solidFill>
                <a:latin typeface="Helvetica Neue"/>
              </a:rPr>
              <a:t>LoadLink</a:t>
            </a:r>
          </a:p>
        </p:txBody>
      </p:sp>
      <p:sp>
        <p:nvSpPr>
          <p:cNvPr id="30" name="!!bar_bg_1"/>
          <p:cNvSpPr/>
          <p:nvPr/>
        </p:nvSpPr>
        <p:spPr>
          <a:xfrm>
            <a:off x="2926080" y="3383280"/>
            <a:ext cx="3520440" cy="274320"/>
          </a:xfrm>
          <a:prstGeom prst="roundRect">
            <a:avLst>
              <a:gd name="adj" fmla="val 50000"/>
            </a:avLst>
          </a:prstGeom>
          <a:solidFill>
            <a:srgbClr val="F5F5F7"/>
          </a:solidFill>
          <a:ln>
            <a:noFill/>
          </a:ln>
          <a:effectLst/>
        </p:spPr>
        <p:txBody>
          <a:bodyPr rtlCol="0" anchor="ctr"/>
          <a:lstStyle/>
          <a:p>
            <a:pPr algn="ctr"/>
          </a:p>
        </p:txBody>
      </p:sp>
      <p:sp>
        <p:nvSpPr>
          <p:cNvPr id="31" name="!!bar_1"/>
          <p:cNvSpPr/>
          <p:nvPr/>
        </p:nvSpPr>
        <p:spPr>
          <a:xfrm>
            <a:off x="2926080" y="3383280"/>
            <a:ext cx="946118" cy="274320"/>
          </a:xfrm>
          <a:prstGeom prst="roundRect">
            <a:avLst>
              <a:gd name="adj" fmla="val 50000"/>
            </a:avLst>
          </a:prstGeom>
          <a:solidFill>
            <a:srgbClr val="5E9BFF"/>
          </a:solidFill>
          <a:ln>
            <a:noFill/>
          </a:ln>
          <a:effectLst/>
        </p:spPr>
        <p:txBody>
          <a:bodyPr rtlCol="0" anchor="ctr"/>
          <a:lstStyle/>
          <a:p>
            <a:pPr algn="ctr"/>
          </a:p>
        </p:txBody>
      </p:sp>
      <p:sp>
        <p:nvSpPr>
          <p:cNvPr id="32" name="!!bar_val_1"/>
          <p:cNvSpPr txBox="1"/>
          <p:nvPr/>
        </p:nvSpPr>
        <p:spPr>
          <a:xfrm>
            <a:off x="6510528" y="336499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$44K</a:t>
            </a:r>
          </a:p>
        </p:txBody>
      </p:sp>
      <p:sp>
        <p:nvSpPr>
          <p:cNvPr id="33" name="TextBox 32"/>
          <p:cNvSpPr txBox="1"/>
          <p:nvPr/>
        </p:nvSpPr>
        <p:spPr>
          <a:xfrm>
            <a:off x="777240" y="384048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Dry runs avoided</a:t>
            </a:r>
          </a:p>
          <a:p>
            <a:pPr algn="l">
              <a:lnSpc>
                <a:spcPct val="100000"/>
              </a:lnSpc>
              <a:spcAft>
                <a:spcPts val="0"/>
              </a:spcAft>
            </a:pPr>
            <a:r>
              <a:rPr sz="950" b="0" i="0">
                <a:solidFill>
                  <a:srgbClr val="6E6E73"/>
                </a:solidFill>
                <a:latin typeface="Helvetica Neue"/>
              </a:rPr>
              <a:t>LoadLink + SecondLook</a:t>
            </a:r>
          </a:p>
        </p:txBody>
      </p:sp>
      <p:sp>
        <p:nvSpPr>
          <p:cNvPr id="34" name="!!bar_bg_2"/>
          <p:cNvSpPr/>
          <p:nvPr/>
        </p:nvSpPr>
        <p:spPr>
          <a:xfrm>
            <a:off x="2926080" y="3931920"/>
            <a:ext cx="3520440" cy="274320"/>
          </a:xfrm>
          <a:prstGeom prst="roundRect">
            <a:avLst>
              <a:gd name="adj" fmla="val 50000"/>
            </a:avLst>
          </a:prstGeom>
          <a:solidFill>
            <a:srgbClr val="F5F5F7"/>
          </a:solidFill>
          <a:ln>
            <a:noFill/>
          </a:ln>
          <a:effectLst/>
        </p:spPr>
        <p:txBody>
          <a:bodyPr rtlCol="0" anchor="ctr"/>
          <a:lstStyle/>
          <a:p>
            <a:pPr algn="ctr"/>
          </a:p>
        </p:txBody>
      </p:sp>
      <p:sp>
        <p:nvSpPr>
          <p:cNvPr id="35" name="!!bar_2"/>
          <p:cNvSpPr/>
          <p:nvPr/>
        </p:nvSpPr>
        <p:spPr>
          <a:xfrm>
            <a:off x="2926080" y="3931920"/>
            <a:ext cx="125221" cy="274320"/>
          </a:xfrm>
          <a:prstGeom prst="roundRect">
            <a:avLst>
              <a:gd name="adj" fmla="val 50000"/>
            </a:avLst>
          </a:prstGeom>
          <a:solidFill>
            <a:srgbClr val="FF9F0A"/>
          </a:solidFill>
          <a:ln>
            <a:noFill/>
          </a:ln>
          <a:effectLst/>
        </p:spPr>
        <p:txBody>
          <a:bodyPr rtlCol="0" anchor="ctr"/>
          <a:lstStyle/>
          <a:p>
            <a:pPr algn="ctr"/>
          </a:p>
        </p:txBody>
      </p:sp>
      <p:sp>
        <p:nvSpPr>
          <p:cNvPr id="36" name="!!bar_val_2"/>
          <p:cNvSpPr txBox="1"/>
          <p:nvPr/>
        </p:nvSpPr>
        <p:spPr>
          <a:xfrm>
            <a:off x="6510528" y="391363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$6K</a:t>
            </a:r>
          </a:p>
        </p:txBody>
      </p:sp>
      <p:sp>
        <p:nvSpPr>
          <p:cNvPr id="37" name="TextBox 36"/>
          <p:cNvSpPr txBox="1"/>
          <p:nvPr/>
        </p:nvSpPr>
        <p:spPr>
          <a:xfrm>
            <a:off x="777240" y="438912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Arbitrations avoided</a:t>
            </a:r>
          </a:p>
          <a:p>
            <a:pPr algn="l">
              <a:lnSpc>
                <a:spcPct val="100000"/>
              </a:lnSpc>
              <a:spcAft>
                <a:spcPts val="0"/>
              </a:spcAft>
            </a:pPr>
            <a:r>
              <a:rPr sz="950" b="0" i="0">
                <a:solidFill>
                  <a:srgbClr val="6E6E73"/>
                </a:solidFill>
                <a:latin typeface="Helvetica Neue"/>
              </a:rPr>
              <a:t>SecondLook</a:t>
            </a:r>
          </a:p>
        </p:txBody>
      </p:sp>
      <p:sp>
        <p:nvSpPr>
          <p:cNvPr id="38" name="!!bar_bg_3"/>
          <p:cNvSpPr/>
          <p:nvPr/>
        </p:nvSpPr>
        <p:spPr>
          <a:xfrm>
            <a:off x="2926080" y="4480559"/>
            <a:ext cx="3520440" cy="274320"/>
          </a:xfrm>
          <a:prstGeom prst="roundRect">
            <a:avLst>
              <a:gd name="adj" fmla="val 50000"/>
            </a:avLst>
          </a:prstGeom>
          <a:solidFill>
            <a:srgbClr val="F5F5F7"/>
          </a:solidFill>
          <a:ln>
            <a:noFill/>
          </a:ln>
          <a:effectLst/>
        </p:spPr>
        <p:txBody>
          <a:bodyPr rtlCol="0" anchor="ctr"/>
          <a:lstStyle/>
          <a:p>
            <a:pPr algn="ctr"/>
          </a:p>
        </p:txBody>
      </p:sp>
      <p:sp>
        <p:nvSpPr>
          <p:cNvPr id="39" name="!!bar_3"/>
          <p:cNvSpPr/>
          <p:nvPr/>
        </p:nvSpPr>
        <p:spPr>
          <a:xfrm>
            <a:off x="2926080" y="4480559"/>
            <a:ext cx="194141" cy="274320"/>
          </a:xfrm>
          <a:prstGeom prst="roundRect">
            <a:avLst>
              <a:gd name="adj" fmla="val 50000"/>
            </a:avLst>
          </a:prstGeom>
          <a:solidFill>
            <a:srgbClr val="9B7BEA"/>
          </a:solidFill>
          <a:ln>
            <a:noFill/>
          </a:ln>
          <a:effectLst/>
        </p:spPr>
        <p:txBody>
          <a:bodyPr rtlCol="0" anchor="ctr"/>
          <a:lstStyle/>
          <a:p>
            <a:pPr algn="ctr"/>
          </a:p>
        </p:txBody>
      </p:sp>
      <p:sp>
        <p:nvSpPr>
          <p:cNvPr id="40" name="!!bar_val_3"/>
          <p:cNvSpPr txBox="1"/>
          <p:nvPr/>
        </p:nvSpPr>
        <p:spPr>
          <a:xfrm>
            <a:off x="6510528" y="446227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$9K</a:t>
            </a:r>
          </a:p>
        </p:txBody>
      </p:sp>
      <p:sp>
        <p:nvSpPr>
          <p:cNvPr id="41" name="TextBox 40"/>
          <p:cNvSpPr txBox="1"/>
          <p:nvPr/>
        </p:nvSpPr>
        <p:spPr>
          <a:xfrm>
            <a:off x="777240" y="493776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Sellers retained</a:t>
            </a:r>
          </a:p>
          <a:p>
            <a:pPr algn="l">
              <a:lnSpc>
                <a:spcPct val="100000"/>
              </a:lnSpc>
              <a:spcAft>
                <a:spcPts val="0"/>
              </a:spcAft>
            </a:pPr>
            <a:r>
              <a:rPr sz="950" b="0" i="0">
                <a:solidFill>
                  <a:srgbClr val="6E6E73"/>
                </a:solidFill>
                <a:latin typeface="Helvetica Neue"/>
              </a:rPr>
              <a:t>BestExit</a:t>
            </a:r>
          </a:p>
        </p:txBody>
      </p:sp>
      <p:sp>
        <p:nvSpPr>
          <p:cNvPr id="42" name="!!bar_bg_4"/>
          <p:cNvSpPr/>
          <p:nvPr/>
        </p:nvSpPr>
        <p:spPr>
          <a:xfrm>
            <a:off x="2926080" y="5029200"/>
            <a:ext cx="3520440" cy="274320"/>
          </a:xfrm>
          <a:prstGeom prst="roundRect">
            <a:avLst>
              <a:gd name="adj" fmla="val 50000"/>
            </a:avLst>
          </a:prstGeom>
          <a:solidFill>
            <a:srgbClr val="F5F5F7"/>
          </a:solidFill>
          <a:ln>
            <a:noFill/>
          </a:ln>
          <a:effectLst/>
        </p:spPr>
        <p:txBody>
          <a:bodyPr rtlCol="0" anchor="ctr"/>
          <a:lstStyle/>
          <a:p>
            <a:pPr algn="ctr"/>
          </a:p>
        </p:txBody>
      </p:sp>
      <p:sp>
        <p:nvSpPr>
          <p:cNvPr id="43" name="!!bar_4"/>
          <p:cNvSpPr/>
          <p:nvPr/>
        </p:nvSpPr>
        <p:spPr>
          <a:xfrm>
            <a:off x="2926080" y="5029200"/>
            <a:ext cx="835888" cy="274320"/>
          </a:xfrm>
          <a:prstGeom prst="roundRect">
            <a:avLst>
              <a:gd name="adj" fmla="val 50000"/>
            </a:avLst>
          </a:prstGeom>
          <a:solidFill>
            <a:srgbClr val="34C759"/>
          </a:solidFill>
          <a:ln>
            <a:noFill/>
          </a:ln>
          <a:effectLst/>
        </p:spPr>
        <p:txBody>
          <a:bodyPr rtlCol="0" anchor="ctr"/>
          <a:lstStyle/>
          <a:p>
            <a:pPr algn="ctr"/>
          </a:p>
        </p:txBody>
      </p:sp>
      <p:sp>
        <p:nvSpPr>
          <p:cNvPr id="44" name="!!bar_val_4"/>
          <p:cNvSpPr txBox="1"/>
          <p:nvPr/>
        </p:nvSpPr>
        <p:spPr>
          <a:xfrm>
            <a:off x="6510528" y="501091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$39K</a:t>
            </a:r>
          </a:p>
        </p:txBody>
      </p:sp>
      <p:sp>
        <p:nvSpPr>
          <p:cNvPr id="45" name="Rounded Rectangle 44"/>
          <p:cNvSpPr/>
          <p:nvPr/>
        </p:nvSpPr>
        <p:spPr>
          <a:xfrm>
            <a:off x="777240" y="5532120"/>
            <a:ext cx="6629400" cy="10972"/>
          </a:xfrm>
          <a:prstGeom prst="roundRect">
            <a:avLst>
              <a:gd name="adj" fmla="val 0"/>
            </a:avLst>
          </a:prstGeom>
          <a:solidFill>
            <a:srgbClr val="E3E3E8"/>
          </a:solidFill>
          <a:ln>
            <a:noFill/>
          </a:ln>
          <a:effectLst/>
        </p:spPr>
        <p:txBody>
          <a:bodyPr rtlCol="0" anchor="ctr"/>
          <a:lstStyle/>
          <a:p>
            <a:pPr algn="ctr"/>
          </a:p>
        </p:txBody>
      </p:sp>
      <p:sp>
        <p:nvSpPr>
          <p:cNvPr id="46" name="!!roi_total"/>
          <p:cNvSpPr txBox="1"/>
          <p:nvPr/>
        </p:nvSpPr>
        <p:spPr>
          <a:xfrm>
            <a:off x="777240" y="5623560"/>
            <a:ext cx="2377440" cy="566928"/>
          </a:xfrm>
          <a:prstGeom prst="rect">
            <a:avLst/>
          </a:prstGeom>
          <a:noFill/>
        </p:spPr>
        <p:txBody>
          <a:bodyPr wrap="square" lIns="0" rIns="0" tIns="0" bIns="0" anchor="t">
            <a:noAutofit/>
          </a:bodyPr>
          <a:lstStyle/>
          <a:p>
            <a:pPr algn="l">
              <a:lnSpc>
                <a:spcPct val="100000"/>
              </a:lnSpc>
              <a:spcAft>
                <a:spcPts val="0"/>
              </a:spcAft>
            </a:pPr>
            <a:r>
              <a:rPr sz="1100" b="0" i="0">
                <a:solidFill>
                  <a:srgbClr val="6E6E73"/>
                </a:solidFill>
                <a:latin typeface="Helvetica Neue"/>
              </a:rPr>
              <a:t>Total value / year</a:t>
            </a:r>
          </a:p>
          <a:p>
            <a:pPr algn="l">
              <a:lnSpc>
                <a:spcPct val="100000"/>
              </a:lnSpc>
              <a:spcAft>
                <a:spcPts val="0"/>
              </a:spcAft>
            </a:pPr>
            <a:r>
              <a:rPr sz="2600" b="1" i="0" spc="-50">
                <a:solidFill>
                  <a:srgbClr val="1D1D1F"/>
                </a:solidFill>
                <a:latin typeface="Helvetica Neue"/>
              </a:rPr>
              <a:t>≈ $112K</a:t>
            </a:r>
          </a:p>
        </p:txBody>
      </p:sp>
      <p:sp>
        <p:nvSpPr>
          <p:cNvPr id="47" name="!!roi_per"/>
          <p:cNvSpPr txBox="1"/>
          <p:nvPr/>
        </p:nvSpPr>
        <p:spPr>
          <a:xfrm>
            <a:off x="3154680" y="5623560"/>
            <a:ext cx="2011680" cy="566928"/>
          </a:xfrm>
          <a:prstGeom prst="rect">
            <a:avLst/>
          </a:prstGeom>
          <a:noFill/>
        </p:spPr>
        <p:txBody>
          <a:bodyPr wrap="square" lIns="0" rIns="0" tIns="0" bIns="0" anchor="t">
            <a:noAutofit/>
          </a:bodyPr>
          <a:lstStyle/>
          <a:p>
            <a:pPr algn="l">
              <a:lnSpc>
                <a:spcPct val="100000"/>
              </a:lnSpc>
              <a:spcAft>
                <a:spcPts val="0"/>
              </a:spcAft>
            </a:pPr>
            <a:r>
              <a:rPr sz="1100" b="0" i="0">
                <a:solidFill>
                  <a:srgbClr val="6E6E73"/>
                </a:solidFill>
                <a:latin typeface="Helvetica Neue"/>
              </a:rPr>
              <a:t>Per vehicle</a:t>
            </a:r>
          </a:p>
          <a:p>
            <a:pPr algn="l">
              <a:lnSpc>
                <a:spcPct val="100000"/>
              </a:lnSpc>
              <a:spcAft>
                <a:spcPts val="0"/>
              </a:spcAft>
            </a:pPr>
            <a:r>
              <a:rPr sz="2600" b="1" i="0" spc="-50">
                <a:solidFill>
                  <a:srgbClr val="1D1D1F"/>
                </a:solidFill>
                <a:latin typeface="Helvetica Neue"/>
              </a:rPr>
              <a:t>≈ $11</a:t>
            </a:r>
          </a:p>
        </p:txBody>
      </p:sp>
      <p:sp>
        <p:nvSpPr>
          <p:cNvPr id="48" name="!!roi_insight"/>
          <p:cNvSpPr/>
          <p:nvPr/>
        </p:nvSpPr>
        <p:spPr>
          <a:xfrm>
            <a:off x="5257800" y="5806440"/>
            <a:ext cx="2148840" cy="310896"/>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52% of it is transport</a:t>
            </a:r>
          </a:p>
        </p:txBody>
      </p:sp>
      <p:sp>
        <p:nvSpPr>
          <p:cNvPr id="49" name="!!roi_assume"/>
          <p:cNvSpPr/>
          <p:nvPr/>
        </p:nvSpPr>
        <p:spPr>
          <a:xfrm>
            <a:off x="7882127" y="2560320"/>
            <a:ext cx="3758184"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50" name="!!roi_ass_title"/>
          <p:cNvSpPr txBox="1"/>
          <p:nvPr/>
        </p:nvSpPr>
        <p:spPr>
          <a:xfrm>
            <a:off x="8110727" y="2724912"/>
            <a:ext cx="3291840" cy="274320"/>
          </a:xfrm>
          <a:prstGeom prst="rect">
            <a:avLst/>
          </a:prstGeom>
          <a:noFill/>
        </p:spPr>
        <p:txBody>
          <a:bodyPr wrap="square" lIns="0" rIns="0" tIns="0" bIns="0" anchor="t">
            <a:noAutofit/>
          </a:bodyPr>
          <a:lstStyle/>
          <a:p>
            <a:pPr algn="l">
              <a:lnSpc>
                <a:spcPct val="112000"/>
              </a:lnSpc>
              <a:spcAft>
                <a:spcPts val="0"/>
              </a:spcAft>
            </a:pPr>
            <a:r>
              <a:rPr sz="1350" b="1" i="0">
                <a:solidFill>
                  <a:srgbClr val="1D1D1F"/>
                </a:solidFill>
                <a:latin typeface="Helvetica Neue"/>
              </a:rPr>
              <a:t>Assumptions · Conservative</a:t>
            </a:r>
          </a:p>
        </p:txBody>
      </p:sp>
      <p:sp>
        <p:nvSpPr>
          <p:cNvPr id="51" name="TextBox 50"/>
          <p:cNvSpPr txBox="1"/>
          <p:nvPr/>
        </p:nvSpPr>
        <p:spPr>
          <a:xfrm>
            <a:off x="8110727" y="3108960"/>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Transport attach (baseline 40%)</a:t>
            </a:r>
          </a:p>
        </p:txBody>
      </p:sp>
      <p:sp>
        <p:nvSpPr>
          <p:cNvPr id="52" name="!!roi_ass_0"/>
          <p:cNvSpPr txBox="1"/>
          <p:nvPr/>
        </p:nvSpPr>
        <p:spPr>
          <a:xfrm>
            <a:off x="10469880" y="3108960"/>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+3 pts</a:t>
            </a:r>
          </a:p>
        </p:txBody>
      </p:sp>
      <p:sp>
        <p:nvSpPr>
          <p:cNvPr id="53" name="TextBox 52"/>
          <p:cNvSpPr txBox="1"/>
          <p:nvPr/>
        </p:nvSpPr>
        <p:spPr>
          <a:xfrm>
            <a:off x="8110727" y="3410712"/>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Avg transport price · margin</a:t>
            </a:r>
          </a:p>
        </p:txBody>
      </p:sp>
      <p:sp>
        <p:nvSpPr>
          <p:cNvPr id="54" name="!!roi_ass_1"/>
          <p:cNvSpPr txBox="1"/>
          <p:nvPr/>
        </p:nvSpPr>
        <p:spPr>
          <a:xfrm>
            <a:off x="10469880" y="3410712"/>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$400 · 12%</a:t>
            </a:r>
          </a:p>
        </p:txBody>
      </p:sp>
      <p:sp>
        <p:nvSpPr>
          <p:cNvPr id="55" name="TextBox 54"/>
          <p:cNvSpPr txBox="1"/>
          <p:nvPr/>
        </p:nvSpPr>
        <p:spPr>
          <a:xfrm>
            <a:off x="8110727" y="3712463"/>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Pooling saving on carrier cost</a:t>
            </a:r>
          </a:p>
        </p:txBody>
      </p:sp>
      <p:sp>
        <p:nvSpPr>
          <p:cNvPr id="56" name="!!roi_ass_2"/>
          <p:cNvSpPr txBox="1"/>
          <p:nvPr/>
        </p:nvSpPr>
        <p:spPr>
          <a:xfrm>
            <a:off x="10469880" y="3712463"/>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3%</a:t>
            </a:r>
          </a:p>
        </p:txBody>
      </p:sp>
      <p:sp>
        <p:nvSpPr>
          <p:cNvPr id="57" name="TextBox 56"/>
          <p:cNvSpPr txBox="1"/>
          <p:nvPr/>
        </p:nvSpPr>
        <p:spPr>
          <a:xfrm>
            <a:off x="8110727" y="4014215"/>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Non-runners among shipments</a:t>
            </a:r>
          </a:p>
        </p:txBody>
      </p:sp>
      <p:sp>
        <p:nvSpPr>
          <p:cNvPr id="58" name="!!roi_ass_3"/>
          <p:cNvSpPr txBox="1"/>
          <p:nvPr/>
        </p:nvSpPr>
        <p:spPr>
          <a:xfrm>
            <a:off x="10469880" y="4014215"/>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15%</a:t>
            </a:r>
          </a:p>
        </p:txBody>
      </p:sp>
      <p:sp>
        <p:nvSpPr>
          <p:cNvPr id="59" name="TextBox 58"/>
          <p:cNvSpPr txBox="1"/>
          <p:nvPr/>
        </p:nvSpPr>
        <p:spPr>
          <a:xfrm>
            <a:off x="8110727" y="4315968"/>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Dry-run rate · cost</a:t>
            </a:r>
          </a:p>
        </p:txBody>
      </p:sp>
      <p:sp>
        <p:nvSpPr>
          <p:cNvPr id="60" name="!!roi_ass_4"/>
          <p:cNvSpPr txBox="1"/>
          <p:nvPr/>
        </p:nvSpPr>
        <p:spPr>
          <a:xfrm>
            <a:off x="10469880" y="4315968"/>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10% · $150</a:t>
            </a:r>
          </a:p>
        </p:txBody>
      </p:sp>
      <p:sp>
        <p:nvSpPr>
          <p:cNvPr id="61" name="TextBox 60"/>
          <p:cNvSpPr txBox="1"/>
          <p:nvPr/>
        </p:nvSpPr>
        <p:spPr>
          <a:xfrm>
            <a:off x="8110727" y="4617720"/>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Dry runs prevented</a:t>
            </a:r>
          </a:p>
        </p:txBody>
      </p:sp>
      <p:sp>
        <p:nvSpPr>
          <p:cNvPr id="62" name="!!roi_ass_5"/>
          <p:cNvSpPr txBox="1"/>
          <p:nvPr/>
        </p:nvSpPr>
        <p:spPr>
          <a:xfrm>
            <a:off x="10469880" y="4617720"/>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60%</a:t>
            </a:r>
          </a:p>
        </p:txBody>
      </p:sp>
      <p:sp>
        <p:nvSpPr>
          <p:cNvPr id="63" name="TextBox 62"/>
          <p:cNvSpPr txBox="1"/>
          <p:nvPr/>
        </p:nvSpPr>
        <p:spPr>
          <a:xfrm>
            <a:off x="8110727" y="4919472"/>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Arbitration rate · cost</a:t>
            </a:r>
          </a:p>
        </p:txBody>
      </p:sp>
      <p:sp>
        <p:nvSpPr>
          <p:cNvPr id="64" name="!!roi_ass_6"/>
          <p:cNvSpPr txBox="1"/>
          <p:nvPr/>
        </p:nvSpPr>
        <p:spPr>
          <a:xfrm>
            <a:off x="10469880" y="4919472"/>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3% · $300</a:t>
            </a:r>
          </a:p>
        </p:txBody>
      </p:sp>
      <p:sp>
        <p:nvSpPr>
          <p:cNvPr id="65" name="TextBox 64"/>
          <p:cNvSpPr txBox="1"/>
          <p:nvPr/>
        </p:nvSpPr>
        <p:spPr>
          <a:xfrm>
            <a:off x="8110727" y="5221224"/>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Arbitrations avoided</a:t>
            </a:r>
          </a:p>
        </p:txBody>
      </p:sp>
      <p:sp>
        <p:nvSpPr>
          <p:cNvPr id="66" name="!!roi_ass_7"/>
          <p:cNvSpPr txBox="1"/>
          <p:nvPr/>
        </p:nvSpPr>
        <p:spPr>
          <a:xfrm>
            <a:off x="10469880" y="5221224"/>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10%</a:t>
            </a:r>
          </a:p>
        </p:txBody>
      </p:sp>
      <p:sp>
        <p:nvSpPr>
          <p:cNvPr id="67" name="TextBox 66"/>
          <p:cNvSpPr txBox="1"/>
          <p:nvPr/>
        </p:nvSpPr>
        <p:spPr>
          <a:xfrm>
            <a:off x="8110727" y="5522976"/>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Sellers retained · fees/car</a:t>
            </a:r>
          </a:p>
        </p:txBody>
      </p:sp>
      <p:sp>
        <p:nvSpPr>
          <p:cNvPr id="68" name="!!roi_ass_8"/>
          <p:cNvSpPr txBox="1"/>
          <p:nvPr/>
        </p:nvSpPr>
        <p:spPr>
          <a:xfrm>
            <a:off x="10469880" y="5522976"/>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0.5% · $775</a:t>
            </a:r>
          </a:p>
        </p:txBody>
      </p:sp>
      <p:sp>
        <p:nvSpPr>
          <p:cNvPr id="69" name="TextBox 68"/>
          <p:cNvSpPr txBox="1"/>
          <p:nvPr/>
        </p:nvSpPr>
        <p:spPr>
          <a:xfrm>
            <a:off x="8110727" y="5870448"/>
            <a:ext cx="3383280" cy="365760"/>
          </a:xfrm>
          <a:prstGeom prst="rect">
            <a:avLst/>
          </a:prstGeom>
          <a:noFill/>
        </p:spPr>
        <p:txBody>
          <a:bodyPr wrap="square" lIns="0" rIns="0" tIns="0" bIns="0" anchor="t">
            <a:noAutofit/>
          </a:bodyPr>
          <a:lstStyle/>
          <a:p>
            <a:pPr algn="l">
              <a:lnSpc>
                <a:spcPct val="110000"/>
              </a:lnSpc>
              <a:spcAft>
                <a:spcPts val="0"/>
              </a:spcAft>
            </a:pPr>
            <a:r>
              <a:rPr sz="850" b="0" i="0">
                <a:solidFill>
                  <a:srgbClr val="8E8E93"/>
                </a:solidFill>
                <a:latin typeface="Helvetica Neue"/>
              </a:rPr>
              <a:t>Fees/car = $350 seller + $425 buyer (demo fee table). AI cost: ≈10k tokens per read.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6534759"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9</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Making money · illustrative model</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What it’s worth, per 10,000 vehicles.</a:t>
            </a:r>
          </a:p>
        </p:txBody>
      </p:sp>
      <p:sp>
        <p:nvSpPr>
          <p:cNvPr id="18" name="!!sub"/>
          <p:cNvSpPr txBox="1"/>
          <p:nvPr/>
        </p:nvSpPr>
        <p:spPr>
          <a:xfrm>
            <a:off x="548640" y="1810512"/>
            <a:ext cx="713232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Five levers, each tied to a feature you just saw. Inputs are placeholders to swap for real ACV + Copart data; the structure is the point.</a:t>
            </a:r>
          </a:p>
        </p:txBody>
      </p:sp>
      <p:sp>
        <p:nvSpPr>
          <p:cNvPr id="19" name="!!sc_track"/>
          <p:cNvSpPr/>
          <p:nvPr/>
        </p:nvSpPr>
        <p:spPr>
          <a:xfrm>
            <a:off x="7882127" y="1188720"/>
            <a:ext cx="3803904" cy="365760"/>
          </a:xfrm>
          <a:prstGeom prst="roundRect">
            <a:avLst>
              <a:gd name="adj" fmla="val 30000"/>
            </a:avLst>
          </a:prstGeom>
          <a:solidFill>
            <a:srgbClr val="E8E8ED"/>
          </a:solidFill>
          <a:ln>
            <a:noFill/>
          </a:ln>
          <a:effectLst/>
        </p:spPr>
        <p:txBody>
          <a:bodyPr rtlCol="0" anchor="ctr"/>
          <a:lstStyle/>
          <a:p>
            <a:pPr algn="ctr"/>
          </a:p>
        </p:txBody>
      </p:sp>
      <p:sp>
        <p:nvSpPr>
          <p:cNvPr id="20" name="!!sc_active"/>
          <p:cNvSpPr/>
          <p:nvPr/>
        </p:nvSpPr>
        <p:spPr>
          <a:xfrm>
            <a:off x="10405872" y="1225296"/>
            <a:ext cx="1243584"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sc_0">
            <a:hlinkClick action="ppaction://hlinksldjump" r:id="rId11"/>
          </p:cNvPr>
          <p:cNvSpPr/>
          <p:nvPr/>
        </p:nvSpPr>
        <p:spPr>
          <a:xfrm>
            <a:off x="7918703"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Conservative</a:t>
            </a:r>
          </a:p>
        </p:txBody>
      </p:sp>
      <p:sp>
        <p:nvSpPr>
          <p:cNvPr id="22" name="!!sc_1">
            <a:hlinkClick action="ppaction://hlinksldjump" r:id="rId7"/>
          </p:cNvPr>
          <p:cNvSpPr/>
          <p:nvPr/>
        </p:nvSpPr>
        <p:spPr>
          <a:xfrm>
            <a:off x="9162287"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Base</a:t>
            </a:r>
          </a:p>
        </p:txBody>
      </p:sp>
      <p:sp>
        <p:nvSpPr>
          <p:cNvPr id="23" name="!!sc_2"/>
          <p:cNvSpPr/>
          <p:nvPr/>
        </p:nvSpPr>
        <p:spPr>
          <a:xfrm>
            <a:off x="10405872" y="1225296"/>
            <a:ext cx="1243584"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Aggressive</a:t>
            </a:r>
          </a:p>
        </p:txBody>
      </p:sp>
      <p:sp>
        <p:nvSpPr>
          <p:cNvPr id="24" name="!!roi_chart"/>
          <p:cNvSpPr/>
          <p:nvPr/>
        </p:nvSpPr>
        <p:spPr>
          <a:xfrm>
            <a:off x="548640" y="2560320"/>
            <a:ext cx="7086600"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777240" y="274320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Transport attach ↑</a:t>
            </a:r>
          </a:p>
          <a:p>
            <a:pPr algn="l">
              <a:lnSpc>
                <a:spcPct val="100000"/>
              </a:lnSpc>
              <a:spcAft>
                <a:spcPts val="0"/>
              </a:spcAft>
            </a:pPr>
            <a:r>
              <a:rPr sz="950" b="0" i="0">
                <a:solidFill>
                  <a:srgbClr val="6E6E73"/>
                </a:solidFill>
                <a:latin typeface="Helvetica Neue"/>
              </a:rPr>
              <a:t>Checkout + LoadLink</a:t>
            </a:r>
          </a:p>
        </p:txBody>
      </p:sp>
      <p:sp>
        <p:nvSpPr>
          <p:cNvPr id="26" name="!!bar_bg_0"/>
          <p:cNvSpPr/>
          <p:nvPr/>
        </p:nvSpPr>
        <p:spPr>
          <a:xfrm>
            <a:off x="2926080" y="2834640"/>
            <a:ext cx="3520440" cy="274320"/>
          </a:xfrm>
          <a:prstGeom prst="roundRect">
            <a:avLst>
              <a:gd name="adj" fmla="val 50000"/>
            </a:avLst>
          </a:prstGeom>
          <a:solidFill>
            <a:srgbClr val="F5F5F7"/>
          </a:solidFill>
          <a:ln>
            <a:noFill/>
          </a:ln>
          <a:effectLst/>
        </p:spPr>
        <p:txBody>
          <a:bodyPr rtlCol="0" anchor="ctr"/>
          <a:lstStyle/>
          <a:p>
            <a:pPr algn="ctr"/>
          </a:p>
        </p:txBody>
      </p:sp>
      <p:sp>
        <p:nvSpPr>
          <p:cNvPr id="27" name="!!bar_0"/>
          <p:cNvSpPr/>
          <p:nvPr/>
        </p:nvSpPr>
        <p:spPr>
          <a:xfrm>
            <a:off x="2926080" y="2834640"/>
            <a:ext cx="1242508" cy="274320"/>
          </a:xfrm>
          <a:prstGeom prst="roundRect">
            <a:avLst>
              <a:gd name="adj" fmla="val 50000"/>
            </a:avLst>
          </a:prstGeom>
          <a:solidFill>
            <a:srgbClr val="2F6BE6"/>
          </a:solidFill>
          <a:ln>
            <a:noFill/>
          </a:ln>
          <a:effectLst/>
        </p:spPr>
        <p:txBody>
          <a:bodyPr rtlCol="0" anchor="ctr"/>
          <a:lstStyle/>
          <a:p>
            <a:pPr algn="ctr"/>
          </a:p>
        </p:txBody>
      </p:sp>
      <p:sp>
        <p:nvSpPr>
          <p:cNvPr id="28" name="!!bar_val_0"/>
          <p:cNvSpPr txBox="1"/>
          <p:nvPr/>
        </p:nvSpPr>
        <p:spPr>
          <a:xfrm>
            <a:off x="6510528" y="281635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$58K</a:t>
            </a:r>
          </a:p>
        </p:txBody>
      </p:sp>
      <p:sp>
        <p:nvSpPr>
          <p:cNvPr id="29" name="TextBox 28"/>
          <p:cNvSpPr txBox="1"/>
          <p:nvPr/>
        </p:nvSpPr>
        <p:spPr>
          <a:xfrm>
            <a:off x="777240" y="329184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Pooled routing</a:t>
            </a:r>
          </a:p>
          <a:p>
            <a:pPr algn="l">
              <a:lnSpc>
                <a:spcPct val="100000"/>
              </a:lnSpc>
              <a:spcAft>
                <a:spcPts val="0"/>
              </a:spcAft>
            </a:pPr>
            <a:r>
              <a:rPr sz="950" b="0" i="0">
                <a:solidFill>
                  <a:srgbClr val="6E6E73"/>
                </a:solidFill>
                <a:latin typeface="Helvetica Neue"/>
              </a:rPr>
              <a:t>LoadLink</a:t>
            </a:r>
          </a:p>
        </p:txBody>
      </p:sp>
      <p:sp>
        <p:nvSpPr>
          <p:cNvPr id="30" name="!!bar_bg_1"/>
          <p:cNvSpPr/>
          <p:nvPr/>
        </p:nvSpPr>
        <p:spPr>
          <a:xfrm>
            <a:off x="2926080" y="3383280"/>
            <a:ext cx="3520440" cy="274320"/>
          </a:xfrm>
          <a:prstGeom prst="roundRect">
            <a:avLst>
              <a:gd name="adj" fmla="val 50000"/>
            </a:avLst>
          </a:prstGeom>
          <a:solidFill>
            <a:srgbClr val="F5F5F7"/>
          </a:solidFill>
          <a:ln>
            <a:noFill/>
          </a:ln>
          <a:effectLst/>
        </p:spPr>
        <p:txBody>
          <a:bodyPr rtlCol="0" anchor="ctr"/>
          <a:lstStyle/>
          <a:p>
            <a:pPr algn="ctr"/>
          </a:p>
        </p:txBody>
      </p:sp>
      <p:sp>
        <p:nvSpPr>
          <p:cNvPr id="31" name="!!bar_1"/>
          <p:cNvSpPr/>
          <p:nvPr/>
        </p:nvSpPr>
        <p:spPr>
          <a:xfrm>
            <a:off x="2926080" y="3383280"/>
            <a:ext cx="3520440" cy="274320"/>
          </a:xfrm>
          <a:prstGeom prst="roundRect">
            <a:avLst>
              <a:gd name="adj" fmla="val 50000"/>
            </a:avLst>
          </a:prstGeom>
          <a:solidFill>
            <a:srgbClr val="5E9BFF"/>
          </a:solidFill>
          <a:ln>
            <a:noFill/>
          </a:ln>
          <a:effectLst/>
        </p:spPr>
        <p:txBody>
          <a:bodyPr rtlCol="0" anchor="ctr"/>
          <a:lstStyle/>
          <a:p>
            <a:pPr algn="ctr"/>
          </a:p>
        </p:txBody>
      </p:sp>
      <p:sp>
        <p:nvSpPr>
          <p:cNvPr id="32" name="!!bar_val_1"/>
          <p:cNvSpPr txBox="1"/>
          <p:nvPr/>
        </p:nvSpPr>
        <p:spPr>
          <a:xfrm>
            <a:off x="6510528" y="336499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$163K</a:t>
            </a:r>
          </a:p>
        </p:txBody>
      </p:sp>
      <p:sp>
        <p:nvSpPr>
          <p:cNvPr id="33" name="TextBox 32"/>
          <p:cNvSpPr txBox="1"/>
          <p:nvPr/>
        </p:nvSpPr>
        <p:spPr>
          <a:xfrm>
            <a:off x="777240" y="384048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Dry runs avoided</a:t>
            </a:r>
          </a:p>
          <a:p>
            <a:pPr algn="l">
              <a:lnSpc>
                <a:spcPct val="100000"/>
              </a:lnSpc>
              <a:spcAft>
                <a:spcPts val="0"/>
              </a:spcAft>
            </a:pPr>
            <a:r>
              <a:rPr sz="950" b="0" i="0">
                <a:solidFill>
                  <a:srgbClr val="6E6E73"/>
                </a:solidFill>
                <a:latin typeface="Helvetica Neue"/>
              </a:rPr>
              <a:t>LoadLink + SecondLook</a:t>
            </a:r>
          </a:p>
        </p:txBody>
      </p:sp>
      <p:sp>
        <p:nvSpPr>
          <p:cNvPr id="34" name="!!bar_bg_2"/>
          <p:cNvSpPr/>
          <p:nvPr/>
        </p:nvSpPr>
        <p:spPr>
          <a:xfrm>
            <a:off x="2926080" y="3931920"/>
            <a:ext cx="3520440" cy="274320"/>
          </a:xfrm>
          <a:prstGeom prst="roundRect">
            <a:avLst>
              <a:gd name="adj" fmla="val 50000"/>
            </a:avLst>
          </a:prstGeom>
          <a:solidFill>
            <a:srgbClr val="F5F5F7"/>
          </a:solidFill>
          <a:ln>
            <a:noFill/>
          </a:ln>
          <a:effectLst/>
        </p:spPr>
        <p:txBody>
          <a:bodyPr rtlCol="0" anchor="ctr"/>
          <a:lstStyle/>
          <a:p>
            <a:pPr algn="ctr"/>
          </a:p>
        </p:txBody>
      </p:sp>
      <p:sp>
        <p:nvSpPr>
          <p:cNvPr id="35" name="!!bar_2"/>
          <p:cNvSpPr/>
          <p:nvPr/>
        </p:nvSpPr>
        <p:spPr>
          <a:xfrm>
            <a:off x="2926080" y="3931920"/>
            <a:ext cx="524183" cy="274320"/>
          </a:xfrm>
          <a:prstGeom prst="roundRect">
            <a:avLst>
              <a:gd name="adj" fmla="val 50000"/>
            </a:avLst>
          </a:prstGeom>
          <a:solidFill>
            <a:srgbClr val="FF9F0A"/>
          </a:solidFill>
          <a:ln>
            <a:noFill/>
          </a:ln>
          <a:effectLst/>
        </p:spPr>
        <p:txBody>
          <a:bodyPr rtlCol="0" anchor="ctr"/>
          <a:lstStyle/>
          <a:p>
            <a:pPr algn="ctr"/>
          </a:p>
        </p:txBody>
      </p:sp>
      <p:sp>
        <p:nvSpPr>
          <p:cNvPr id="36" name="!!bar_val_2"/>
          <p:cNvSpPr txBox="1"/>
          <p:nvPr/>
        </p:nvSpPr>
        <p:spPr>
          <a:xfrm>
            <a:off x="6510528" y="391363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$24K</a:t>
            </a:r>
          </a:p>
        </p:txBody>
      </p:sp>
      <p:sp>
        <p:nvSpPr>
          <p:cNvPr id="37" name="TextBox 36"/>
          <p:cNvSpPr txBox="1"/>
          <p:nvPr/>
        </p:nvSpPr>
        <p:spPr>
          <a:xfrm>
            <a:off x="777240" y="438912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Arbitrations avoided</a:t>
            </a:r>
          </a:p>
          <a:p>
            <a:pPr algn="l">
              <a:lnSpc>
                <a:spcPct val="100000"/>
              </a:lnSpc>
              <a:spcAft>
                <a:spcPts val="0"/>
              </a:spcAft>
            </a:pPr>
            <a:r>
              <a:rPr sz="950" b="0" i="0">
                <a:solidFill>
                  <a:srgbClr val="6E6E73"/>
                </a:solidFill>
                <a:latin typeface="Helvetica Neue"/>
              </a:rPr>
              <a:t>SecondLook</a:t>
            </a:r>
          </a:p>
        </p:txBody>
      </p:sp>
      <p:sp>
        <p:nvSpPr>
          <p:cNvPr id="38" name="!!bar_bg_3"/>
          <p:cNvSpPr/>
          <p:nvPr/>
        </p:nvSpPr>
        <p:spPr>
          <a:xfrm>
            <a:off x="2926080" y="4480559"/>
            <a:ext cx="3520440" cy="274320"/>
          </a:xfrm>
          <a:prstGeom prst="roundRect">
            <a:avLst>
              <a:gd name="adj" fmla="val 50000"/>
            </a:avLst>
          </a:prstGeom>
          <a:solidFill>
            <a:srgbClr val="F5F5F7"/>
          </a:solidFill>
          <a:ln>
            <a:noFill/>
          </a:ln>
          <a:effectLst/>
        </p:spPr>
        <p:txBody>
          <a:bodyPr rtlCol="0" anchor="ctr"/>
          <a:lstStyle/>
          <a:p>
            <a:pPr algn="ctr"/>
          </a:p>
        </p:txBody>
      </p:sp>
      <p:sp>
        <p:nvSpPr>
          <p:cNvPr id="39" name="!!bar_3"/>
          <p:cNvSpPr/>
          <p:nvPr/>
        </p:nvSpPr>
        <p:spPr>
          <a:xfrm>
            <a:off x="2926080" y="4480559"/>
            <a:ext cx="1617849" cy="274320"/>
          </a:xfrm>
          <a:prstGeom prst="roundRect">
            <a:avLst>
              <a:gd name="adj" fmla="val 50000"/>
            </a:avLst>
          </a:prstGeom>
          <a:solidFill>
            <a:srgbClr val="9B7BEA"/>
          </a:solidFill>
          <a:ln>
            <a:noFill/>
          </a:ln>
          <a:effectLst/>
        </p:spPr>
        <p:txBody>
          <a:bodyPr rtlCol="0" anchor="ctr"/>
          <a:lstStyle/>
          <a:p>
            <a:pPr algn="ctr"/>
          </a:p>
        </p:txBody>
      </p:sp>
      <p:sp>
        <p:nvSpPr>
          <p:cNvPr id="40" name="!!bar_val_3"/>
          <p:cNvSpPr txBox="1"/>
          <p:nvPr/>
        </p:nvSpPr>
        <p:spPr>
          <a:xfrm>
            <a:off x="6510528" y="446227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$75K</a:t>
            </a:r>
          </a:p>
        </p:txBody>
      </p:sp>
      <p:sp>
        <p:nvSpPr>
          <p:cNvPr id="41" name="TextBox 40"/>
          <p:cNvSpPr txBox="1"/>
          <p:nvPr/>
        </p:nvSpPr>
        <p:spPr>
          <a:xfrm>
            <a:off x="777240" y="4937760"/>
            <a:ext cx="21031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Sellers retained</a:t>
            </a:r>
          </a:p>
          <a:p>
            <a:pPr algn="l">
              <a:lnSpc>
                <a:spcPct val="100000"/>
              </a:lnSpc>
              <a:spcAft>
                <a:spcPts val="0"/>
              </a:spcAft>
            </a:pPr>
            <a:r>
              <a:rPr sz="950" b="0" i="0">
                <a:solidFill>
                  <a:srgbClr val="6E6E73"/>
                </a:solidFill>
                <a:latin typeface="Helvetica Neue"/>
              </a:rPr>
              <a:t>BestExit</a:t>
            </a:r>
          </a:p>
        </p:txBody>
      </p:sp>
      <p:sp>
        <p:nvSpPr>
          <p:cNvPr id="42" name="!!bar_bg_4"/>
          <p:cNvSpPr/>
          <p:nvPr/>
        </p:nvSpPr>
        <p:spPr>
          <a:xfrm>
            <a:off x="2926080" y="5029200"/>
            <a:ext cx="3520440" cy="274320"/>
          </a:xfrm>
          <a:prstGeom prst="roundRect">
            <a:avLst>
              <a:gd name="adj" fmla="val 50000"/>
            </a:avLst>
          </a:prstGeom>
          <a:solidFill>
            <a:srgbClr val="F5F5F7"/>
          </a:solidFill>
          <a:ln>
            <a:noFill/>
          </a:ln>
          <a:effectLst/>
        </p:spPr>
        <p:txBody>
          <a:bodyPr rtlCol="0" anchor="ctr"/>
          <a:lstStyle/>
          <a:p>
            <a:pPr algn="ctr"/>
          </a:p>
        </p:txBody>
      </p:sp>
      <p:sp>
        <p:nvSpPr>
          <p:cNvPr id="43" name="!!bar_4"/>
          <p:cNvSpPr/>
          <p:nvPr/>
        </p:nvSpPr>
        <p:spPr>
          <a:xfrm>
            <a:off x="2926080" y="5029200"/>
            <a:ext cx="3343555" cy="274320"/>
          </a:xfrm>
          <a:prstGeom prst="roundRect">
            <a:avLst>
              <a:gd name="adj" fmla="val 50000"/>
            </a:avLst>
          </a:prstGeom>
          <a:solidFill>
            <a:srgbClr val="34C759"/>
          </a:solidFill>
          <a:ln>
            <a:noFill/>
          </a:ln>
          <a:effectLst/>
        </p:spPr>
        <p:txBody>
          <a:bodyPr rtlCol="0" anchor="ctr"/>
          <a:lstStyle/>
          <a:p>
            <a:pPr algn="ctr"/>
          </a:p>
        </p:txBody>
      </p:sp>
      <p:sp>
        <p:nvSpPr>
          <p:cNvPr id="44" name="!!bar_val_4"/>
          <p:cNvSpPr txBox="1"/>
          <p:nvPr/>
        </p:nvSpPr>
        <p:spPr>
          <a:xfrm>
            <a:off x="6510528" y="5010912"/>
            <a:ext cx="1051560" cy="292608"/>
          </a:xfrm>
          <a:prstGeom prst="rect">
            <a:avLst/>
          </a:prstGeom>
          <a:noFill/>
        </p:spPr>
        <p:txBody>
          <a:bodyPr wrap="square" lIns="0" rIns="0" tIns="0" bIns="0" anchor="t">
            <a:noAutofit/>
          </a:bodyPr>
          <a:lstStyle/>
          <a:p>
            <a:pPr algn="r">
              <a:lnSpc>
                <a:spcPct val="112000"/>
              </a:lnSpc>
              <a:spcAft>
                <a:spcPts val="0"/>
              </a:spcAft>
            </a:pPr>
            <a:r>
              <a:rPr sz="1250" b="1" i="0">
                <a:solidFill>
                  <a:srgbClr val="1D1D1F"/>
                </a:solidFill>
                <a:latin typeface="Helvetica Neue"/>
              </a:rPr>
              <a:t>$155K</a:t>
            </a:r>
          </a:p>
        </p:txBody>
      </p:sp>
      <p:sp>
        <p:nvSpPr>
          <p:cNvPr id="45" name="Rounded Rectangle 44"/>
          <p:cNvSpPr/>
          <p:nvPr/>
        </p:nvSpPr>
        <p:spPr>
          <a:xfrm>
            <a:off x="777240" y="5532120"/>
            <a:ext cx="6629400" cy="10972"/>
          </a:xfrm>
          <a:prstGeom prst="roundRect">
            <a:avLst>
              <a:gd name="adj" fmla="val 0"/>
            </a:avLst>
          </a:prstGeom>
          <a:solidFill>
            <a:srgbClr val="E3E3E8"/>
          </a:solidFill>
          <a:ln>
            <a:noFill/>
          </a:ln>
          <a:effectLst/>
        </p:spPr>
        <p:txBody>
          <a:bodyPr rtlCol="0" anchor="ctr"/>
          <a:lstStyle/>
          <a:p>
            <a:pPr algn="ctr"/>
          </a:p>
        </p:txBody>
      </p:sp>
      <p:sp>
        <p:nvSpPr>
          <p:cNvPr id="46" name="!!roi_total"/>
          <p:cNvSpPr txBox="1"/>
          <p:nvPr/>
        </p:nvSpPr>
        <p:spPr>
          <a:xfrm>
            <a:off x="777240" y="5623560"/>
            <a:ext cx="2377440" cy="566928"/>
          </a:xfrm>
          <a:prstGeom prst="rect">
            <a:avLst/>
          </a:prstGeom>
          <a:noFill/>
        </p:spPr>
        <p:txBody>
          <a:bodyPr wrap="square" lIns="0" rIns="0" tIns="0" bIns="0" anchor="t">
            <a:noAutofit/>
          </a:bodyPr>
          <a:lstStyle/>
          <a:p>
            <a:pPr algn="l">
              <a:lnSpc>
                <a:spcPct val="100000"/>
              </a:lnSpc>
              <a:spcAft>
                <a:spcPts val="0"/>
              </a:spcAft>
            </a:pPr>
            <a:r>
              <a:rPr sz="1100" b="0" i="0">
                <a:solidFill>
                  <a:srgbClr val="6E6E73"/>
                </a:solidFill>
                <a:latin typeface="Helvetica Neue"/>
              </a:rPr>
              <a:t>Total value / year</a:t>
            </a:r>
          </a:p>
          <a:p>
            <a:pPr algn="l">
              <a:lnSpc>
                <a:spcPct val="100000"/>
              </a:lnSpc>
              <a:spcAft>
                <a:spcPts val="0"/>
              </a:spcAft>
            </a:pPr>
            <a:r>
              <a:rPr sz="2600" b="1" i="0" spc="-50">
                <a:solidFill>
                  <a:srgbClr val="1D1D1F"/>
                </a:solidFill>
                <a:latin typeface="Helvetica Neue"/>
              </a:rPr>
              <a:t>≈ $475K</a:t>
            </a:r>
          </a:p>
        </p:txBody>
      </p:sp>
      <p:sp>
        <p:nvSpPr>
          <p:cNvPr id="47" name="!!roi_per"/>
          <p:cNvSpPr txBox="1"/>
          <p:nvPr/>
        </p:nvSpPr>
        <p:spPr>
          <a:xfrm>
            <a:off x="3154680" y="5623560"/>
            <a:ext cx="2011680" cy="566928"/>
          </a:xfrm>
          <a:prstGeom prst="rect">
            <a:avLst/>
          </a:prstGeom>
          <a:noFill/>
        </p:spPr>
        <p:txBody>
          <a:bodyPr wrap="square" lIns="0" rIns="0" tIns="0" bIns="0" anchor="t">
            <a:noAutofit/>
          </a:bodyPr>
          <a:lstStyle/>
          <a:p>
            <a:pPr algn="l">
              <a:lnSpc>
                <a:spcPct val="100000"/>
              </a:lnSpc>
              <a:spcAft>
                <a:spcPts val="0"/>
              </a:spcAft>
            </a:pPr>
            <a:r>
              <a:rPr sz="1100" b="0" i="0">
                <a:solidFill>
                  <a:srgbClr val="6E6E73"/>
                </a:solidFill>
                <a:latin typeface="Helvetica Neue"/>
              </a:rPr>
              <a:t>Per vehicle</a:t>
            </a:r>
          </a:p>
          <a:p>
            <a:pPr algn="l">
              <a:lnSpc>
                <a:spcPct val="100000"/>
              </a:lnSpc>
              <a:spcAft>
                <a:spcPts val="0"/>
              </a:spcAft>
            </a:pPr>
            <a:r>
              <a:rPr sz="2600" b="1" i="0" spc="-50">
                <a:solidFill>
                  <a:srgbClr val="1D1D1F"/>
                </a:solidFill>
                <a:latin typeface="Helvetica Neue"/>
              </a:rPr>
              <a:t>≈ $48</a:t>
            </a:r>
          </a:p>
        </p:txBody>
      </p:sp>
      <p:sp>
        <p:nvSpPr>
          <p:cNvPr id="48" name="!!roi_insight"/>
          <p:cNvSpPr/>
          <p:nvPr/>
        </p:nvSpPr>
        <p:spPr>
          <a:xfrm>
            <a:off x="5257800" y="5806440"/>
            <a:ext cx="2148840" cy="310896"/>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46% of it is transport</a:t>
            </a:r>
          </a:p>
        </p:txBody>
      </p:sp>
      <p:sp>
        <p:nvSpPr>
          <p:cNvPr id="49" name="!!roi_assume"/>
          <p:cNvSpPr/>
          <p:nvPr/>
        </p:nvSpPr>
        <p:spPr>
          <a:xfrm>
            <a:off x="7882127" y="2560320"/>
            <a:ext cx="3758184" cy="3730752"/>
          </a:xfrm>
          <a:prstGeom prst="roundRect">
            <a:avLst>
              <a:gd name="adj" fmla="val 4901"/>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50" name="!!roi_ass_title"/>
          <p:cNvSpPr txBox="1"/>
          <p:nvPr/>
        </p:nvSpPr>
        <p:spPr>
          <a:xfrm>
            <a:off x="8110727" y="2724912"/>
            <a:ext cx="3291840" cy="274320"/>
          </a:xfrm>
          <a:prstGeom prst="rect">
            <a:avLst/>
          </a:prstGeom>
          <a:noFill/>
        </p:spPr>
        <p:txBody>
          <a:bodyPr wrap="square" lIns="0" rIns="0" tIns="0" bIns="0" anchor="t">
            <a:noAutofit/>
          </a:bodyPr>
          <a:lstStyle/>
          <a:p>
            <a:pPr algn="l">
              <a:lnSpc>
                <a:spcPct val="112000"/>
              </a:lnSpc>
              <a:spcAft>
                <a:spcPts val="0"/>
              </a:spcAft>
            </a:pPr>
            <a:r>
              <a:rPr sz="1350" b="1" i="0">
                <a:solidFill>
                  <a:srgbClr val="1D1D1F"/>
                </a:solidFill>
                <a:latin typeface="Helvetica Neue"/>
              </a:rPr>
              <a:t>Assumptions · Aggressive</a:t>
            </a:r>
          </a:p>
        </p:txBody>
      </p:sp>
      <p:sp>
        <p:nvSpPr>
          <p:cNvPr id="51" name="TextBox 50"/>
          <p:cNvSpPr txBox="1"/>
          <p:nvPr/>
        </p:nvSpPr>
        <p:spPr>
          <a:xfrm>
            <a:off x="8110727" y="3108960"/>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Transport attach (baseline 40%)</a:t>
            </a:r>
          </a:p>
        </p:txBody>
      </p:sp>
      <p:sp>
        <p:nvSpPr>
          <p:cNvPr id="52" name="!!roi_ass_0"/>
          <p:cNvSpPr txBox="1"/>
          <p:nvPr/>
        </p:nvSpPr>
        <p:spPr>
          <a:xfrm>
            <a:off x="10469880" y="3108960"/>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+8 pts</a:t>
            </a:r>
          </a:p>
        </p:txBody>
      </p:sp>
      <p:sp>
        <p:nvSpPr>
          <p:cNvPr id="53" name="TextBox 52"/>
          <p:cNvSpPr txBox="1"/>
          <p:nvPr/>
        </p:nvSpPr>
        <p:spPr>
          <a:xfrm>
            <a:off x="8110727" y="3410712"/>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Avg transport price · margin</a:t>
            </a:r>
          </a:p>
        </p:txBody>
      </p:sp>
      <p:sp>
        <p:nvSpPr>
          <p:cNvPr id="54" name="!!roi_ass_1"/>
          <p:cNvSpPr txBox="1"/>
          <p:nvPr/>
        </p:nvSpPr>
        <p:spPr>
          <a:xfrm>
            <a:off x="10469880" y="3410712"/>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$400 · 18%</a:t>
            </a:r>
          </a:p>
        </p:txBody>
      </p:sp>
      <p:sp>
        <p:nvSpPr>
          <p:cNvPr id="55" name="TextBox 54"/>
          <p:cNvSpPr txBox="1"/>
          <p:nvPr/>
        </p:nvSpPr>
        <p:spPr>
          <a:xfrm>
            <a:off x="8110727" y="3712463"/>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Pooling saving on carrier cost</a:t>
            </a:r>
          </a:p>
        </p:txBody>
      </p:sp>
      <p:sp>
        <p:nvSpPr>
          <p:cNvPr id="56" name="!!roi_ass_2"/>
          <p:cNvSpPr txBox="1"/>
          <p:nvPr/>
        </p:nvSpPr>
        <p:spPr>
          <a:xfrm>
            <a:off x="10469880" y="3712463"/>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10%</a:t>
            </a:r>
          </a:p>
        </p:txBody>
      </p:sp>
      <p:sp>
        <p:nvSpPr>
          <p:cNvPr id="57" name="TextBox 56"/>
          <p:cNvSpPr txBox="1"/>
          <p:nvPr/>
        </p:nvSpPr>
        <p:spPr>
          <a:xfrm>
            <a:off x="8110727" y="4014215"/>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Non-runners among shipments</a:t>
            </a:r>
          </a:p>
        </p:txBody>
      </p:sp>
      <p:sp>
        <p:nvSpPr>
          <p:cNvPr id="58" name="!!roi_ass_3"/>
          <p:cNvSpPr txBox="1"/>
          <p:nvPr/>
        </p:nvSpPr>
        <p:spPr>
          <a:xfrm>
            <a:off x="10469880" y="4014215"/>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15%</a:t>
            </a:r>
          </a:p>
        </p:txBody>
      </p:sp>
      <p:sp>
        <p:nvSpPr>
          <p:cNvPr id="59" name="TextBox 58"/>
          <p:cNvSpPr txBox="1"/>
          <p:nvPr/>
        </p:nvSpPr>
        <p:spPr>
          <a:xfrm>
            <a:off x="8110727" y="4315968"/>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Dry-run rate · cost</a:t>
            </a:r>
          </a:p>
        </p:txBody>
      </p:sp>
      <p:sp>
        <p:nvSpPr>
          <p:cNvPr id="60" name="!!roi_ass_4"/>
          <p:cNvSpPr txBox="1"/>
          <p:nvPr/>
        </p:nvSpPr>
        <p:spPr>
          <a:xfrm>
            <a:off x="10469880" y="4315968"/>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15% · $250</a:t>
            </a:r>
          </a:p>
        </p:txBody>
      </p:sp>
      <p:sp>
        <p:nvSpPr>
          <p:cNvPr id="61" name="TextBox 60"/>
          <p:cNvSpPr txBox="1"/>
          <p:nvPr/>
        </p:nvSpPr>
        <p:spPr>
          <a:xfrm>
            <a:off x="8110727" y="4617720"/>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Dry runs prevented</a:t>
            </a:r>
          </a:p>
        </p:txBody>
      </p:sp>
      <p:sp>
        <p:nvSpPr>
          <p:cNvPr id="62" name="!!roi_ass_5"/>
          <p:cNvSpPr txBox="1"/>
          <p:nvPr/>
        </p:nvSpPr>
        <p:spPr>
          <a:xfrm>
            <a:off x="10469880" y="4617720"/>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90%</a:t>
            </a:r>
          </a:p>
        </p:txBody>
      </p:sp>
      <p:sp>
        <p:nvSpPr>
          <p:cNvPr id="63" name="TextBox 62"/>
          <p:cNvSpPr txBox="1"/>
          <p:nvPr/>
        </p:nvSpPr>
        <p:spPr>
          <a:xfrm>
            <a:off x="8110727" y="4919472"/>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Arbitration rate · cost</a:t>
            </a:r>
          </a:p>
        </p:txBody>
      </p:sp>
      <p:sp>
        <p:nvSpPr>
          <p:cNvPr id="64" name="!!roi_ass_6"/>
          <p:cNvSpPr txBox="1"/>
          <p:nvPr/>
        </p:nvSpPr>
        <p:spPr>
          <a:xfrm>
            <a:off x="10469880" y="4919472"/>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5% · $500</a:t>
            </a:r>
          </a:p>
        </p:txBody>
      </p:sp>
      <p:sp>
        <p:nvSpPr>
          <p:cNvPr id="65" name="TextBox 64"/>
          <p:cNvSpPr txBox="1"/>
          <p:nvPr/>
        </p:nvSpPr>
        <p:spPr>
          <a:xfrm>
            <a:off x="8110727" y="5221224"/>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Arbitrations avoided</a:t>
            </a:r>
          </a:p>
        </p:txBody>
      </p:sp>
      <p:sp>
        <p:nvSpPr>
          <p:cNvPr id="66" name="!!roi_ass_7"/>
          <p:cNvSpPr txBox="1"/>
          <p:nvPr/>
        </p:nvSpPr>
        <p:spPr>
          <a:xfrm>
            <a:off x="10469880" y="5221224"/>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30%</a:t>
            </a:r>
          </a:p>
        </p:txBody>
      </p:sp>
      <p:sp>
        <p:nvSpPr>
          <p:cNvPr id="67" name="TextBox 66"/>
          <p:cNvSpPr txBox="1"/>
          <p:nvPr/>
        </p:nvSpPr>
        <p:spPr>
          <a:xfrm>
            <a:off x="8110727" y="5522976"/>
            <a:ext cx="2514600" cy="274320"/>
          </a:xfrm>
          <a:prstGeom prst="rect">
            <a:avLst/>
          </a:prstGeom>
          <a:noFill/>
        </p:spPr>
        <p:txBody>
          <a:bodyPr wrap="square" lIns="0" rIns="0" tIns="0" bIns="0" anchor="t">
            <a:noAutofit/>
          </a:bodyPr>
          <a:lstStyle/>
          <a:p>
            <a:pPr algn="l">
              <a:lnSpc>
                <a:spcPct val="112000"/>
              </a:lnSpc>
              <a:spcAft>
                <a:spcPts val="0"/>
              </a:spcAft>
            </a:pPr>
            <a:r>
              <a:rPr sz="1050" b="0" i="0">
                <a:solidFill>
                  <a:srgbClr val="6E6E73"/>
                </a:solidFill>
                <a:latin typeface="Helvetica Neue"/>
              </a:rPr>
              <a:t>Sellers retained · fees/car</a:t>
            </a:r>
          </a:p>
        </p:txBody>
      </p:sp>
      <p:sp>
        <p:nvSpPr>
          <p:cNvPr id="68" name="!!roi_ass_8"/>
          <p:cNvSpPr txBox="1"/>
          <p:nvPr/>
        </p:nvSpPr>
        <p:spPr>
          <a:xfrm>
            <a:off x="10469880" y="5522976"/>
            <a:ext cx="1005840" cy="274320"/>
          </a:xfrm>
          <a:prstGeom prst="rect">
            <a:avLst/>
          </a:prstGeom>
          <a:noFill/>
        </p:spPr>
        <p:txBody>
          <a:bodyPr wrap="square" lIns="0" rIns="0" tIns="0" bIns="0" anchor="t">
            <a:noAutofit/>
          </a:bodyPr>
          <a:lstStyle/>
          <a:p>
            <a:pPr algn="r">
              <a:lnSpc>
                <a:spcPct val="112000"/>
              </a:lnSpc>
              <a:spcAft>
                <a:spcPts val="0"/>
              </a:spcAft>
            </a:pPr>
            <a:r>
              <a:rPr sz="1050" b="1" i="0">
                <a:solidFill>
                  <a:srgbClr val="1D1D1F"/>
                </a:solidFill>
                <a:latin typeface="Helvetica Neue"/>
              </a:rPr>
              <a:t>2% · $775</a:t>
            </a:r>
          </a:p>
        </p:txBody>
      </p:sp>
      <p:sp>
        <p:nvSpPr>
          <p:cNvPr id="69" name="TextBox 68"/>
          <p:cNvSpPr txBox="1"/>
          <p:nvPr/>
        </p:nvSpPr>
        <p:spPr>
          <a:xfrm>
            <a:off x="8110727" y="5870448"/>
            <a:ext cx="3383280" cy="365760"/>
          </a:xfrm>
          <a:prstGeom prst="rect">
            <a:avLst/>
          </a:prstGeom>
          <a:noFill/>
        </p:spPr>
        <p:txBody>
          <a:bodyPr wrap="square" lIns="0" rIns="0" tIns="0" bIns="0" anchor="t">
            <a:noAutofit/>
          </a:bodyPr>
          <a:lstStyle/>
          <a:p>
            <a:pPr algn="l">
              <a:lnSpc>
                <a:spcPct val="110000"/>
              </a:lnSpc>
              <a:spcAft>
                <a:spcPts val="0"/>
              </a:spcAft>
            </a:pPr>
            <a:r>
              <a:rPr sz="850" b="0" i="0">
                <a:solidFill>
                  <a:srgbClr val="8E8E93"/>
                </a:solidFill>
                <a:latin typeface="Helvetica Neue"/>
              </a:rPr>
              <a:t>Fees/car = $350 seller + $425 buyer (demo fee table). AI cost: ≈10k tokens per read.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7412583"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10</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Making it real</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How this becomes real.</a:t>
            </a:r>
          </a:p>
        </p:txBody>
      </p:sp>
      <p:sp>
        <p:nvSpPr>
          <p:cNvPr id="18"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Honest about today, concrete about the next 90 days.</a:t>
            </a:r>
          </a:p>
        </p:txBody>
      </p:sp>
      <p:sp>
        <p:nvSpPr>
          <p:cNvPr id="19" name="!!real_today"/>
          <p:cNvSpPr/>
          <p:nvPr/>
        </p:nvSpPr>
        <p:spPr>
          <a:xfrm>
            <a:off x="548640" y="2395728"/>
            <a:ext cx="3611880" cy="3895344"/>
          </a:xfrm>
          <a:prstGeom prst="roundRect">
            <a:avLst>
              <a:gd name="adj" fmla="val 5063"/>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0" name="TextBox 19"/>
          <p:cNvSpPr txBox="1"/>
          <p:nvPr/>
        </p:nvSpPr>
        <p:spPr>
          <a:xfrm>
            <a:off x="777240" y="2560320"/>
            <a:ext cx="3200400" cy="274320"/>
          </a:xfrm>
          <a:prstGeom prst="rect">
            <a:avLst/>
          </a:prstGeom>
          <a:noFill/>
        </p:spPr>
        <p:txBody>
          <a:bodyPr wrap="square" lIns="0" rIns="0" tIns="0" bIns="0" anchor="t">
            <a:noAutofit/>
          </a:bodyPr>
          <a:lstStyle/>
          <a:p>
            <a:pPr algn="l">
              <a:lnSpc>
                <a:spcPct val="112000"/>
              </a:lnSpc>
              <a:spcAft>
                <a:spcPts val="0"/>
              </a:spcAft>
            </a:pPr>
            <a:r>
              <a:rPr sz="1400" b="1" i="0">
                <a:solidFill>
                  <a:srgbClr val="1D1D1F"/>
                </a:solidFill>
                <a:latin typeface="Helvetica Neue"/>
              </a:rPr>
              <a:t>Today, transparently</a:t>
            </a:r>
          </a:p>
        </p:txBody>
      </p:sp>
      <p:sp>
        <p:nvSpPr>
          <p:cNvPr id="21" name="TextBox 20"/>
          <p:cNvSpPr txBox="1"/>
          <p:nvPr/>
        </p:nvSpPr>
        <p:spPr>
          <a:xfrm>
            <a:off x="777240" y="2907792"/>
            <a:ext cx="3200400" cy="228600"/>
          </a:xfrm>
          <a:prstGeom prst="rect">
            <a:avLst/>
          </a:prstGeom>
          <a:noFill/>
        </p:spPr>
        <p:txBody>
          <a:bodyPr wrap="square" lIns="0" rIns="0" tIns="0" bIns="0" anchor="t">
            <a:noAutofit/>
          </a:bodyPr>
          <a:lstStyle/>
          <a:p>
            <a:pPr algn="l">
              <a:lnSpc>
                <a:spcPct val="112000"/>
              </a:lnSpc>
              <a:spcAft>
                <a:spcPts val="0"/>
              </a:spcAft>
            </a:pPr>
            <a:r>
              <a:rPr sz="1000" b="1" i="0" spc="60">
                <a:solidFill>
                  <a:srgbClr val="2F7A4F"/>
                </a:solidFill>
                <a:latin typeface="Helvetica Neue"/>
              </a:rPr>
              <a:t>REAL</a:t>
            </a:r>
          </a:p>
        </p:txBody>
      </p:sp>
      <p:sp>
        <p:nvSpPr>
          <p:cNvPr id="22" name="TextBox 21"/>
          <p:cNvSpPr txBox="1"/>
          <p:nvPr/>
        </p:nvSpPr>
        <p:spPr>
          <a:xfrm>
            <a:off x="777240" y="3136392"/>
            <a:ext cx="3246120" cy="1371600"/>
          </a:xfrm>
          <a:prstGeom prst="rect">
            <a:avLst/>
          </a:prstGeom>
          <a:noFill/>
        </p:spPr>
        <p:txBody>
          <a:bodyPr wrap="square" lIns="0" rIns="0" tIns="0" bIns="0" anchor="t">
            <a:noAutofit/>
          </a:bodyPr>
          <a:lstStyle/>
          <a:p>
            <a:pPr algn="l">
              <a:lnSpc>
                <a:spcPct val="115000"/>
              </a:lnSpc>
              <a:spcAft>
                <a:spcPts val="200"/>
              </a:spcAft>
            </a:pPr>
            <a:r>
              <a:rPr sz="1150" b="1" i="0">
                <a:solidFill>
                  <a:srgbClr val="2F7A4F"/>
                </a:solidFill>
                <a:latin typeface="Helvetica Neue"/>
              </a:rPr>
              <a:t>✓  </a:t>
            </a:r>
            <a:r>
              <a:rPr sz="1150" b="0" i="0">
                <a:solidFill>
                  <a:srgbClr val="1D1D1F"/>
                </a:solidFill>
                <a:latin typeface="Helvetica Neue"/>
              </a:rPr>
              <a:t>Working software, end to end</a:t>
            </a:r>
          </a:p>
          <a:p>
            <a:pPr algn="l">
              <a:lnSpc>
                <a:spcPct val="115000"/>
              </a:lnSpc>
              <a:spcAft>
                <a:spcPts val="200"/>
              </a:spcAft>
            </a:pPr>
            <a:r>
              <a:rPr sz="1150" b="1" i="0">
                <a:solidFill>
                  <a:srgbClr val="2F7A4F"/>
                </a:solidFill>
                <a:latin typeface="Helvetica Neue"/>
              </a:rPr>
              <a:t>✓  </a:t>
            </a:r>
            <a:r>
              <a:rPr sz="1150" b="0" i="0">
                <a:solidFill>
                  <a:srgbClr val="1D1D1F"/>
                </a:solidFill>
                <a:latin typeface="Helvetica Neue"/>
              </a:rPr>
              <a:t>34 automated tests passing</a:t>
            </a:r>
          </a:p>
          <a:p>
            <a:pPr algn="l">
              <a:lnSpc>
                <a:spcPct val="115000"/>
              </a:lnSpc>
              <a:spcAft>
                <a:spcPts val="200"/>
              </a:spcAft>
            </a:pPr>
            <a:r>
              <a:rPr sz="1150" b="1" i="0">
                <a:solidFill>
                  <a:srgbClr val="2F7A4F"/>
                </a:solidFill>
                <a:latin typeface="Helvetica Neue"/>
              </a:rPr>
              <a:t>✓  </a:t>
            </a:r>
            <a:r>
              <a:rPr sz="1150" b="0" i="0">
                <a:solidFill>
                  <a:srgbClr val="1D1D1F"/>
                </a:solidFill>
                <a:latin typeface="Helvetica Neue"/>
              </a:rPr>
              <a:t>Live AI read with citations</a:t>
            </a:r>
          </a:p>
          <a:p>
            <a:pPr algn="l">
              <a:lnSpc>
                <a:spcPct val="115000"/>
              </a:lnSpc>
              <a:spcAft>
                <a:spcPts val="200"/>
              </a:spcAft>
            </a:pPr>
            <a:r>
              <a:rPr sz="1150" b="1" i="0">
                <a:solidFill>
                  <a:srgbClr val="2F7A4F"/>
                </a:solidFill>
                <a:latin typeface="Helvetica Neue"/>
              </a:rPr>
              <a:t>✓  </a:t>
            </a:r>
            <a:r>
              <a:rPr sz="1150" b="0" i="0">
                <a:solidFill>
                  <a:srgbClr val="1D1D1F"/>
                </a:solidFill>
                <a:latin typeface="Helvetica Neue"/>
              </a:rPr>
              <a:t>Deterministic money + routing rules</a:t>
            </a:r>
          </a:p>
        </p:txBody>
      </p:sp>
      <p:sp>
        <p:nvSpPr>
          <p:cNvPr id="23" name="TextBox 22"/>
          <p:cNvSpPr txBox="1"/>
          <p:nvPr/>
        </p:nvSpPr>
        <p:spPr>
          <a:xfrm>
            <a:off x="777240" y="4526280"/>
            <a:ext cx="3200400" cy="228600"/>
          </a:xfrm>
          <a:prstGeom prst="rect">
            <a:avLst/>
          </a:prstGeom>
          <a:noFill/>
        </p:spPr>
        <p:txBody>
          <a:bodyPr wrap="square" lIns="0" rIns="0" tIns="0" bIns="0" anchor="t">
            <a:noAutofit/>
          </a:bodyPr>
          <a:lstStyle/>
          <a:p>
            <a:pPr algn="l">
              <a:lnSpc>
                <a:spcPct val="112000"/>
              </a:lnSpc>
              <a:spcAft>
                <a:spcPts val="0"/>
              </a:spcAft>
            </a:pPr>
            <a:r>
              <a:rPr sz="1000" b="1" i="0" spc="60">
                <a:solidFill>
                  <a:srgbClr val="5E4BB0"/>
                </a:solidFill>
                <a:latin typeface="Helvetica Neue"/>
              </a:rPr>
              <a:t>SIMULATED</a:t>
            </a:r>
          </a:p>
        </p:txBody>
      </p:sp>
      <p:sp>
        <p:nvSpPr>
          <p:cNvPr id="24" name="TextBox 23"/>
          <p:cNvSpPr txBox="1"/>
          <p:nvPr/>
        </p:nvSpPr>
        <p:spPr>
          <a:xfrm>
            <a:off x="777240" y="4754880"/>
            <a:ext cx="3246120" cy="1463040"/>
          </a:xfrm>
          <a:prstGeom prst="rect">
            <a:avLst/>
          </a:prstGeom>
          <a:noFill/>
        </p:spPr>
        <p:txBody>
          <a:bodyPr wrap="square" lIns="0" rIns="0" tIns="0" bIns="0" anchor="t">
            <a:noAutofit/>
          </a:bodyPr>
          <a:lstStyle/>
          <a:p>
            <a:pPr algn="l">
              <a:lnSpc>
                <a:spcPct val="115000"/>
              </a:lnSpc>
              <a:spcAft>
                <a:spcPts val="200"/>
              </a:spcAft>
            </a:pPr>
            <a:r>
              <a:rPr sz="1150" b="1" i="0">
                <a:solidFill>
                  <a:srgbClr val="5E4BB0"/>
                </a:solidFill>
                <a:latin typeface="Helvetica Neue"/>
              </a:rPr>
              <a:t>○  </a:t>
            </a:r>
            <a:r>
              <a:rPr sz="1150" b="0" i="0">
                <a:solidFill>
                  <a:srgbClr val="1D1D1F"/>
                </a:solidFill>
                <a:latin typeface="Helvetica Neue"/>
              </a:rPr>
              <a:t>Vehicles, fees, carriers, prices</a:t>
            </a:r>
          </a:p>
          <a:p>
            <a:pPr algn="l">
              <a:lnSpc>
                <a:spcPct val="115000"/>
              </a:lnSpc>
              <a:spcAft>
                <a:spcPts val="200"/>
              </a:spcAft>
            </a:pPr>
            <a:r>
              <a:rPr sz="1150" b="1" i="0">
                <a:solidFill>
                  <a:srgbClr val="5E4BB0"/>
                </a:solidFill>
                <a:latin typeface="Helvetica Neue"/>
              </a:rPr>
              <a:t>○  </a:t>
            </a:r>
            <a:r>
              <a:rPr sz="1150" b="0" i="0">
                <a:solidFill>
                  <a:srgbClr val="1D1D1F"/>
                </a:solidFill>
                <a:latin typeface="Helvetica Neue"/>
              </a:rPr>
              <a:t>The ACV + Copart combination (announced, not closed)</a:t>
            </a:r>
          </a:p>
          <a:p>
            <a:pPr algn="l">
              <a:lnSpc>
                <a:spcPct val="115000"/>
              </a:lnSpc>
              <a:spcAft>
                <a:spcPts val="200"/>
              </a:spcAft>
            </a:pPr>
            <a:r>
              <a:rPr sz="1150" b="1" i="0">
                <a:solidFill>
                  <a:srgbClr val="5E4BB0"/>
                </a:solidFill>
                <a:latin typeface="Helvetica Neue"/>
              </a:rPr>
              <a:t>○  </a:t>
            </a:r>
            <a:r>
              <a:rPr sz="1150" b="0" i="0">
                <a:solidFill>
                  <a:srgbClr val="1D1D1F"/>
                </a:solidFill>
                <a:latin typeface="Helvetica Neue"/>
              </a:rPr>
              <a:t>No real bids, payments or dispatch</a:t>
            </a:r>
          </a:p>
        </p:txBody>
      </p:sp>
      <p:sp>
        <p:nvSpPr>
          <p:cNvPr id="25" name="!!real_pilot"/>
          <p:cNvSpPr/>
          <p:nvPr/>
        </p:nvSpPr>
        <p:spPr>
          <a:xfrm>
            <a:off x="4343400" y="2395728"/>
            <a:ext cx="4526280" cy="3895344"/>
          </a:xfrm>
          <a:prstGeom prst="roundRect">
            <a:avLst>
              <a:gd name="adj" fmla="val 4694"/>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6" name="TextBox 25"/>
          <p:cNvSpPr txBox="1"/>
          <p:nvPr/>
        </p:nvSpPr>
        <p:spPr>
          <a:xfrm>
            <a:off x="4572000" y="2560320"/>
            <a:ext cx="4114800" cy="274320"/>
          </a:xfrm>
          <a:prstGeom prst="rect">
            <a:avLst/>
          </a:prstGeom>
          <a:noFill/>
        </p:spPr>
        <p:txBody>
          <a:bodyPr wrap="square" lIns="0" rIns="0" tIns="0" bIns="0" anchor="t">
            <a:noAutofit/>
          </a:bodyPr>
          <a:lstStyle/>
          <a:p>
            <a:pPr algn="l">
              <a:lnSpc>
                <a:spcPct val="112000"/>
              </a:lnSpc>
              <a:spcAft>
                <a:spcPts val="0"/>
              </a:spcAft>
            </a:pPr>
            <a:r>
              <a:rPr sz="1400" b="1" i="0">
                <a:solidFill>
                  <a:srgbClr val="1D1D1F"/>
                </a:solidFill>
                <a:latin typeface="Helvetica Neue"/>
              </a:rPr>
              <a:t>90-day pilot, one region</a:t>
            </a:r>
          </a:p>
        </p:txBody>
      </p:sp>
      <p:sp>
        <p:nvSpPr>
          <p:cNvPr id="27" name="Oval 26"/>
          <p:cNvSpPr/>
          <p:nvPr/>
        </p:nvSpPr>
        <p:spPr>
          <a:xfrm>
            <a:off x="4572000" y="2962656"/>
            <a:ext cx="329184" cy="329184"/>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100" b="1" i="0">
                <a:solidFill>
                  <a:srgbClr val="FFFFFF"/>
                </a:solidFill>
                <a:latin typeface="Helvetica Neue"/>
              </a:rPr>
              <a:t>1</a:t>
            </a:r>
          </a:p>
        </p:txBody>
      </p:sp>
      <p:sp>
        <p:nvSpPr>
          <p:cNvPr id="28" name="Rounded Rectangle 27"/>
          <p:cNvSpPr/>
          <p:nvPr/>
        </p:nvSpPr>
        <p:spPr>
          <a:xfrm>
            <a:off x="4722876" y="3310128"/>
            <a:ext cx="27432" cy="502920"/>
          </a:xfrm>
          <a:prstGeom prst="roundRect">
            <a:avLst>
              <a:gd name="adj" fmla="val 0"/>
            </a:avLst>
          </a:prstGeom>
          <a:solidFill>
            <a:srgbClr val="B8C8EE"/>
          </a:solidFill>
          <a:ln>
            <a:noFill/>
          </a:ln>
          <a:effectLst/>
        </p:spPr>
        <p:txBody>
          <a:bodyPr rtlCol="0" anchor="ctr"/>
          <a:lstStyle/>
          <a:p>
            <a:pPr algn="ctr"/>
          </a:p>
        </p:txBody>
      </p:sp>
      <p:sp>
        <p:nvSpPr>
          <p:cNvPr id="29" name="TextBox 28"/>
          <p:cNvSpPr txBox="1"/>
          <p:nvPr/>
        </p:nvSpPr>
        <p:spPr>
          <a:xfrm>
            <a:off x="5029200" y="2926080"/>
            <a:ext cx="3703320" cy="822960"/>
          </a:xfrm>
          <a:prstGeom prst="rect">
            <a:avLst/>
          </a:prstGeom>
          <a:noFill/>
        </p:spPr>
        <p:txBody>
          <a:bodyPr wrap="square" lIns="0" rIns="0" tIns="0" bIns="0" anchor="t">
            <a:noAutofit/>
          </a:bodyPr>
          <a:lstStyle/>
          <a:p>
            <a:pPr algn="l">
              <a:lnSpc>
                <a:spcPct val="108000"/>
              </a:lnSpc>
              <a:spcAft>
                <a:spcPts val="0"/>
              </a:spcAft>
            </a:pPr>
            <a:r>
              <a:rPr sz="1250" b="1" i="0">
                <a:solidFill>
                  <a:srgbClr val="2560D6"/>
                </a:solidFill>
                <a:latin typeface="Helvetica Neue"/>
              </a:rPr>
              <a:t>Weeks 1–4 · </a:t>
            </a:r>
            <a:r>
              <a:rPr sz="1250" b="1" i="0">
                <a:solidFill>
                  <a:srgbClr val="1D1D1F"/>
                </a:solidFill>
                <a:latin typeface="Helvetica Neue"/>
              </a:rPr>
              <a:t>Connect read-only</a:t>
            </a:r>
          </a:p>
          <a:p>
            <a:pPr algn="l">
              <a:lnSpc>
                <a:spcPct val="108000"/>
              </a:lnSpc>
              <a:spcAft>
                <a:spcPts val="0"/>
              </a:spcAft>
            </a:pPr>
            <a:r>
              <a:rPr sz="1050" b="0" i="0">
                <a:solidFill>
                  <a:srgbClr val="6E6E73"/>
                </a:solidFill>
                <a:latin typeface="Helvetica Neue"/>
              </a:rPr>
              <a:t>Listings, condition reports, transport orders, fee tables. Real adapters behind the same contracts.</a:t>
            </a:r>
          </a:p>
        </p:txBody>
      </p:sp>
      <p:sp>
        <p:nvSpPr>
          <p:cNvPr id="30" name="Oval 29"/>
          <p:cNvSpPr/>
          <p:nvPr/>
        </p:nvSpPr>
        <p:spPr>
          <a:xfrm>
            <a:off x="4572000" y="3831335"/>
            <a:ext cx="329184" cy="329184"/>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100" b="1" i="0">
                <a:solidFill>
                  <a:srgbClr val="FFFFFF"/>
                </a:solidFill>
                <a:latin typeface="Helvetica Neue"/>
              </a:rPr>
              <a:t>2</a:t>
            </a:r>
          </a:p>
        </p:txBody>
      </p:sp>
      <p:sp>
        <p:nvSpPr>
          <p:cNvPr id="31" name="Rounded Rectangle 30"/>
          <p:cNvSpPr/>
          <p:nvPr/>
        </p:nvSpPr>
        <p:spPr>
          <a:xfrm>
            <a:off x="4722876" y="4178808"/>
            <a:ext cx="27432" cy="502920"/>
          </a:xfrm>
          <a:prstGeom prst="roundRect">
            <a:avLst>
              <a:gd name="adj" fmla="val 0"/>
            </a:avLst>
          </a:prstGeom>
          <a:solidFill>
            <a:srgbClr val="B8C8EE"/>
          </a:solidFill>
          <a:ln>
            <a:noFill/>
          </a:ln>
          <a:effectLst/>
        </p:spPr>
        <p:txBody>
          <a:bodyPr rtlCol="0" anchor="ctr"/>
          <a:lstStyle/>
          <a:p>
            <a:pPr algn="ctr"/>
          </a:p>
        </p:txBody>
      </p:sp>
      <p:sp>
        <p:nvSpPr>
          <p:cNvPr id="32" name="TextBox 31"/>
          <p:cNvSpPr txBox="1"/>
          <p:nvPr/>
        </p:nvSpPr>
        <p:spPr>
          <a:xfrm>
            <a:off x="5029200" y="3794760"/>
            <a:ext cx="3703320" cy="822960"/>
          </a:xfrm>
          <a:prstGeom prst="rect">
            <a:avLst/>
          </a:prstGeom>
          <a:noFill/>
        </p:spPr>
        <p:txBody>
          <a:bodyPr wrap="square" lIns="0" rIns="0" tIns="0" bIns="0" anchor="t">
            <a:noAutofit/>
          </a:bodyPr>
          <a:lstStyle/>
          <a:p>
            <a:pPr algn="l">
              <a:lnSpc>
                <a:spcPct val="108000"/>
              </a:lnSpc>
              <a:spcAft>
                <a:spcPts val="0"/>
              </a:spcAft>
            </a:pPr>
            <a:r>
              <a:rPr sz="1250" b="1" i="0">
                <a:solidFill>
                  <a:srgbClr val="2560D6"/>
                </a:solidFill>
                <a:latin typeface="Helvetica Neue"/>
              </a:rPr>
              <a:t>Weeks 5–8 · </a:t>
            </a:r>
            <a:r>
              <a:rPr sz="1250" b="1" i="0">
                <a:solidFill>
                  <a:srgbClr val="1D1D1F"/>
                </a:solidFill>
                <a:latin typeface="Helvetica Neue"/>
              </a:rPr>
              <a:t>Shadow mode</a:t>
            </a:r>
          </a:p>
          <a:p>
            <a:pPr algn="l">
              <a:lnSpc>
                <a:spcPct val="108000"/>
              </a:lnSpc>
              <a:spcAft>
                <a:spcPts val="0"/>
              </a:spcAft>
            </a:pPr>
            <a:r>
              <a:rPr sz="1050" b="0" i="0">
                <a:solidFill>
                  <a:srgbClr val="6E6E73"/>
                </a:solidFill>
                <a:latin typeface="Helvetica Neue"/>
              </a:rPr>
              <a:t>VehicleOS recommends, people decide. Measure attach, dry runs, arbitrations.</a:t>
            </a:r>
          </a:p>
        </p:txBody>
      </p:sp>
      <p:sp>
        <p:nvSpPr>
          <p:cNvPr id="33" name="Oval 32"/>
          <p:cNvSpPr/>
          <p:nvPr/>
        </p:nvSpPr>
        <p:spPr>
          <a:xfrm>
            <a:off x="4572000" y="4700016"/>
            <a:ext cx="329184" cy="329184"/>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100" b="1" i="0">
                <a:solidFill>
                  <a:srgbClr val="FFFFFF"/>
                </a:solidFill>
                <a:latin typeface="Helvetica Neue"/>
              </a:rPr>
              <a:t>3</a:t>
            </a:r>
          </a:p>
        </p:txBody>
      </p:sp>
      <p:sp>
        <p:nvSpPr>
          <p:cNvPr id="34" name="TextBox 33"/>
          <p:cNvSpPr txBox="1"/>
          <p:nvPr/>
        </p:nvSpPr>
        <p:spPr>
          <a:xfrm>
            <a:off x="5029200" y="4663440"/>
            <a:ext cx="3703320" cy="822960"/>
          </a:xfrm>
          <a:prstGeom prst="rect">
            <a:avLst/>
          </a:prstGeom>
          <a:noFill/>
        </p:spPr>
        <p:txBody>
          <a:bodyPr wrap="square" lIns="0" rIns="0" tIns="0" bIns="0" anchor="t">
            <a:noAutofit/>
          </a:bodyPr>
          <a:lstStyle/>
          <a:p>
            <a:pPr algn="l">
              <a:lnSpc>
                <a:spcPct val="108000"/>
              </a:lnSpc>
              <a:spcAft>
                <a:spcPts val="0"/>
              </a:spcAft>
            </a:pPr>
            <a:r>
              <a:rPr sz="1250" b="1" i="0">
                <a:solidFill>
                  <a:srgbClr val="2560D6"/>
                </a:solidFill>
                <a:latin typeface="Helvetica Neue"/>
              </a:rPr>
              <a:t>Weeks 9–12 · </a:t>
            </a:r>
            <a:r>
              <a:rPr sz="1250" b="1" i="0">
                <a:solidFill>
                  <a:srgbClr val="1D1D1F"/>
                </a:solidFill>
                <a:latin typeface="Helvetica Neue"/>
              </a:rPr>
              <a:t>Go live</a:t>
            </a:r>
          </a:p>
          <a:p>
            <a:pPr algn="l">
              <a:lnSpc>
                <a:spcPct val="108000"/>
              </a:lnSpc>
              <a:spcAft>
                <a:spcPts val="0"/>
              </a:spcAft>
            </a:pPr>
            <a:r>
              <a:rPr sz="1050" b="0" i="0">
                <a:solidFill>
                  <a:srgbClr val="6E6E73"/>
                </a:solidFill>
                <a:latin typeface="Helvetica Neue"/>
              </a:rPr>
              <a:t>Checkout transport toggle + LoadLink plans with dispatcher review.</a:t>
            </a:r>
          </a:p>
        </p:txBody>
      </p:sp>
      <p:sp>
        <p:nvSpPr>
          <p:cNvPr id="35" name="Rounded Rectangle 34"/>
          <p:cNvSpPr/>
          <p:nvPr/>
        </p:nvSpPr>
        <p:spPr>
          <a:xfrm>
            <a:off x="4572000" y="5687568"/>
            <a:ext cx="1251966" cy="29260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+5 pts attach</a:t>
            </a:r>
          </a:p>
        </p:txBody>
      </p:sp>
      <p:sp>
        <p:nvSpPr>
          <p:cNvPr id="36" name="Rounded Rectangle 35"/>
          <p:cNvSpPr/>
          <p:nvPr/>
        </p:nvSpPr>
        <p:spPr>
          <a:xfrm>
            <a:off x="5878830" y="5687568"/>
            <a:ext cx="1251966" cy="29260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−50% dry runs</a:t>
            </a:r>
          </a:p>
        </p:txBody>
      </p:sp>
      <p:sp>
        <p:nvSpPr>
          <p:cNvPr id="37" name="Rounded Rectangle 36"/>
          <p:cNvSpPr/>
          <p:nvPr/>
        </p:nvSpPr>
        <p:spPr>
          <a:xfrm>
            <a:off x="7185660" y="5687568"/>
            <a:ext cx="1541526" cy="29260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−20% arbitrations</a:t>
            </a:r>
          </a:p>
        </p:txBody>
      </p:sp>
      <p:sp>
        <p:nvSpPr>
          <p:cNvPr id="38" name="TextBox 37"/>
          <p:cNvSpPr txBox="1"/>
          <p:nvPr/>
        </p:nvSpPr>
        <p:spPr>
          <a:xfrm>
            <a:off x="4572000" y="6035040"/>
            <a:ext cx="4114800" cy="201168"/>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Target metrics for the go / no-go</a:t>
            </a:r>
          </a:p>
        </p:txBody>
      </p:sp>
      <p:sp>
        <p:nvSpPr>
          <p:cNvPr id="39" name="!!real_cases"/>
          <p:cNvSpPr/>
          <p:nvPr/>
        </p:nvSpPr>
        <p:spPr>
          <a:xfrm>
            <a:off x="9052560" y="2395728"/>
            <a:ext cx="2587752" cy="3895344"/>
          </a:xfrm>
          <a:prstGeom prst="roundRect">
            <a:avLst>
              <a:gd name="adj" fmla="val 7067"/>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0" name="TextBox 39"/>
          <p:cNvSpPr txBox="1"/>
          <p:nvPr/>
        </p:nvSpPr>
        <p:spPr>
          <a:xfrm>
            <a:off x="9253728" y="2560320"/>
            <a:ext cx="2286000" cy="274320"/>
          </a:xfrm>
          <a:prstGeom prst="rect">
            <a:avLst/>
          </a:prstGeom>
          <a:noFill/>
        </p:spPr>
        <p:txBody>
          <a:bodyPr wrap="square" lIns="0" rIns="0" tIns="0" bIns="0" anchor="t">
            <a:noAutofit/>
          </a:bodyPr>
          <a:lstStyle/>
          <a:p>
            <a:pPr algn="l">
              <a:lnSpc>
                <a:spcPct val="112000"/>
              </a:lnSpc>
              <a:spcAft>
                <a:spcPts val="0"/>
              </a:spcAft>
            </a:pPr>
            <a:r>
              <a:rPr sz="1400" b="1" i="0">
                <a:solidFill>
                  <a:srgbClr val="1D1D1F"/>
                </a:solidFill>
                <a:latin typeface="Helvetica Neue"/>
              </a:rPr>
              <a:t>More use cases</a:t>
            </a:r>
          </a:p>
        </p:txBody>
      </p:sp>
      <p:sp>
        <p:nvSpPr>
          <p:cNvPr id="41" name="TextBox 40"/>
          <p:cNvSpPr txBox="1"/>
          <p:nvPr/>
        </p:nvSpPr>
        <p:spPr>
          <a:xfrm>
            <a:off x="9253728" y="2926080"/>
            <a:ext cx="2286000" cy="2651760"/>
          </a:xfrm>
          <a:prstGeom prst="rect">
            <a:avLst/>
          </a:prstGeom>
          <a:noFill/>
        </p:spPr>
        <p:txBody>
          <a:bodyPr wrap="square" lIns="0" rIns="0" tIns="0" bIns="0" anchor="t">
            <a:noAutofit/>
          </a:bodyPr>
          <a:lstStyle/>
          <a:p>
            <a:pPr algn="l">
              <a:lnSpc>
                <a:spcPct val="115000"/>
              </a:lnSpc>
              <a:spcAft>
                <a:spcPts val="400"/>
              </a:spcAft>
            </a:pPr>
            <a:r>
              <a:rPr sz="1150" b="1" i="0">
                <a:solidFill>
                  <a:srgbClr val="2560D6"/>
                </a:solidFill>
                <a:latin typeface="Helvetica Neue"/>
              </a:rPr>
              <a:t>→  </a:t>
            </a:r>
            <a:r>
              <a:rPr sz="1150" b="0" i="0">
                <a:solidFill>
                  <a:srgbClr val="1D1D1F"/>
                </a:solidFill>
                <a:latin typeface="Helvetica Neue"/>
              </a:rPr>
              <a:t>Fleet &amp; lease returns</a:t>
            </a:r>
          </a:p>
          <a:p>
            <a:pPr algn="l">
              <a:lnSpc>
                <a:spcPct val="115000"/>
              </a:lnSpc>
              <a:spcAft>
                <a:spcPts val="400"/>
              </a:spcAft>
            </a:pPr>
            <a:r>
              <a:rPr sz="1150" b="1" i="0">
                <a:solidFill>
                  <a:srgbClr val="2560D6"/>
                </a:solidFill>
                <a:latin typeface="Helvetica Neue"/>
              </a:rPr>
              <a:t>→  </a:t>
            </a:r>
            <a:r>
              <a:rPr sz="1150" b="0" i="0">
                <a:solidFill>
                  <a:srgbClr val="1D1D1F"/>
                </a:solidFill>
                <a:latin typeface="Helvetica Neue"/>
              </a:rPr>
              <a:t>Insurance total-loss</a:t>
            </a:r>
          </a:p>
          <a:p>
            <a:pPr algn="l">
              <a:lnSpc>
                <a:spcPct val="115000"/>
              </a:lnSpc>
              <a:spcAft>
                <a:spcPts val="400"/>
              </a:spcAft>
            </a:pPr>
            <a:r>
              <a:rPr sz="1150" b="1" i="0">
                <a:solidFill>
                  <a:srgbClr val="2560D6"/>
                </a:solidFill>
                <a:latin typeface="Helvetica Neue"/>
              </a:rPr>
              <a:t>→  </a:t>
            </a:r>
            <a:r>
              <a:rPr sz="1150" b="0" i="0">
                <a:solidFill>
                  <a:srgbClr val="1D1D1F"/>
                </a:solidFill>
                <a:latin typeface="Helvetica Neue"/>
              </a:rPr>
              <a:t>Dealer trade-in non-runners</a:t>
            </a:r>
          </a:p>
          <a:p>
            <a:pPr algn="l">
              <a:lnSpc>
                <a:spcPct val="115000"/>
              </a:lnSpc>
              <a:spcAft>
                <a:spcPts val="400"/>
              </a:spcAft>
            </a:pPr>
            <a:r>
              <a:rPr sz="1150" b="1" i="0">
                <a:solidFill>
                  <a:srgbClr val="2560D6"/>
                </a:solidFill>
                <a:latin typeface="Helvetica Neue"/>
              </a:rPr>
              <a:t>→  </a:t>
            </a:r>
            <a:r>
              <a:rPr sz="1150" b="0" i="0">
                <a:solidFill>
                  <a:srgbClr val="1D1D1F"/>
                </a:solidFill>
                <a:latin typeface="Helvetica Neue"/>
              </a:rPr>
              <a:t>Rental defleet surges</a:t>
            </a:r>
          </a:p>
          <a:p>
            <a:pPr algn="l">
              <a:lnSpc>
                <a:spcPct val="115000"/>
              </a:lnSpc>
              <a:spcAft>
                <a:spcPts val="400"/>
              </a:spcAft>
            </a:pPr>
            <a:r>
              <a:rPr sz="1150" b="1" i="0">
                <a:solidFill>
                  <a:srgbClr val="2560D6"/>
                </a:solidFill>
                <a:latin typeface="Helvetica Neue"/>
              </a:rPr>
              <a:t>→  </a:t>
            </a:r>
            <a:r>
              <a:rPr sz="1150" b="0" i="0">
                <a:solidFill>
                  <a:srgbClr val="1D1D1F"/>
                </a:solidFill>
                <a:latin typeface="Helvetica Neue"/>
              </a:rPr>
              <a:t>Export buyers</a:t>
            </a:r>
          </a:p>
          <a:p>
            <a:pPr algn="l">
              <a:lnSpc>
                <a:spcPct val="115000"/>
              </a:lnSpc>
              <a:spcAft>
                <a:spcPts val="400"/>
              </a:spcAft>
            </a:pPr>
            <a:r>
              <a:rPr sz="1150" b="1" i="0">
                <a:solidFill>
                  <a:srgbClr val="2560D6"/>
                </a:solidFill>
                <a:latin typeface="Helvetica Neue"/>
              </a:rPr>
              <a:t>→  </a:t>
            </a:r>
            <a:r>
              <a:rPr sz="1150" b="0" i="0">
                <a:solidFill>
                  <a:srgbClr val="1D1D1F"/>
                </a:solidFill>
                <a:latin typeface="Helvetica Neue"/>
              </a:rPr>
              <a:t>Parts harvesting (P3)</a:t>
            </a:r>
          </a:p>
        </p:txBody>
      </p:sp>
      <p:sp>
        <p:nvSpPr>
          <p:cNvPr id="42" name="Rounded Rectangle 41">
            <a:hlinkClick action="ppaction://hlinksldjump" r:id="rId11"/>
          </p:cNvPr>
          <p:cNvSpPr/>
          <p:nvPr/>
        </p:nvSpPr>
        <p:spPr>
          <a:xfrm>
            <a:off x="9253728" y="5760720"/>
            <a:ext cx="2194560"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See how each works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hero"/>
          <p:cNvSpPr txBox="1"/>
          <p:nvPr/>
        </p:nvSpPr>
        <p:spPr>
          <a:xfrm>
            <a:off x="731520" y="1417320"/>
            <a:ext cx="10698480" cy="2926080"/>
          </a:xfrm>
          <a:prstGeom prst="rect">
            <a:avLst/>
          </a:prstGeom>
          <a:noFill/>
        </p:spPr>
        <p:txBody>
          <a:bodyPr wrap="square" lIns="0" rIns="0" tIns="0" bIns="0" anchor="t">
            <a:noAutofit/>
          </a:bodyPr>
          <a:lstStyle/>
          <a:p>
            <a:pPr algn="l">
              <a:lnSpc>
                <a:spcPct val="100000"/>
              </a:lnSpc>
              <a:spcAft>
                <a:spcPts val="0"/>
              </a:spcAft>
            </a:pPr>
            <a:r>
              <a:rPr sz="6000" b="1" i="0" spc="-160">
                <a:solidFill>
                  <a:srgbClr val="1D1D1F"/>
                </a:solidFill>
                <a:latin typeface="Helvetica Neue"/>
              </a:rPr>
              <a:t>One record.</a:t>
            </a:r>
          </a:p>
          <a:p>
            <a:pPr algn="l">
              <a:lnSpc>
                <a:spcPct val="100000"/>
              </a:lnSpc>
              <a:spcAft>
                <a:spcPts val="0"/>
              </a:spcAft>
            </a:pPr>
            <a:r>
              <a:rPr sz="6000" b="1" i="0" spc="-160">
                <a:solidFill>
                  <a:srgbClr val="1D1D1F"/>
                </a:solidFill>
                <a:latin typeface="Helvetica Neue"/>
              </a:rPr>
              <a:t>Honest numbers.</a:t>
            </a:r>
          </a:p>
          <a:p>
            <a:pPr algn="l">
              <a:lnSpc>
                <a:spcPct val="100000"/>
              </a:lnSpc>
              <a:spcAft>
                <a:spcPts val="0"/>
              </a:spcAft>
            </a:pPr>
            <a:r>
              <a:rPr sz="6000" b="1" i="0" spc="-160">
                <a:solidFill>
                  <a:srgbClr val="2F6BE6"/>
                </a:solidFill>
                <a:latin typeface="Helvetica Neue"/>
              </a:rPr>
              <a:t>Money that shows up.</a:t>
            </a:r>
          </a:p>
        </p:txBody>
      </p:sp>
      <p:sp>
        <p:nvSpPr>
          <p:cNvPr id="3" name="TextBox 2"/>
          <p:cNvSpPr txBox="1"/>
          <p:nvPr/>
        </p:nvSpPr>
        <p:spPr>
          <a:xfrm>
            <a:off x="731520" y="4343400"/>
            <a:ext cx="8229600" cy="457200"/>
          </a:xfrm>
          <a:prstGeom prst="rect">
            <a:avLst/>
          </a:prstGeom>
          <a:noFill/>
        </p:spPr>
        <p:txBody>
          <a:bodyPr wrap="square" lIns="0" rIns="0" tIns="0" bIns="0" anchor="t">
            <a:noAutofit/>
          </a:bodyPr>
          <a:lstStyle/>
          <a:p>
            <a:pPr algn="l">
              <a:lnSpc>
                <a:spcPct val="112000"/>
              </a:lnSpc>
              <a:spcAft>
                <a:spcPts val="0"/>
              </a:spcAft>
            </a:pPr>
            <a:r>
              <a:rPr sz="1800" b="0" i="0">
                <a:solidFill>
                  <a:srgbClr val="6E6E73"/>
                </a:solidFill>
                <a:latin typeface="Helvetica Neue"/>
              </a:rPr>
              <a:t>VehicleOS · value it, inspect it, sell it, deliver it, on one shared record.</a:t>
            </a:r>
          </a:p>
        </p:txBody>
      </p:sp>
      <p:sp>
        <p:nvSpPr>
          <p:cNvPr id="4" name="Rounded Rectangle 3">
            <a:hlinkClick r:id="rId2"/>
          </p:cNvPr>
          <p:cNvSpPr/>
          <p:nvPr/>
        </p:nvSpPr>
        <p:spPr>
          <a:xfrm>
            <a:off x="731520" y="5120640"/>
            <a:ext cx="2057400" cy="493776"/>
          </a:xfrm>
          <a:prstGeom prst="roundRect">
            <a:avLst>
              <a:gd name="adj" fmla="val 50000"/>
            </a:avLst>
          </a:prstGeom>
          <a:solidFill>
            <a:srgbClr val="2F6BE6"/>
          </a:solidFill>
          <a:ln>
            <a:noFill/>
          </a:ln>
          <a:effectLst/>
        </p:spPr>
        <p:txBody>
          <a:bodyPr rtlCol="0" anchor="ctr" wrap="square" lIns="109728" rIns="109728" tIns="36576" bIns="36576">
            <a:noAutofit/>
          </a:bodyPr>
          <a:lstStyle/>
          <a:p>
            <a:pPr algn="ctr">
              <a:lnSpc>
                <a:spcPct val="112000"/>
              </a:lnSpc>
              <a:spcAft>
                <a:spcPts val="0"/>
              </a:spcAft>
            </a:pPr>
            <a:r>
              <a:rPr sz="1400" b="1" i="0">
                <a:solidFill>
                  <a:srgbClr val="FFFFFF"/>
                </a:solidFill>
                <a:latin typeface="Helvetica Neue"/>
              </a:rPr>
              <a:t>Open live demo ↗</a:t>
            </a:r>
          </a:p>
        </p:txBody>
      </p:sp>
      <p:sp>
        <p:nvSpPr>
          <p:cNvPr id="5" name="Rounded Rectangle 4">
            <a:hlinkClick action="ppaction://hlinksldjump" r:id="rId3"/>
          </p:cNvPr>
          <p:cNvSpPr/>
          <p:nvPr/>
        </p:nvSpPr>
        <p:spPr>
          <a:xfrm>
            <a:off x="2926080" y="5120640"/>
            <a:ext cx="1920240" cy="493776"/>
          </a:xfrm>
          <a:prstGeom prst="roundRect">
            <a:avLst>
              <a:gd name="adj" fmla="val 50000"/>
            </a:avLst>
          </a:prstGeom>
          <a:solidFill>
            <a:srgbClr val="EAF1FF"/>
          </a:solidFill>
          <a:ln>
            <a:noFill/>
          </a:ln>
          <a:effectLst/>
        </p:spPr>
        <p:txBody>
          <a:bodyPr rtlCol="0" anchor="ctr" wrap="square" lIns="109728" rIns="109728" tIns="36576" bIns="36576">
            <a:noAutofit/>
          </a:bodyPr>
          <a:lstStyle/>
          <a:p>
            <a:pPr algn="ctr">
              <a:lnSpc>
                <a:spcPct val="112000"/>
              </a:lnSpc>
              <a:spcAft>
                <a:spcPts val="0"/>
              </a:spcAft>
            </a:pPr>
            <a:r>
              <a:rPr sz="1400" b="1" i="0">
                <a:solidFill>
                  <a:srgbClr val="2560D6"/>
                </a:solidFill>
                <a:latin typeface="Helvetica Neue"/>
              </a:rPr>
              <a:t>Q&amp;A navigator</a:t>
            </a:r>
          </a:p>
        </p:txBody>
      </p:sp>
      <p:sp>
        <p:nvSpPr>
          <p:cNvPr id="6" name="Rounded Rectangle 5">
            <a:hlinkClick action="ppaction://hlinksldjump" r:id="rId4"/>
          </p:cNvPr>
          <p:cNvSpPr/>
          <p:nvPr/>
        </p:nvSpPr>
        <p:spPr>
          <a:xfrm>
            <a:off x="4983480" y="5120640"/>
            <a:ext cx="1737360" cy="493776"/>
          </a:xfrm>
          <a:prstGeom prst="roundRect">
            <a:avLst>
              <a:gd name="adj" fmla="val 50000"/>
            </a:avLst>
          </a:prstGeom>
          <a:solidFill>
            <a:srgbClr val="EAF1FF"/>
          </a:solidFill>
          <a:ln>
            <a:noFill/>
          </a:ln>
          <a:effectLst/>
        </p:spPr>
        <p:txBody>
          <a:bodyPr rtlCol="0" anchor="ctr" wrap="square" lIns="109728" rIns="109728" tIns="36576" bIns="36576">
            <a:noAutofit/>
          </a:bodyPr>
          <a:lstStyle/>
          <a:p>
            <a:pPr algn="ctr">
              <a:lnSpc>
                <a:spcPct val="112000"/>
              </a:lnSpc>
              <a:spcAft>
                <a:spcPts val="0"/>
              </a:spcAft>
            </a:pPr>
            <a:r>
              <a:rPr sz="1400" b="1" i="0">
                <a:solidFill>
                  <a:srgbClr val="2560D6"/>
                </a:solidFill>
                <a:latin typeface="Helvetica Neue"/>
              </a:rPr>
              <a:t>ROI model</a:t>
            </a:r>
          </a:p>
        </p:txBody>
      </p:sp>
      <p:sp>
        <p:nvSpPr>
          <p:cNvPr id="7" name="TextBox 6"/>
          <p:cNvSpPr txBox="1"/>
          <p:nvPr/>
        </p:nvSpPr>
        <p:spPr>
          <a:xfrm>
            <a:off x="731520" y="6263640"/>
            <a:ext cx="5486400" cy="274320"/>
          </a:xfrm>
          <a:prstGeom prst="rect">
            <a:avLst/>
          </a:prstGeom>
          <a:noFill/>
        </p:spPr>
        <p:txBody>
          <a:bodyPr wrap="square" lIns="0" rIns="0" tIns="0" bIns="0" anchor="t">
            <a:noAutofit/>
          </a:bodyPr>
          <a:lstStyle/>
          <a:p>
            <a:pPr algn="l">
              <a:lnSpc>
                <a:spcPct val="112000"/>
              </a:lnSpc>
              <a:spcAft>
                <a:spcPts val="0"/>
              </a:spcAft>
            </a:pPr>
            <a:r>
              <a:rPr sz="1100" b="0" i="0">
                <a:solidFill>
                  <a:srgbClr val="8E8E93"/>
                </a:solidFill>
                <a:latin typeface="Helvetica Neue"/>
              </a:rPr>
              <a:t>Convergence AI · thank you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12</a:t>
            </a:r>
          </a:p>
        </p:txBody>
      </p:sp>
      <p:sp>
        <p:nvSpPr>
          <p:cNvPr id="16"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Q&amp;A</a:t>
            </a:r>
          </a:p>
        </p:txBody>
      </p:sp>
      <p:sp>
        <p:nvSpPr>
          <p:cNvPr id="17"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Q&amp;A navigator: jump to any answer.</a:t>
            </a:r>
          </a:p>
        </p:txBody>
      </p:sp>
      <p:sp>
        <p:nvSpPr>
          <p:cNvPr id="18"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Click any card in slideshow mode. Every appendix slide has a ‘Back to Q&amp;A navigator’ button.</a:t>
            </a:r>
          </a:p>
        </p:txBody>
      </p:sp>
      <p:sp>
        <p:nvSpPr>
          <p:cNvPr id="19" name="Rounded Rectangle 18"/>
          <p:cNvSpPr/>
          <p:nvPr/>
        </p:nvSpPr>
        <p:spPr>
          <a:xfrm>
            <a:off x="548640" y="2514600"/>
            <a:ext cx="2670048" cy="3776472"/>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0" name="Rounded Rectangle 19"/>
          <p:cNvSpPr/>
          <p:nvPr/>
        </p:nvSpPr>
        <p:spPr>
          <a:xfrm>
            <a:off x="731520" y="2697480"/>
            <a:ext cx="1149096" cy="310896"/>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The people</a:t>
            </a:r>
          </a:p>
        </p:txBody>
      </p:sp>
      <p:sp>
        <p:nvSpPr>
          <p:cNvPr id="21" name="Rounded Rectangle 20">
            <a:hlinkClick action="ppaction://hlinksldjump" r:id="rId11"/>
          </p:cNvPr>
          <p:cNvSpPr/>
          <p:nvPr/>
        </p:nvSpPr>
        <p:spPr>
          <a:xfrm>
            <a:off x="731520" y="3200400"/>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Dana · seller</a:t>
            </a:r>
            <a:r>
              <a:rPr sz="1150" b="1" i="0">
                <a:solidFill>
                  <a:srgbClr val="8E8E93"/>
                </a:solidFill>
                <a:latin typeface="Helvetica Neue"/>
              </a:rPr>
              <a:t>  →</a:t>
            </a:r>
          </a:p>
        </p:txBody>
      </p:sp>
      <p:sp>
        <p:nvSpPr>
          <p:cNvPr id="22" name="Rounded Rectangle 21">
            <a:hlinkClick action="ppaction://hlinksldjump" r:id="rId12"/>
          </p:cNvPr>
          <p:cNvSpPr/>
          <p:nvPr/>
        </p:nvSpPr>
        <p:spPr>
          <a:xfrm>
            <a:off x="731520" y="3685032"/>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Marcus · buyer</a:t>
            </a:r>
            <a:r>
              <a:rPr sz="1150" b="1" i="0">
                <a:solidFill>
                  <a:srgbClr val="8E8E93"/>
                </a:solidFill>
                <a:latin typeface="Helvetica Neue"/>
              </a:rPr>
              <a:t>  →</a:t>
            </a:r>
          </a:p>
        </p:txBody>
      </p:sp>
      <p:sp>
        <p:nvSpPr>
          <p:cNvPr id="23" name="Rounded Rectangle 22">
            <a:hlinkClick action="ppaction://hlinksldjump" r:id="rId13"/>
          </p:cNvPr>
          <p:cNvSpPr/>
          <p:nvPr/>
        </p:nvSpPr>
        <p:spPr>
          <a:xfrm>
            <a:off x="731520" y="4169664"/>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Priya · dispatcher</a:t>
            </a:r>
            <a:r>
              <a:rPr sz="1150" b="1" i="0">
                <a:solidFill>
                  <a:srgbClr val="8E8E93"/>
                </a:solidFill>
                <a:latin typeface="Helvetica Neue"/>
              </a:rPr>
              <a:t>  →</a:t>
            </a:r>
          </a:p>
        </p:txBody>
      </p:sp>
      <p:sp>
        <p:nvSpPr>
          <p:cNvPr id="24" name="Rounded Rectangle 23">
            <a:hlinkClick action="ppaction://hlinksldjump" r:id="rId14"/>
          </p:cNvPr>
          <p:cNvSpPr/>
          <p:nvPr/>
        </p:nvSpPr>
        <p:spPr>
          <a:xfrm>
            <a:off x="731520" y="4654296"/>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Design principles</a:t>
            </a:r>
            <a:r>
              <a:rPr sz="1150" b="1" i="0">
                <a:solidFill>
                  <a:srgbClr val="8E8E93"/>
                </a:solidFill>
                <a:latin typeface="Helvetica Neue"/>
              </a:rPr>
              <a:t>  →</a:t>
            </a:r>
          </a:p>
        </p:txBody>
      </p:sp>
      <p:sp>
        <p:nvSpPr>
          <p:cNvPr id="25" name="Rounded Rectangle 24"/>
          <p:cNvSpPr/>
          <p:nvPr/>
        </p:nvSpPr>
        <p:spPr>
          <a:xfrm>
            <a:off x="3401568" y="2514600"/>
            <a:ext cx="2670048" cy="3776472"/>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6" name="Rounded Rectangle 25"/>
          <p:cNvSpPr/>
          <p:nvPr/>
        </p:nvSpPr>
        <p:spPr>
          <a:xfrm>
            <a:off x="3584448" y="2697480"/>
            <a:ext cx="1232916" cy="310896"/>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100" b="1" i="0">
                <a:solidFill>
                  <a:srgbClr val="2F7A4F"/>
                </a:solidFill>
                <a:latin typeface="Helvetica Neue"/>
              </a:rPr>
              <a:t>The product</a:t>
            </a:r>
          </a:p>
        </p:txBody>
      </p:sp>
      <p:sp>
        <p:nvSpPr>
          <p:cNvPr id="27" name="Rounded Rectangle 26">
            <a:hlinkClick action="ppaction://hlinksldjump" r:id="rId15"/>
          </p:cNvPr>
          <p:cNvSpPr/>
          <p:nvPr/>
        </p:nvSpPr>
        <p:spPr>
          <a:xfrm>
            <a:off x="3584448" y="3200400"/>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Value · before / after</a:t>
            </a:r>
            <a:r>
              <a:rPr sz="1150" b="1" i="0">
                <a:solidFill>
                  <a:srgbClr val="8E8E93"/>
                </a:solidFill>
                <a:latin typeface="Helvetica Neue"/>
              </a:rPr>
              <a:t>  →</a:t>
            </a:r>
          </a:p>
        </p:txBody>
      </p:sp>
      <p:sp>
        <p:nvSpPr>
          <p:cNvPr id="28" name="Rounded Rectangle 27">
            <a:hlinkClick action="ppaction://hlinksldjump" r:id="rId16"/>
          </p:cNvPr>
          <p:cNvSpPr/>
          <p:nvPr/>
        </p:nvSpPr>
        <p:spPr>
          <a:xfrm>
            <a:off x="3584448" y="3685032"/>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Inspect · AI with receipts</a:t>
            </a:r>
            <a:r>
              <a:rPr sz="1150" b="1" i="0">
                <a:solidFill>
                  <a:srgbClr val="8E8E93"/>
                </a:solidFill>
                <a:latin typeface="Helvetica Neue"/>
              </a:rPr>
              <a:t>  →</a:t>
            </a:r>
          </a:p>
        </p:txBody>
      </p:sp>
      <p:sp>
        <p:nvSpPr>
          <p:cNvPr id="29" name="Rounded Rectangle 28">
            <a:hlinkClick action="ppaction://hlinksldjump" r:id="rId6"/>
          </p:cNvPr>
          <p:cNvSpPr/>
          <p:nvPr/>
        </p:nvSpPr>
        <p:spPr>
          <a:xfrm>
            <a:off x="3584448" y="4169664"/>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Checkout · on / off</a:t>
            </a:r>
            <a:r>
              <a:rPr sz="1150" b="1" i="0">
                <a:solidFill>
                  <a:srgbClr val="8E8E93"/>
                </a:solidFill>
                <a:latin typeface="Helvetica Neue"/>
              </a:rPr>
              <a:t>  →</a:t>
            </a:r>
          </a:p>
        </p:txBody>
      </p:sp>
      <p:sp>
        <p:nvSpPr>
          <p:cNvPr id="30" name="Rounded Rectangle 29">
            <a:hlinkClick action="ppaction://hlinksldjump" r:id="rId17"/>
          </p:cNvPr>
          <p:cNvSpPr/>
          <p:nvPr/>
        </p:nvSpPr>
        <p:spPr>
          <a:xfrm>
            <a:off x="3584448" y="4654296"/>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Deliver · winch outage</a:t>
            </a:r>
            <a:r>
              <a:rPr sz="1150" b="1" i="0">
                <a:solidFill>
                  <a:srgbClr val="8E8E93"/>
                </a:solidFill>
                <a:latin typeface="Helvetica Neue"/>
              </a:rPr>
              <a:t>  →</a:t>
            </a:r>
          </a:p>
        </p:txBody>
      </p:sp>
      <p:sp>
        <p:nvSpPr>
          <p:cNvPr id="31" name="Rounded Rectangle 30"/>
          <p:cNvSpPr/>
          <p:nvPr/>
        </p:nvSpPr>
        <p:spPr>
          <a:xfrm>
            <a:off x="6254496" y="2514600"/>
            <a:ext cx="2670048" cy="3776472"/>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2" name="Rounded Rectangle 31"/>
          <p:cNvSpPr/>
          <p:nvPr/>
        </p:nvSpPr>
        <p:spPr>
          <a:xfrm>
            <a:off x="6437376" y="2697480"/>
            <a:ext cx="1484376" cy="310896"/>
          </a:xfrm>
          <a:prstGeom prst="roundRect">
            <a:avLst>
              <a:gd name="adj" fmla="val 50000"/>
            </a:avLst>
          </a:prstGeom>
          <a:solidFill>
            <a:srgbClr val="EFECFB"/>
          </a:solidFill>
          <a:ln>
            <a:noFill/>
          </a:ln>
          <a:effectLst/>
        </p:spPr>
        <p:txBody>
          <a:bodyPr rtlCol="0" anchor="ctr" wrap="none" tIns="0" bIns="0">
            <a:noAutofit/>
          </a:bodyPr>
          <a:lstStyle/>
          <a:p>
            <a:pPr algn="ctr">
              <a:lnSpc>
                <a:spcPct val="112000"/>
              </a:lnSpc>
              <a:spcAft>
                <a:spcPts val="0"/>
              </a:spcAft>
            </a:pPr>
            <a:r>
              <a:rPr sz="1100" b="1" i="0">
                <a:solidFill>
                  <a:srgbClr val="5E4BB0"/>
                </a:solidFill>
                <a:latin typeface="Helvetica Neue"/>
              </a:rPr>
              <a:t>Under the hood</a:t>
            </a:r>
          </a:p>
        </p:txBody>
      </p:sp>
      <p:sp>
        <p:nvSpPr>
          <p:cNvPr id="33" name="Rounded Rectangle 32">
            <a:hlinkClick action="ppaction://hlinksldjump" r:id="rId18"/>
          </p:cNvPr>
          <p:cNvSpPr/>
          <p:nvPr/>
        </p:nvSpPr>
        <p:spPr>
          <a:xfrm>
            <a:off x="6437376" y="3200400"/>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Architecture</a:t>
            </a:r>
            <a:r>
              <a:rPr sz="1150" b="1" i="0">
                <a:solidFill>
                  <a:srgbClr val="8E8E93"/>
                </a:solidFill>
                <a:latin typeface="Helvetica Neue"/>
              </a:rPr>
              <a:t>  →</a:t>
            </a:r>
          </a:p>
        </p:txBody>
      </p:sp>
      <p:sp>
        <p:nvSpPr>
          <p:cNvPr id="34" name="Rounded Rectangle 33">
            <a:hlinkClick action="ppaction://hlinksldjump" r:id="rId19"/>
          </p:cNvPr>
          <p:cNvSpPr/>
          <p:nvPr/>
        </p:nvSpPr>
        <p:spPr>
          <a:xfrm>
            <a:off x="6437376" y="3685032"/>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AI guardrails</a:t>
            </a:r>
            <a:r>
              <a:rPr sz="1150" b="1" i="0">
                <a:solidFill>
                  <a:srgbClr val="8E8E93"/>
                </a:solidFill>
                <a:latin typeface="Helvetica Neue"/>
              </a:rPr>
              <a:t>  →</a:t>
            </a:r>
          </a:p>
        </p:txBody>
      </p:sp>
      <p:sp>
        <p:nvSpPr>
          <p:cNvPr id="35" name="Rounded Rectangle 34">
            <a:hlinkClick action="ppaction://hlinksldjump" r:id="rId20"/>
          </p:cNvPr>
          <p:cNvSpPr/>
          <p:nvPr/>
        </p:nvSpPr>
        <p:spPr>
          <a:xfrm>
            <a:off x="6437376" y="4169664"/>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Data integrity</a:t>
            </a:r>
            <a:r>
              <a:rPr sz="1150" b="1" i="0">
                <a:solidFill>
                  <a:srgbClr val="8E8E93"/>
                </a:solidFill>
                <a:latin typeface="Helvetica Neue"/>
              </a:rPr>
              <a:t>  →</a:t>
            </a:r>
          </a:p>
        </p:txBody>
      </p:sp>
      <p:sp>
        <p:nvSpPr>
          <p:cNvPr id="36" name="Rounded Rectangle 35">
            <a:hlinkClick action="ppaction://hlinksldjump" r:id="rId21"/>
          </p:cNvPr>
          <p:cNvSpPr/>
          <p:nvPr/>
        </p:nvSpPr>
        <p:spPr>
          <a:xfrm>
            <a:off x="6437376" y="4654296"/>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Tests &amp; quality</a:t>
            </a:r>
            <a:r>
              <a:rPr sz="1150" b="1" i="0">
                <a:solidFill>
                  <a:srgbClr val="8E8E93"/>
                </a:solidFill>
                <a:latin typeface="Helvetica Neue"/>
              </a:rPr>
              <a:t>  →</a:t>
            </a:r>
          </a:p>
        </p:txBody>
      </p:sp>
      <p:sp>
        <p:nvSpPr>
          <p:cNvPr id="37" name="Rounded Rectangle 36"/>
          <p:cNvSpPr/>
          <p:nvPr/>
        </p:nvSpPr>
        <p:spPr>
          <a:xfrm>
            <a:off x="9107424" y="2514600"/>
            <a:ext cx="2670048" cy="3776472"/>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8" name="Rounded Rectangle 37"/>
          <p:cNvSpPr/>
          <p:nvPr/>
        </p:nvSpPr>
        <p:spPr>
          <a:xfrm>
            <a:off x="9290303" y="2697480"/>
            <a:ext cx="1568196" cy="310896"/>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1100" b="1" i="0">
                <a:solidFill>
                  <a:srgbClr val="8A5A10"/>
                </a:solidFill>
                <a:latin typeface="Helvetica Neue"/>
              </a:rPr>
              <a:t>Money &amp; reality</a:t>
            </a:r>
          </a:p>
        </p:txBody>
      </p:sp>
      <p:sp>
        <p:nvSpPr>
          <p:cNvPr id="39" name="Rounded Rectangle 38">
            <a:hlinkClick action="ppaction://hlinksldjump" r:id="rId22"/>
          </p:cNvPr>
          <p:cNvSpPr/>
          <p:nvPr/>
        </p:nvSpPr>
        <p:spPr>
          <a:xfrm>
            <a:off x="9290303" y="3200400"/>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ROI levers explained</a:t>
            </a:r>
            <a:r>
              <a:rPr sz="1150" b="1" i="0">
                <a:solidFill>
                  <a:srgbClr val="8E8E93"/>
                </a:solidFill>
                <a:latin typeface="Helvetica Neue"/>
              </a:rPr>
              <a:t>  →</a:t>
            </a:r>
          </a:p>
        </p:txBody>
      </p:sp>
      <p:sp>
        <p:nvSpPr>
          <p:cNvPr id="40" name="Rounded Rectangle 39">
            <a:hlinkClick action="ppaction://hlinksldjump" r:id="rId23"/>
          </p:cNvPr>
          <p:cNvSpPr/>
          <p:nvPr/>
        </p:nvSpPr>
        <p:spPr>
          <a:xfrm>
            <a:off x="9290303" y="3685032"/>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ROI · conservative</a:t>
            </a:r>
            <a:r>
              <a:rPr sz="1150" b="1" i="0">
                <a:solidFill>
                  <a:srgbClr val="8E8E93"/>
                </a:solidFill>
                <a:latin typeface="Helvetica Neue"/>
              </a:rPr>
              <a:t>  →</a:t>
            </a:r>
          </a:p>
        </p:txBody>
      </p:sp>
      <p:sp>
        <p:nvSpPr>
          <p:cNvPr id="41" name="Rounded Rectangle 40">
            <a:hlinkClick action="ppaction://hlinksldjump" r:id="rId24"/>
          </p:cNvPr>
          <p:cNvSpPr/>
          <p:nvPr/>
        </p:nvSpPr>
        <p:spPr>
          <a:xfrm>
            <a:off x="9290303" y="4169664"/>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ROI · aggressive</a:t>
            </a:r>
            <a:r>
              <a:rPr sz="1150" b="1" i="0">
                <a:solidFill>
                  <a:srgbClr val="8E8E93"/>
                </a:solidFill>
                <a:latin typeface="Helvetica Neue"/>
              </a:rPr>
              <a:t>  →</a:t>
            </a:r>
          </a:p>
        </p:txBody>
      </p:sp>
      <p:sp>
        <p:nvSpPr>
          <p:cNvPr id="42" name="Rounded Rectangle 41">
            <a:hlinkClick action="ppaction://hlinksldjump" r:id="rId25"/>
          </p:cNvPr>
          <p:cNvSpPr/>
          <p:nvPr/>
        </p:nvSpPr>
        <p:spPr>
          <a:xfrm>
            <a:off x="9290303" y="4654296"/>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Use cases</a:t>
            </a:r>
            <a:r>
              <a:rPr sz="1150" b="1" i="0">
                <a:solidFill>
                  <a:srgbClr val="8E8E93"/>
                </a:solidFill>
                <a:latin typeface="Helvetica Neue"/>
              </a:rPr>
              <a:t>  →</a:t>
            </a:r>
          </a:p>
        </p:txBody>
      </p:sp>
      <p:sp>
        <p:nvSpPr>
          <p:cNvPr id="43" name="Rounded Rectangle 42">
            <a:hlinkClick action="ppaction://hlinksldjump" r:id="rId26"/>
          </p:cNvPr>
          <p:cNvSpPr/>
          <p:nvPr/>
        </p:nvSpPr>
        <p:spPr>
          <a:xfrm>
            <a:off x="9290303" y="5138928"/>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90-day pilot</a:t>
            </a:r>
            <a:r>
              <a:rPr sz="1150" b="1" i="0">
                <a:solidFill>
                  <a:srgbClr val="8E8E93"/>
                </a:solidFill>
                <a:latin typeface="Helvetica Neue"/>
              </a:rPr>
              <a:t>  →</a:t>
            </a:r>
          </a:p>
        </p:txBody>
      </p:sp>
      <p:sp>
        <p:nvSpPr>
          <p:cNvPr id="44" name="Rounded Rectangle 43">
            <a:hlinkClick action="ppaction://hlinksldjump" r:id="rId27"/>
          </p:cNvPr>
          <p:cNvSpPr/>
          <p:nvPr/>
        </p:nvSpPr>
        <p:spPr>
          <a:xfrm>
            <a:off x="9290303" y="5623560"/>
            <a:ext cx="2304288" cy="402336"/>
          </a:xfrm>
          <a:prstGeom prst="roundRect">
            <a:avLst>
              <a:gd name="adj" fmla="val 27272"/>
            </a:avLst>
          </a:prstGeom>
          <a:solidFill>
            <a:srgbClr val="F5F5F7"/>
          </a:solidFill>
          <a:ln>
            <a:noFill/>
          </a:ln>
          <a:effectLst/>
        </p:spPr>
        <p:txBody>
          <a:bodyPr rtlCol="0" anchor="ctr" wrap="square" lIns="128016" rIns="128016" tIns="36576" bIns="36576">
            <a:noAutofit/>
          </a:bodyPr>
          <a:lstStyle/>
          <a:p>
            <a:pPr algn="l">
              <a:lnSpc>
                <a:spcPct val="112000"/>
              </a:lnSpc>
              <a:spcAft>
                <a:spcPts val="0"/>
              </a:spcAft>
            </a:pPr>
            <a:r>
              <a:rPr sz="1150" b="1" i="0">
                <a:solidFill>
                  <a:srgbClr val="1D1D1F"/>
                </a:solidFill>
                <a:latin typeface="Helvetica Neue"/>
              </a:rPr>
              <a:t>Roadmap</a:t>
            </a:r>
            <a:r>
              <a:rPr sz="1150" b="1" i="0">
                <a:solidFill>
                  <a:srgbClr val="8E8E93"/>
                </a:solidFill>
                <a:latin typeface="Helvetica Neue"/>
              </a:rPr>
              <a: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13</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Persona · illustrative</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Meet Dana, the seller.</a:t>
            </a:r>
          </a:p>
        </p:txBody>
      </p:sp>
      <p:sp>
        <p:nvSpPr>
          <p:cNvPr id="19" name="Rounded Rectangle 18"/>
          <p:cNvSpPr/>
          <p:nvPr/>
        </p:nvSpPr>
        <p:spPr>
          <a:xfrm>
            <a:off x="548640" y="2057400"/>
            <a:ext cx="3108960" cy="4206240"/>
          </a:xfrm>
          <a:prstGeom prst="roundRect">
            <a:avLst>
              <a:gd name="adj" fmla="val 5882"/>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0" name="Oval 19"/>
          <p:cNvSpPr/>
          <p:nvPr/>
        </p:nvSpPr>
        <p:spPr>
          <a:xfrm>
            <a:off x="1600200" y="2331720"/>
            <a:ext cx="1005840" cy="1005840"/>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2600" b="1" i="0">
                <a:solidFill>
                  <a:srgbClr val="2560D6"/>
                </a:solidFill>
                <a:latin typeface="Helvetica Neue"/>
              </a:rPr>
              <a:t>DR</a:t>
            </a:r>
          </a:p>
        </p:txBody>
      </p:sp>
      <p:sp>
        <p:nvSpPr>
          <p:cNvPr id="21" name="TextBox 20"/>
          <p:cNvSpPr txBox="1"/>
          <p:nvPr/>
        </p:nvSpPr>
        <p:spPr>
          <a:xfrm>
            <a:off x="731520" y="3520440"/>
            <a:ext cx="2743200" cy="640080"/>
          </a:xfrm>
          <a:prstGeom prst="rect">
            <a:avLst/>
          </a:prstGeom>
          <a:noFill/>
        </p:spPr>
        <p:txBody>
          <a:bodyPr wrap="square" lIns="0" rIns="0" tIns="0" bIns="0" anchor="t">
            <a:noAutofit/>
          </a:bodyPr>
          <a:lstStyle/>
          <a:p>
            <a:pPr algn="ctr">
              <a:lnSpc>
                <a:spcPct val="105000"/>
              </a:lnSpc>
              <a:spcAft>
                <a:spcPts val="0"/>
              </a:spcAft>
            </a:pPr>
            <a:r>
              <a:rPr sz="2000" b="1" i="0">
                <a:solidFill>
                  <a:srgbClr val="1D1D1F"/>
                </a:solidFill>
                <a:latin typeface="Helvetica Neue"/>
              </a:rPr>
              <a:t>Dana</a:t>
            </a:r>
          </a:p>
          <a:p>
            <a:pPr algn="ctr">
              <a:lnSpc>
                <a:spcPct val="105000"/>
              </a:lnSpc>
              <a:spcAft>
                <a:spcPts val="0"/>
              </a:spcAft>
            </a:pPr>
            <a:r>
              <a:rPr sz="1200" b="0" i="0">
                <a:solidFill>
                  <a:srgbClr val="6E6E73"/>
                </a:solidFill>
                <a:latin typeface="Helvetica Neue"/>
              </a:rPr>
              <a:t>Seller · dealer remarketing manager</a:t>
            </a:r>
          </a:p>
        </p:txBody>
      </p:sp>
      <p:sp>
        <p:nvSpPr>
          <p:cNvPr id="22" name="TextBox 21"/>
          <p:cNvSpPr txBox="1"/>
          <p:nvPr/>
        </p:nvSpPr>
        <p:spPr>
          <a:xfrm>
            <a:off x="777240" y="4343400"/>
            <a:ext cx="2651760" cy="1463040"/>
          </a:xfrm>
          <a:prstGeom prst="rect">
            <a:avLst/>
          </a:prstGeom>
          <a:noFill/>
        </p:spPr>
        <p:txBody>
          <a:bodyPr wrap="square" lIns="0" rIns="0" tIns="0" bIns="0" anchor="t">
            <a:noAutofit/>
          </a:bodyPr>
          <a:lstStyle/>
          <a:p>
            <a:pPr algn="ctr">
              <a:lnSpc>
                <a:spcPct val="120000"/>
              </a:lnSpc>
              <a:spcAft>
                <a:spcPts val="0"/>
              </a:spcAft>
            </a:pPr>
            <a:r>
              <a:rPr sz="1400" b="0" i="1">
                <a:solidFill>
                  <a:srgbClr val="1D1D1F"/>
                </a:solidFill>
                <a:latin typeface="Helvetica Neue"/>
              </a:rPr>
              <a:t>“Where do I net the most, and how fast do I get paid?”</a:t>
            </a:r>
          </a:p>
        </p:txBody>
      </p:sp>
      <p:sp>
        <p:nvSpPr>
          <p:cNvPr id="23" name="Rounded Rectangle 22"/>
          <p:cNvSpPr/>
          <p:nvPr/>
        </p:nvSpPr>
        <p:spPr>
          <a:xfrm>
            <a:off x="3840480" y="2057400"/>
            <a:ext cx="3794760" cy="4206240"/>
          </a:xfrm>
          <a:prstGeom prst="roundRect">
            <a:avLst>
              <a:gd name="adj" fmla="val 481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Rounded Rectangle 23"/>
          <p:cNvSpPr/>
          <p:nvPr/>
        </p:nvSpPr>
        <p:spPr>
          <a:xfrm>
            <a:off x="4069080" y="2258568"/>
            <a:ext cx="768096" cy="32918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1200" b="1" i="0">
                <a:solidFill>
                  <a:srgbClr val="B0383E"/>
                </a:solidFill>
                <a:latin typeface="Helvetica Neue"/>
              </a:rPr>
              <a:t>Today</a:t>
            </a:r>
          </a:p>
        </p:txBody>
      </p:sp>
      <p:sp>
        <p:nvSpPr>
          <p:cNvPr id="25" name="TextBox 24"/>
          <p:cNvSpPr txBox="1"/>
          <p:nvPr/>
        </p:nvSpPr>
        <p:spPr>
          <a:xfrm>
            <a:off x="4069080" y="2788920"/>
            <a:ext cx="3383280" cy="2743200"/>
          </a:xfrm>
          <a:prstGeom prst="rect">
            <a:avLst/>
          </a:prstGeom>
          <a:noFill/>
        </p:spPr>
        <p:txBody>
          <a:bodyPr wrap="square" lIns="0" rIns="0" tIns="0" bIns="0" anchor="t">
            <a:noAutofit/>
          </a:bodyPr>
          <a:lstStyle/>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Compares channels by headline price, not net</a:t>
            </a:r>
          </a:p>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Learns about a no-start after the listing is live</a:t>
            </a:r>
          </a:p>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Re-keys the same car into three systems</a:t>
            </a:r>
          </a:p>
        </p:txBody>
      </p:sp>
      <p:sp>
        <p:nvSpPr>
          <p:cNvPr id="26" name="Rounded Rectangle 25"/>
          <p:cNvSpPr/>
          <p:nvPr/>
        </p:nvSpPr>
        <p:spPr>
          <a:xfrm>
            <a:off x="7818120" y="2057400"/>
            <a:ext cx="3794760" cy="4206240"/>
          </a:xfrm>
          <a:prstGeom prst="roundRect">
            <a:avLst>
              <a:gd name="adj" fmla="val 481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7" name="Rounded Rectangle 26"/>
          <p:cNvSpPr/>
          <p:nvPr/>
        </p:nvSpPr>
        <p:spPr>
          <a:xfrm>
            <a:off x="8046720" y="2258568"/>
            <a:ext cx="1591056" cy="329184"/>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200" b="1" i="0">
                <a:solidFill>
                  <a:srgbClr val="2F7A4F"/>
                </a:solidFill>
                <a:latin typeface="Helvetica Neue"/>
              </a:rPr>
              <a:t>With VehicleOS</a:t>
            </a:r>
          </a:p>
        </p:txBody>
      </p:sp>
      <p:sp>
        <p:nvSpPr>
          <p:cNvPr id="28" name="TextBox 27"/>
          <p:cNvSpPr txBox="1"/>
          <p:nvPr/>
        </p:nvSpPr>
        <p:spPr>
          <a:xfrm>
            <a:off x="8046720" y="2788920"/>
            <a:ext cx="3383280" cy="2743200"/>
          </a:xfrm>
          <a:prstGeom prst="rect">
            <a:avLst/>
          </a:prstGeom>
          <a:noFill/>
        </p:spPr>
        <p:txBody>
          <a:bodyPr wrap="square" lIns="0" rIns="0" tIns="0" bIns="0" anchor="t">
            <a:noAutofit/>
          </a:bodyPr>
          <a:lstStyle/>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Sees net proceeds per channel, fees and transport included</a:t>
            </a:r>
          </a:p>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Told when a valuation went stale, and exactly why it changed</a:t>
            </a:r>
          </a:p>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On ACV the buyer pays transport, so her net isn’t affected</a:t>
            </a:r>
          </a:p>
        </p:txBody>
      </p:sp>
      <p:sp>
        <p:nvSpPr>
          <p:cNvPr id="29" name="Rounded Rectangle 28">
            <a:hlinkClick action="ppaction://hlinksldjump" r:id="rId11"/>
          </p:cNvPr>
          <p:cNvSpPr/>
          <p:nvPr/>
        </p:nvSpPr>
        <p:spPr>
          <a:xfrm>
            <a:off x="8046720" y="5715000"/>
            <a:ext cx="3291840" cy="347472"/>
          </a:xfrm>
          <a:prstGeom prst="roundRect">
            <a:avLst>
              <a:gd name="adj" fmla="val 50000"/>
            </a:avLst>
          </a:prstGeom>
          <a:solidFill>
            <a:srgbClr val="2F6BE6"/>
          </a:solidFill>
          <a:ln>
            <a:noFill/>
          </a:ln>
          <a:effectLst/>
        </p:spPr>
        <p:txBody>
          <a:bodyPr rtlCol="0" anchor="ctr" wrap="none" tIns="0" bIns="0">
            <a:noAutofit/>
          </a:bodyPr>
          <a:lstStyle/>
          <a:p>
            <a:pPr algn="ctr">
              <a:lnSpc>
                <a:spcPct val="112000"/>
              </a:lnSpc>
              <a:spcAft>
                <a:spcPts val="0"/>
              </a:spcAft>
            </a:pPr>
            <a:r>
              <a:rPr sz="1100" b="1" i="0">
                <a:solidFill>
                  <a:srgbClr val="FFFFFF"/>
                </a:solidFill>
                <a:latin typeface="Helvetica Neue"/>
              </a:rPr>
              <a:t>See Dana’s numbers in the demo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14</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Persona · illustrative</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Meet Marcus, the buyer.</a:t>
            </a:r>
          </a:p>
        </p:txBody>
      </p:sp>
      <p:sp>
        <p:nvSpPr>
          <p:cNvPr id="19" name="Rounded Rectangle 18"/>
          <p:cNvSpPr/>
          <p:nvPr/>
        </p:nvSpPr>
        <p:spPr>
          <a:xfrm>
            <a:off x="548640" y="2057400"/>
            <a:ext cx="3108960" cy="4206240"/>
          </a:xfrm>
          <a:prstGeom prst="roundRect">
            <a:avLst>
              <a:gd name="adj" fmla="val 5882"/>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0" name="Oval 19"/>
          <p:cNvSpPr/>
          <p:nvPr/>
        </p:nvSpPr>
        <p:spPr>
          <a:xfrm>
            <a:off x="1600200" y="2331720"/>
            <a:ext cx="1005840" cy="1005840"/>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2600" b="1" i="0">
                <a:solidFill>
                  <a:srgbClr val="2F7A4F"/>
                </a:solidFill>
                <a:latin typeface="Helvetica Neue"/>
              </a:rPr>
              <a:t>MT</a:t>
            </a:r>
          </a:p>
        </p:txBody>
      </p:sp>
      <p:sp>
        <p:nvSpPr>
          <p:cNvPr id="21" name="TextBox 20"/>
          <p:cNvSpPr txBox="1"/>
          <p:nvPr/>
        </p:nvSpPr>
        <p:spPr>
          <a:xfrm>
            <a:off x="731520" y="3520440"/>
            <a:ext cx="2743200" cy="640080"/>
          </a:xfrm>
          <a:prstGeom prst="rect">
            <a:avLst/>
          </a:prstGeom>
          <a:noFill/>
        </p:spPr>
        <p:txBody>
          <a:bodyPr wrap="square" lIns="0" rIns="0" tIns="0" bIns="0" anchor="t">
            <a:noAutofit/>
          </a:bodyPr>
          <a:lstStyle/>
          <a:p>
            <a:pPr algn="ctr">
              <a:lnSpc>
                <a:spcPct val="105000"/>
              </a:lnSpc>
              <a:spcAft>
                <a:spcPts val="0"/>
              </a:spcAft>
            </a:pPr>
            <a:r>
              <a:rPr sz="2000" b="1" i="0">
                <a:solidFill>
                  <a:srgbClr val="1D1D1F"/>
                </a:solidFill>
                <a:latin typeface="Helvetica Neue"/>
              </a:rPr>
              <a:t>Marcus</a:t>
            </a:r>
          </a:p>
          <a:p>
            <a:pPr algn="ctr">
              <a:lnSpc>
                <a:spcPct val="105000"/>
              </a:lnSpc>
              <a:spcAft>
                <a:spcPts val="0"/>
              </a:spcAft>
            </a:pPr>
            <a:r>
              <a:rPr sz="1200" b="0" i="0">
                <a:solidFill>
                  <a:srgbClr val="6E6E73"/>
                </a:solidFill>
                <a:latin typeface="Helvetica Neue"/>
              </a:rPr>
              <a:t>Buyer · independent rebuilder</a:t>
            </a:r>
          </a:p>
        </p:txBody>
      </p:sp>
      <p:sp>
        <p:nvSpPr>
          <p:cNvPr id="22" name="TextBox 21"/>
          <p:cNvSpPr txBox="1"/>
          <p:nvPr/>
        </p:nvSpPr>
        <p:spPr>
          <a:xfrm>
            <a:off x="777240" y="4343400"/>
            <a:ext cx="2651760" cy="1463040"/>
          </a:xfrm>
          <a:prstGeom prst="rect">
            <a:avLst/>
          </a:prstGeom>
          <a:noFill/>
        </p:spPr>
        <p:txBody>
          <a:bodyPr wrap="square" lIns="0" rIns="0" tIns="0" bIns="0" anchor="t">
            <a:noAutofit/>
          </a:bodyPr>
          <a:lstStyle/>
          <a:p>
            <a:pPr algn="ctr">
              <a:lnSpc>
                <a:spcPct val="120000"/>
              </a:lnSpc>
              <a:spcAft>
                <a:spcPts val="0"/>
              </a:spcAft>
            </a:pPr>
            <a:r>
              <a:rPr sz="1400" b="0" i="1">
                <a:solidFill>
                  <a:srgbClr val="1D1D1F"/>
                </a:solidFill>
                <a:latin typeface="Helvetica Neue"/>
              </a:rPr>
              <a:t>“Is it what they say it is, and what will it cost me landed?”</a:t>
            </a:r>
          </a:p>
        </p:txBody>
      </p:sp>
      <p:sp>
        <p:nvSpPr>
          <p:cNvPr id="23" name="Rounded Rectangle 22"/>
          <p:cNvSpPr/>
          <p:nvPr/>
        </p:nvSpPr>
        <p:spPr>
          <a:xfrm>
            <a:off x="3840480" y="2057400"/>
            <a:ext cx="3794760" cy="4206240"/>
          </a:xfrm>
          <a:prstGeom prst="roundRect">
            <a:avLst>
              <a:gd name="adj" fmla="val 481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Rounded Rectangle 23"/>
          <p:cNvSpPr/>
          <p:nvPr/>
        </p:nvSpPr>
        <p:spPr>
          <a:xfrm>
            <a:off x="4069080" y="2258568"/>
            <a:ext cx="768096" cy="32918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1200" b="1" i="0">
                <a:solidFill>
                  <a:srgbClr val="B0383E"/>
                </a:solidFill>
                <a:latin typeface="Helvetica Neue"/>
              </a:rPr>
              <a:t>Today</a:t>
            </a:r>
          </a:p>
        </p:txBody>
      </p:sp>
      <p:sp>
        <p:nvSpPr>
          <p:cNvPr id="25" name="TextBox 24"/>
          <p:cNvSpPr txBox="1"/>
          <p:nvPr/>
        </p:nvSpPr>
        <p:spPr>
          <a:xfrm>
            <a:off x="4069080" y="2788920"/>
            <a:ext cx="3383280" cy="2743200"/>
          </a:xfrm>
          <a:prstGeom prst="rect">
            <a:avLst/>
          </a:prstGeom>
          <a:noFill/>
        </p:spPr>
        <p:txBody>
          <a:bodyPr wrap="square" lIns="0" rIns="0" tIns="0" bIns="0" anchor="t">
            <a:noAutofit/>
          </a:bodyPr>
          <a:lstStyle/>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Condition surprises after purchase → arbitration</a:t>
            </a:r>
          </a:p>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Landed cost unclear until transport is quoted</a:t>
            </a:r>
          </a:p>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Can’t tell ‘not observed’ from ‘no’</a:t>
            </a:r>
          </a:p>
        </p:txBody>
      </p:sp>
      <p:sp>
        <p:nvSpPr>
          <p:cNvPr id="26" name="Rounded Rectangle 25"/>
          <p:cNvSpPr/>
          <p:nvPr/>
        </p:nvSpPr>
        <p:spPr>
          <a:xfrm>
            <a:off x="7818120" y="2057400"/>
            <a:ext cx="3794760" cy="4206240"/>
          </a:xfrm>
          <a:prstGeom prst="roundRect">
            <a:avLst>
              <a:gd name="adj" fmla="val 481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7" name="Rounded Rectangle 26"/>
          <p:cNvSpPr/>
          <p:nvPr/>
        </p:nvSpPr>
        <p:spPr>
          <a:xfrm>
            <a:off x="8046720" y="2258568"/>
            <a:ext cx="1591056" cy="329184"/>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200" b="1" i="0">
                <a:solidFill>
                  <a:srgbClr val="2F7A4F"/>
                </a:solidFill>
                <a:latin typeface="Helvetica Neue"/>
              </a:rPr>
              <a:t>With VehicleOS</a:t>
            </a:r>
          </a:p>
        </p:txBody>
      </p:sp>
      <p:sp>
        <p:nvSpPr>
          <p:cNvPr id="28" name="TextBox 27"/>
          <p:cNvSpPr txBox="1"/>
          <p:nvPr/>
        </p:nvSpPr>
        <p:spPr>
          <a:xfrm>
            <a:off x="8046720" y="2788920"/>
            <a:ext cx="3383280" cy="2743200"/>
          </a:xfrm>
          <a:prstGeom prst="rect">
            <a:avLst/>
          </a:prstGeom>
          <a:noFill/>
        </p:spPr>
        <p:txBody>
          <a:bodyPr wrap="square" lIns="0" rIns="0" tIns="0" bIns="0" anchor="t">
            <a:noAutofit/>
          </a:bodyPr>
          <a:lstStyle/>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Every finding cites its evidence; conflicts and unknowns are visible</a:t>
            </a:r>
          </a:p>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Landed cost at checkout, transport as a clear yes / no</a:t>
            </a:r>
          </a:p>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Non-runner flagged before he bids</a:t>
            </a:r>
          </a:p>
        </p:txBody>
      </p:sp>
      <p:sp>
        <p:nvSpPr>
          <p:cNvPr id="29" name="Rounded Rectangle 28">
            <a:hlinkClick action="ppaction://hlinksldjump" r:id="rId6"/>
          </p:cNvPr>
          <p:cNvSpPr/>
          <p:nvPr/>
        </p:nvSpPr>
        <p:spPr>
          <a:xfrm>
            <a:off x="8046720" y="5715000"/>
            <a:ext cx="3291840" cy="347472"/>
          </a:xfrm>
          <a:prstGeom prst="roundRect">
            <a:avLst>
              <a:gd name="adj" fmla="val 50000"/>
            </a:avLst>
          </a:prstGeom>
          <a:solidFill>
            <a:srgbClr val="2F6BE6"/>
          </a:solidFill>
          <a:ln>
            <a:noFill/>
          </a:ln>
          <a:effectLst/>
        </p:spPr>
        <p:txBody>
          <a:bodyPr rtlCol="0" anchor="ctr" wrap="none" tIns="0" bIns="0">
            <a:noAutofit/>
          </a:bodyPr>
          <a:lstStyle/>
          <a:p>
            <a:pPr algn="ctr">
              <a:lnSpc>
                <a:spcPct val="112000"/>
              </a:lnSpc>
              <a:spcAft>
                <a:spcPts val="0"/>
              </a:spcAft>
            </a:pPr>
            <a:r>
              <a:rPr sz="1100" b="1" i="0">
                <a:solidFill>
                  <a:srgbClr val="FFFFFF"/>
                </a:solidFill>
                <a:latin typeface="Helvetica Neue"/>
              </a:rPr>
              <a:t>See Marcus’s checkout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15</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Persona · illustrative</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Meet Priya, the dispatcher.</a:t>
            </a:r>
          </a:p>
        </p:txBody>
      </p:sp>
      <p:sp>
        <p:nvSpPr>
          <p:cNvPr id="19" name="Rounded Rectangle 18"/>
          <p:cNvSpPr/>
          <p:nvPr/>
        </p:nvSpPr>
        <p:spPr>
          <a:xfrm>
            <a:off x="548640" y="2057400"/>
            <a:ext cx="3108960" cy="4206240"/>
          </a:xfrm>
          <a:prstGeom prst="roundRect">
            <a:avLst>
              <a:gd name="adj" fmla="val 5882"/>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0" name="Oval 19"/>
          <p:cNvSpPr/>
          <p:nvPr/>
        </p:nvSpPr>
        <p:spPr>
          <a:xfrm>
            <a:off x="1600200" y="2331720"/>
            <a:ext cx="1005840" cy="1005840"/>
          </a:xfrm>
          <a:prstGeom prst="ellipse">
            <a:avLst/>
          </a:prstGeom>
          <a:solidFill>
            <a:srgbClr val="FDF1DC"/>
          </a:solidFill>
          <a:ln>
            <a:noFill/>
          </a:ln>
          <a:effectLst/>
        </p:spPr>
        <p:txBody>
          <a:bodyPr rtlCol="0" anchor="ctr" wrap="square" lIns="0" rIns="0" tIns="0" bIns="0">
            <a:noAutofit/>
          </a:bodyPr>
          <a:lstStyle/>
          <a:p>
            <a:pPr algn="ctr">
              <a:lnSpc>
                <a:spcPct val="112000"/>
              </a:lnSpc>
              <a:spcAft>
                <a:spcPts val="0"/>
              </a:spcAft>
            </a:pPr>
            <a:r>
              <a:rPr sz="2600" b="1" i="0">
                <a:solidFill>
                  <a:srgbClr val="8A5A10"/>
                </a:solidFill>
                <a:latin typeface="Helvetica Neue"/>
              </a:rPr>
              <a:t>PS</a:t>
            </a:r>
          </a:p>
        </p:txBody>
      </p:sp>
      <p:sp>
        <p:nvSpPr>
          <p:cNvPr id="21" name="TextBox 20"/>
          <p:cNvSpPr txBox="1"/>
          <p:nvPr/>
        </p:nvSpPr>
        <p:spPr>
          <a:xfrm>
            <a:off x="731520" y="3520440"/>
            <a:ext cx="2743200" cy="640080"/>
          </a:xfrm>
          <a:prstGeom prst="rect">
            <a:avLst/>
          </a:prstGeom>
          <a:noFill/>
        </p:spPr>
        <p:txBody>
          <a:bodyPr wrap="square" lIns="0" rIns="0" tIns="0" bIns="0" anchor="t">
            <a:noAutofit/>
          </a:bodyPr>
          <a:lstStyle/>
          <a:p>
            <a:pPr algn="ctr">
              <a:lnSpc>
                <a:spcPct val="105000"/>
              </a:lnSpc>
              <a:spcAft>
                <a:spcPts val="0"/>
              </a:spcAft>
            </a:pPr>
            <a:r>
              <a:rPr sz="2000" b="1" i="0">
                <a:solidFill>
                  <a:srgbClr val="1D1D1F"/>
                </a:solidFill>
                <a:latin typeface="Helvetica Neue"/>
              </a:rPr>
              <a:t>Priya</a:t>
            </a:r>
          </a:p>
          <a:p>
            <a:pPr algn="ctr">
              <a:lnSpc>
                <a:spcPct val="105000"/>
              </a:lnSpc>
              <a:spcAft>
                <a:spcPts val="0"/>
              </a:spcAft>
            </a:pPr>
            <a:r>
              <a:rPr sz="1200" b="0" i="0">
                <a:solidFill>
                  <a:srgbClr val="6E6E73"/>
                </a:solidFill>
                <a:latin typeface="Helvetica Neue"/>
              </a:rPr>
              <a:t>Transport dispatcher</a:t>
            </a:r>
          </a:p>
        </p:txBody>
      </p:sp>
      <p:sp>
        <p:nvSpPr>
          <p:cNvPr id="22" name="TextBox 21"/>
          <p:cNvSpPr txBox="1"/>
          <p:nvPr/>
        </p:nvSpPr>
        <p:spPr>
          <a:xfrm>
            <a:off x="777240" y="4343400"/>
            <a:ext cx="2651760" cy="1463040"/>
          </a:xfrm>
          <a:prstGeom prst="rect">
            <a:avLst/>
          </a:prstGeom>
          <a:noFill/>
        </p:spPr>
        <p:txBody>
          <a:bodyPr wrap="square" lIns="0" rIns="0" tIns="0" bIns="0" anchor="t">
            <a:noAutofit/>
          </a:bodyPr>
          <a:lstStyle/>
          <a:p>
            <a:pPr algn="ctr">
              <a:lnSpc>
                <a:spcPct val="120000"/>
              </a:lnSpc>
              <a:spcAft>
                <a:spcPts val="0"/>
              </a:spcAft>
            </a:pPr>
            <a:r>
              <a:rPr sz="1400" b="0" i="1">
                <a:solidFill>
                  <a:srgbClr val="1D1D1F"/>
                </a:solidFill>
                <a:latin typeface="Helvetica Neue"/>
              </a:rPr>
              <a:t>“Can my truck actually load it, and is it ready?”</a:t>
            </a:r>
          </a:p>
        </p:txBody>
      </p:sp>
      <p:sp>
        <p:nvSpPr>
          <p:cNvPr id="23" name="Rounded Rectangle 22"/>
          <p:cNvSpPr/>
          <p:nvPr/>
        </p:nvSpPr>
        <p:spPr>
          <a:xfrm>
            <a:off x="3840480" y="2057400"/>
            <a:ext cx="3794760" cy="4206240"/>
          </a:xfrm>
          <a:prstGeom prst="roundRect">
            <a:avLst>
              <a:gd name="adj" fmla="val 481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Rounded Rectangle 23"/>
          <p:cNvSpPr/>
          <p:nvPr/>
        </p:nvSpPr>
        <p:spPr>
          <a:xfrm>
            <a:off x="4069080" y="2258568"/>
            <a:ext cx="768096" cy="32918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1200" b="1" i="0">
                <a:solidFill>
                  <a:srgbClr val="B0383E"/>
                </a:solidFill>
                <a:latin typeface="Helvetica Neue"/>
              </a:rPr>
              <a:t>Today</a:t>
            </a:r>
          </a:p>
        </p:txBody>
      </p:sp>
      <p:sp>
        <p:nvSpPr>
          <p:cNvPr id="25" name="TextBox 24"/>
          <p:cNvSpPr txBox="1"/>
          <p:nvPr/>
        </p:nvSpPr>
        <p:spPr>
          <a:xfrm>
            <a:off x="4069080" y="2788920"/>
            <a:ext cx="3383280" cy="2743200"/>
          </a:xfrm>
          <a:prstGeom prst="rect">
            <a:avLst/>
          </a:prstGeom>
          <a:noFill/>
        </p:spPr>
        <p:txBody>
          <a:bodyPr wrap="square" lIns="0" rIns="0" tIns="0" bIns="0" anchor="t">
            <a:noAutofit/>
          </a:bodyPr>
          <a:lstStyle/>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Sends a flatbed to a car that needs a winch → dry run</a:t>
            </a:r>
          </a:p>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ACV and Copart loads planned separately</a:t>
            </a:r>
          </a:p>
          <a:p>
            <a:pPr algn="l">
              <a:lnSpc>
                <a:spcPct val="115000"/>
              </a:lnSpc>
              <a:spcAft>
                <a:spcPts val="1000"/>
              </a:spcAft>
            </a:pPr>
            <a:r>
              <a:rPr sz="1300" b="1" i="0">
                <a:solidFill>
                  <a:srgbClr val="B0383E"/>
                </a:solidFill>
                <a:latin typeface="Helvetica Neue"/>
              </a:rPr>
              <a:t>✕  </a:t>
            </a:r>
            <a:r>
              <a:rPr sz="1300" b="0" i="0">
                <a:solidFill>
                  <a:srgbClr val="1D1D1F"/>
                </a:solidFill>
                <a:latin typeface="Helvetica Neue"/>
              </a:rPr>
              <a:t>Finds out a payment reversed after pickup</a:t>
            </a:r>
          </a:p>
        </p:txBody>
      </p:sp>
      <p:sp>
        <p:nvSpPr>
          <p:cNvPr id="26" name="Rounded Rectangle 25"/>
          <p:cNvSpPr/>
          <p:nvPr/>
        </p:nvSpPr>
        <p:spPr>
          <a:xfrm>
            <a:off x="7818120" y="2057400"/>
            <a:ext cx="3794760" cy="4206240"/>
          </a:xfrm>
          <a:prstGeom prst="roundRect">
            <a:avLst>
              <a:gd name="adj" fmla="val 481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7" name="Rounded Rectangle 26"/>
          <p:cNvSpPr/>
          <p:nvPr/>
        </p:nvSpPr>
        <p:spPr>
          <a:xfrm>
            <a:off x="8046720" y="2258568"/>
            <a:ext cx="1591056" cy="329184"/>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200" b="1" i="0">
                <a:solidFill>
                  <a:srgbClr val="2F7A4F"/>
                </a:solidFill>
                <a:latin typeface="Helvetica Neue"/>
              </a:rPr>
              <a:t>With VehicleOS</a:t>
            </a:r>
          </a:p>
        </p:txBody>
      </p:sp>
      <p:sp>
        <p:nvSpPr>
          <p:cNvPr id="28" name="TextBox 27"/>
          <p:cNvSpPr txBox="1"/>
          <p:nvPr/>
        </p:nvSpPr>
        <p:spPr>
          <a:xfrm>
            <a:off x="8046720" y="2788920"/>
            <a:ext cx="3383280" cy="2743200"/>
          </a:xfrm>
          <a:prstGeom prst="rect">
            <a:avLst/>
          </a:prstGeom>
          <a:noFill/>
        </p:spPr>
        <p:txBody>
          <a:bodyPr wrap="square" lIns="0" rIns="0" tIns="0" bIns="0" anchor="t">
            <a:noAutofit/>
          </a:bodyPr>
          <a:lstStyle/>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Non-runners only go to trucks with a winch</a:t>
            </a:r>
          </a:p>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ACV- and Copart-tagged loads pooled on one plan</a:t>
            </a:r>
          </a:p>
          <a:p>
            <a:pPr algn="l">
              <a:lnSpc>
                <a:spcPct val="115000"/>
              </a:lnSpc>
              <a:spcAft>
                <a:spcPts val="1000"/>
              </a:spcAft>
            </a:pPr>
            <a:r>
              <a:rPr sz="1300" b="1" i="0">
                <a:solidFill>
                  <a:srgbClr val="2F7A4F"/>
                </a:solidFill>
                <a:latin typeface="Helvetica Neue"/>
              </a:rPr>
              <a:t>✓  </a:t>
            </a:r>
            <a:r>
              <a:rPr sz="1300" b="0" i="0">
                <a:solidFill>
                  <a:srgbClr val="1D1D1F"/>
                </a:solidFill>
                <a:latin typeface="Helvetica Neue"/>
              </a:rPr>
              <a:t>Blocked work listed with a reason, never silently dropped</a:t>
            </a:r>
          </a:p>
        </p:txBody>
      </p:sp>
      <p:sp>
        <p:nvSpPr>
          <p:cNvPr id="29" name="Rounded Rectangle 28">
            <a:hlinkClick action="ppaction://hlinksldjump" r:id="rId11"/>
          </p:cNvPr>
          <p:cNvSpPr/>
          <p:nvPr/>
        </p:nvSpPr>
        <p:spPr>
          <a:xfrm>
            <a:off x="8046720" y="5715000"/>
            <a:ext cx="3291840" cy="347472"/>
          </a:xfrm>
          <a:prstGeom prst="roundRect">
            <a:avLst>
              <a:gd name="adj" fmla="val 50000"/>
            </a:avLst>
          </a:prstGeom>
          <a:solidFill>
            <a:srgbClr val="2F6BE6"/>
          </a:solidFill>
          <a:ln>
            <a:noFill/>
          </a:ln>
          <a:effectLst/>
        </p:spPr>
        <p:txBody>
          <a:bodyPr rtlCol="0" anchor="ctr" wrap="none" tIns="0" bIns="0">
            <a:noAutofit/>
          </a:bodyPr>
          <a:lstStyle/>
          <a:p>
            <a:pPr algn="ctr">
              <a:lnSpc>
                <a:spcPct val="112000"/>
              </a:lnSpc>
              <a:spcAft>
                <a:spcPts val="0"/>
              </a:spcAft>
            </a:pPr>
            <a:r>
              <a:rPr sz="1100" b="1" i="0">
                <a:solidFill>
                  <a:srgbClr val="FFFFFF"/>
                </a:solidFill>
                <a:latin typeface="Helvetica Neue"/>
              </a:rPr>
              <a:t>See Priya’s routes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16</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Design principles</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Five rules we never break.</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They’re why a judge, a seller or a regulator can trust what’s on the screen.</a:t>
            </a:r>
          </a:p>
        </p:txBody>
      </p:sp>
      <p:sp>
        <p:nvSpPr>
          <p:cNvPr id="20" name="Rounded Rectangle 19"/>
          <p:cNvSpPr/>
          <p:nvPr/>
        </p:nvSpPr>
        <p:spPr>
          <a:xfrm>
            <a:off x="548640" y="2606040"/>
            <a:ext cx="2103120" cy="329184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Oval 20"/>
          <p:cNvSpPr/>
          <p:nvPr/>
        </p:nvSpPr>
        <p:spPr>
          <a:xfrm>
            <a:off x="749808" y="2834640"/>
            <a:ext cx="502920" cy="502920"/>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500" b="1" i="0">
                <a:solidFill>
                  <a:srgbClr val="2F7A4F"/>
                </a:solidFill>
                <a:latin typeface="Helvetica Neue"/>
              </a:rPr>
              <a:t>1</a:t>
            </a:r>
          </a:p>
        </p:txBody>
      </p:sp>
      <p:sp>
        <p:nvSpPr>
          <p:cNvPr id="22" name="TextBox 21"/>
          <p:cNvSpPr txBox="1"/>
          <p:nvPr/>
        </p:nvSpPr>
        <p:spPr>
          <a:xfrm>
            <a:off x="749808" y="3520440"/>
            <a:ext cx="1783080" cy="64008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Net, not gross</a:t>
            </a:r>
          </a:p>
        </p:txBody>
      </p:sp>
      <p:sp>
        <p:nvSpPr>
          <p:cNvPr id="23" name="TextBox 22"/>
          <p:cNvSpPr txBox="1"/>
          <p:nvPr/>
        </p:nvSpPr>
        <p:spPr>
          <a:xfrm>
            <a:off x="749808" y="4206240"/>
            <a:ext cx="1783080" cy="1463040"/>
          </a:xfrm>
          <a:prstGeom prst="rect">
            <a:avLst/>
          </a:prstGeom>
          <a:noFill/>
        </p:spPr>
        <p:txBody>
          <a:bodyPr wrap="square" lIns="0" rIns="0" tIns="0" bIns="0" anchor="t">
            <a:noAutofit/>
          </a:bodyPr>
          <a:lstStyle/>
          <a:p>
            <a:pPr algn="l">
              <a:lnSpc>
                <a:spcPct val="120000"/>
              </a:lnSpc>
              <a:spcAft>
                <a:spcPts val="0"/>
              </a:spcAft>
            </a:pPr>
            <a:r>
              <a:rPr sz="1250" b="0" i="0">
                <a:solidFill>
                  <a:srgbClr val="6E6E73"/>
                </a:solidFill>
                <a:latin typeface="Helvetica Neue"/>
              </a:rPr>
              <a:t>Show what the seller keeps after fees and transport.</a:t>
            </a:r>
          </a:p>
        </p:txBody>
      </p:sp>
      <p:sp>
        <p:nvSpPr>
          <p:cNvPr id="24" name="Rounded Rectangle 23"/>
          <p:cNvSpPr/>
          <p:nvPr/>
        </p:nvSpPr>
        <p:spPr>
          <a:xfrm>
            <a:off x="2834640" y="2606040"/>
            <a:ext cx="2103120" cy="329184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Oval 24"/>
          <p:cNvSpPr/>
          <p:nvPr/>
        </p:nvSpPr>
        <p:spPr>
          <a:xfrm>
            <a:off x="3035808" y="2834640"/>
            <a:ext cx="502920" cy="502920"/>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500" b="1" i="0">
                <a:solidFill>
                  <a:srgbClr val="2560D6"/>
                </a:solidFill>
                <a:latin typeface="Helvetica Neue"/>
              </a:rPr>
              <a:t>2</a:t>
            </a:r>
          </a:p>
        </p:txBody>
      </p:sp>
      <p:sp>
        <p:nvSpPr>
          <p:cNvPr id="26" name="TextBox 25"/>
          <p:cNvSpPr txBox="1"/>
          <p:nvPr/>
        </p:nvSpPr>
        <p:spPr>
          <a:xfrm>
            <a:off x="3035808" y="3520440"/>
            <a:ext cx="1783080" cy="64008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AI with receipts</a:t>
            </a:r>
          </a:p>
        </p:txBody>
      </p:sp>
      <p:sp>
        <p:nvSpPr>
          <p:cNvPr id="27" name="TextBox 26"/>
          <p:cNvSpPr txBox="1"/>
          <p:nvPr/>
        </p:nvSpPr>
        <p:spPr>
          <a:xfrm>
            <a:off x="3035808" y="4206240"/>
            <a:ext cx="1783080" cy="1463040"/>
          </a:xfrm>
          <a:prstGeom prst="rect">
            <a:avLst/>
          </a:prstGeom>
          <a:noFill/>
        </p:spPr>
        <p:txBody>
          <a:bodyPr wrap="square" lIns="0" rIns="0" tIns="0" bIns="0" anchor="t">
            <a:noAutofit/>
          </a:bodyPr>
          <a:lstStyle/>
          <a:p>
            <a:pPr algn="l">
              <a:lnSpc>
                <a:spcPct val="120000"/>
              </a:lnSpc>
              <a:spcAft>
                <a:spcPts val="0"/>
              </a:spcAft>
            </a:pPr>
            <a:r>
              <a:rPr sz="1250" b="0" i="0">
                <a:solidFill>
                  <a:srgbClr val="6E6E73"/>
                </a:solidFill>
                <a:latin typeface="Helvetica Neue"/>
              </a:rPr>
              <a:t>Every AI claim cites evidence; uncited claims are dropped.</a:t>
            </a:r>
          </a:p>
        </p:txBody>
      </p:sp>
      <p:sp>
        <p:nvSpPr>
          <p:cNvPr id="28" name="Rounded Rectangle 27"/>
          <p:cNvSpPr/>
          <p:nvPr/>
        </p:nvSpPr>
        <p:spPr>
          <a:xfrm>
            <a:off x="5120640" y="2606040"/>
            <a:ext cx="2103120" cy="329184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9" name="Oval 28"/>
          <p:cNvSpPr/>
          <p:nvPr/>
        </p:nvSpPr>
        <p:spPr>
          <a:xfrm>
            <a:off x="5321807" y="2834640"/>
            <a:ext cx="502920" cy="502920"/>
          </a:xfrm>
          <a:prstGeom prst="ellipse">
            <a:avLst/>
          </a:prstGeom>
          <a:solidFill>
            <a:srgbClr val="EFECFB"/>
          </a:solidFill>
          <a:ln>
            <a:noFill/>
          </a:ln>
          <a:effectLst/>
        </p:spPr>
        <p:txBody>
          <a:bodyPr rtlCol="0" anchor="ctr" wrap="square" lIns="0" rIns="0" tIns="0" bIns="0">
            <a:noAutofit/>
          </a:bodyPr>
          <a:lstStyle/>
          <a:p>
            <a:pPr algn="ctr">
              <a:lnSpc>
                <a:spcPct val="112000"/>
              </a:lnSpc>
              <a:spcAft>
                <a:spcPts val="0"/>
              </a:spcAft>
            </a:pPr>
            <a:r>
              <a:rPr sz="1500" b="1" i="0">
                <a:solidFill>
                  <a:srgbClr val="5E4BB0"/>
                </a:solidFill>
                <a:latin typeface="Helvetica Neue"/>
              </a:rPr>
              <a:t>3</a:t>
            </a:r>
          </a:p>
        </p:txBody>
      </p:sp>
      <p:sp>
        <p:nvSpPr>
          <p:cNvPr id="30" name="TextBox 29"/>
          <p:cNvSpPr txBox="1"/>
          <p:nvPr/>
        </p:nvSpPr>
        <p:spPr>
          <a:xfrm>
            <a:off x="5321807" y="3520440"/>
            <a:ext cx="1783080" cy="64008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Unknown ≠ no</a:t>
            </a:r>
          </a:p>
        </p:txBody>
      </p:sp>
      <p:sp>
        <p:nvSpPr>
          <p:cNvPr id="31" name="TextBox 30"/>
          <p:cNvSpPr txBox="1"/>
          <p:nvPr/>
        </p:nvSpPr>
        <p:spPr>
          <a:xfrm>
            <a:off x="5321807" y="4206240"/>
            <a:ext cx="1783080" cy="1463040"/>
          </a:xfrm>
          <a:prstGeom prst="rect">
            <a:avLst/>
          </a:prstGeom>
          <a:noFill/>
        </p:spPr>
        <p:txBody>
          <a:bodyPr wrap="square" lIns="0" rIns="0" tIns="0" bIns="0" anchor="t">
            <a:noAutofit/>
          </a:bodyPr>
          <a:lstStyle/>
          <a:p>
            <a:pPr algn="l">
              <a:lnSpc>
                <a:spcPct val="120000"/>
              </a:lnSpc>
              <a:spcAft>
                <a:spcPts val="0"/>
              </a:spcAft>
            </a:pPr>
            <a:r>
              <a:rPr sz="1250" b="0" i="0">
                <a:solidFill>
                  <a:srgbClr val="6E6E73"/>
                </a:solidFill>
                <a:latin typeface="Helvetica Neue"/>
              </a:rPr>
              <a:t>Missing facts stay visibly unknown, never guessed.</a:t>
            </a:r>
          </a:p>
        </p:txBody>
      </p:sp>
      <p:sp>
        <p:nvSpPr>
          <p:cNvPr id="32" name="Rounded Rectangle 31"/>
          <p:cNvSpPr/>
          <p:nvPr/>
        </p:nvSpPr>
        <p:spPr>
          <a:xfrm>
            <a:off x="7406640" y="2606040"/>
            <a:ext cx="2103120" cy="329184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3" name="Oval 32"/>
          <p:cNvSpPr/>
          <p:nvPr/>
        </p:nvSpPr>
        <p:spPr>
          <a:xfrm>
            <a:off x="7607808" y="2834640"/>
            <a:ext cx="502920" cy="502920"/>
          </a:xfrm>
          <a:prstGeom prst="ellipse">
            <a:avLst/>
          </a:prstGeom>
          <a:solidFill>
            <a:srgbClr val="FDF1DC"/>
          </a:solidFill>
          <a:ln>
            <a:noFill/>
          </a:ln>
          <a:effectLst/>
        </p:spPr>
        <p:txBody>
          <a:bodyPr rtlCol="0" anchor="ctr" wrap="square" lIns="0" rIns="0" tIns="0" bIns="0">
            <a:noAutofit/>
          </a:bodyPr>
          <a:lstStyle/>
          <a:p>
            <a:pPr algn="ctr">
              <a:lnSpc>
                <a:spcPct val="112000"/>
              </a:lnSpc>
              <a:spcAft>
                <a:spcPts val="0"/>
              </a:spcAft>
            </a:pPr>
            <a:r>
              <a:rPr sz="1500" b="1" i="0">
                <a:solidFill>
                  <a:srgbClr val="8A5A10"/>
                </a:solidFill>
                <a:latin typeface="Helvetica Neue"/>
              </a:rPr>
              <a:t>4</a:t>
            </a:r>
          </a:p>
        </p:txBody>
      </p:sp>
      <p:sp>
        <p:nvSpPr>
          <p:cNvPr id="34" name="TextBox 33"/>
          <p:cNvSpPr txBox="1"/>
          <p:nvPr/>
        </p:nvSpPr>
        <p:spPr>
          <a:xfrm>
            <a:off x="7607808" y="3520440"/>
            <a:ext cx="1783080" cy="64008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Nothing silently stale</a:t>
            </a:r>
          </a:p>
        </p:txBody>
      </p:sp>
      <p:sp>
        <p:nvSpPr>
          <p:cNvPr id="35" name="TextBox 34"/>
          <p:cNvSpPr txBox="1"/>
          <p:nvPr/>
        </p:nvSpPr>
        <p:spPr>
          <a:xfrm>
            <a:off x="7607808" y="4206240"/>
            <a:ext cx="1783080" cy="1463040"/>
          </a:xfrm>
          <a:prstGeom prst="rect">
            <a:avLst/>
          </a:prstGeom>
          <a:noFill/>
        </p:spPr>
        <p:txBody>
          <a:bodyPr wrap="square" lIns="0" rIns="0" tIns="0" bIns="0" anchor="t">
            <a:noAutofit/>
          </a:bodyPr>
          <a:lstStyle/>
          <a:p>
            <a:pPr algn="l">
              <a:lnSpc>
                <a:spcPct val="120000"/>
              </a:lnSpc>
              <a:spcAft>
                <a:spcPts val="0"/>
              </a:spcAft>
            </a:pPr>
            <a:r>
              <a:rPr sz="1250" b="0" i="0">
                <a:solidFill>
                  <a:srgbClr val="6E6E73"/>
                </a:solidFill>
                <a:latin typeface="Helvetica Neue"/>
              </a:rPr>
              <a:t>Changed inputs flag results; stale numbers can’t be used.</a:t>
            </a:r>
          </a:p>
        </p:txBody>
      </p:sp>
      <p:sp>
        <p:nvSpPr>
          <p:cNvPr id="36" name="Rounded Rectangle 35"/>
          <p:cNvSpPr/>
          <p:nvPr/>
        </p:nvSpPr>
        <p:spPr>
          <a:xfrm>
            <a:off x="9692640" y="2606040"/>
            <a:ext cx="2103120" cy="329184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7" name="Oval 36"/>
          <p:cNvSpPr/>
          <p:nvPr/>
        </p:nvSpPr>
        <p:spPr>
          <a:xfrm>
            <a:off x="9893808" y="2834640"/>
            <a:ext cx="502920" cy="502920"/>
          </a:xfrm>
          <a:prstGeom prst="ellipse">
            <a:avLst/>
          </a:prstGeom>
          <a:solidFill>
            <a:srgbClr val="E8E8ED"/>
          </a:solidFill>
          <a:ln>
            <a:noFill/>
          </a:ln>
          <a:effectLst/>
        </p:spPr>
        <p:txBody>
          <a:bodyPr rtlCol="0" anchor="ctr" wrap="square" lIns="0" rIns="0" tIns="0" bIns="0">
            <a:noAutofit/>
          </a:bodyPr>
          <a:lstStyle/>
          <a:p>
            <a:pPr algn="ctr">
              <a:lnSpc>
                <a:spcPct val="112000"/>
              </a:lnSpc>
              <a:spcAft>
                <a:spcPts val="0"/>
              </a:spcAft>
            </a:pPr>
            <a:r>
              <a:rPr sz="1500" b="1" i="0">
                <a:solidFill>
                  <a:srgbClr val="48484A"/>
                </a:solidFill>
                <a:latin typeface="Helvetica Neue"/>
              </a:rPr>
              <a:t>5</a:t>
            </a:r>
          </a:p>
        </p:txBody>
      </p:sp>
      <p:sp>
        <p:nvSpPr>
          <p:cNvPr id="38" name="TextBox 37"/>
          <p:cNvSpPr txBox="1"/>
          <p:nvPr/>
        </p:nvSpPr>
        <p:spPr>
          <a:xfrm>
            <a:off x="9893808" y="3520440"/>
            <a:ext cx="1783080" cy="640080"/>
          </a:xfrm>
          <a:prstGeom prst="rect">
            <a:avLst/>
          </a:prstGeom>
          <a:noFill/>
        </p:spPr>
        <p:txBody>
          <a:bodyPr wrap="square" lIns="0" rIns="0" tIns="0" bIns="0" anchor="t">
            <a:noAutofit/>
          </a:bodyPr>
          <a:lstStyle/>
          <a:p>
            <a:pPr algn="l">
              <a:lnSpc>
                <a:spcPct val="100000"/>
              </a:lnSpc>
              <a:spcAft>
                <a:spcPts val="0"/>
              </a:spcAft>
            </a:pPr>
            <a:r>
              <a:rPr sz="1600" b="1" i="0">
                <a:solidFill>
                  <a:srgbClr val="1D1D1F"/>
                </a:solidFill>
                <a:latin typeface="Helvetica Neue"/>
              </a:rPr>
              <a:t>Honest labels</a:t>
            </a:r>
          </a:p>
        </p:txBody>
      </p:sp>
      <p:sp>
        <p:nvSpPr>
          <p:cNvPr id="39" name="TextBox 38"/>
          <p:cNvSpPr txBox="1"/>
          <p:nvPr/>
        </p:nvSpPr>
        <p:spPr>
          <a:xfrm>
            <a:off x="9893808" y="4206240"/>
            <a:ext cx="1783080" cy="1463040"/>
          </a:xfrm>
          <a:prstGeom prst="rect">
            <a:avLst/>
          </a:prstGeom>
          <a:noFill/>
        </p:spPr>
        <p:txBody>
          <a:bodyPr wrap="square" lIns="0" rIns="0" tIns="0" bIns="0" anchor="t">
            <a:noAutofit/>
          </a:bodyPr>
          <a:lstStyle/>
          <a:p>
            <a:pPr algn="l">
              <a:lnSpc>
                <a:spcPct val="120000"/>
              </a:lnSpc>
              <a:spcAft>
                <a:spcPts val="0"/>
              </a:spcAft>
            </a:pPr>
            <a:r>
              <a:rPr sz="1250" b="0" i="0">
                <a:solidFill>
                  <a:srgbClr val="6E6E73"/>
                </a:solidFill>
                <a:latin typeface="Helvetica Neue"/>
              </a:rPr>
              <a:t>Simulation, authored examples and non-dispatchable plans say so.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17</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Demo · Step 1 · BestExit</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Where does the seller net the most?</a:t>
            </a:r>
          </a:p>
        </p:txBody>
      </p:sp>
      <p:sp>
        <p:nvSpPr>
          <p:cNvPr id="19" name="!!sub"/>
          <p:cNvSpPr txBox="1"/>
          <p:nvPr/>
        </p:nvSpPr>
        <p:spPr>
          <a:xfrm>
            <a:off x="548640" y="1810512"/>
            <a:ext cx="7498079"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Seller net per channel after fees and transport. No AI here: deterministic and auditable.</a:t>
            </a:r>
          </a:p>
        </p:txBody>
      </p:sp>
      <p:sp>
        <p:nvSpPr>
          <p:cNvPr id="20" name="!!vb_track"/>
          <p:cNvSpPr/>
          <p:nvPr/>
        </p:nvSpPr>
        <p:spPr>
          <a:xfrm>
            <a:off x="8183879" y="1188720"/>
            <a:ext cx="3456432" cy="365760"/>
          </a:xfrm>
          <a:prstGeom prst="roundRect">
            <a:avLst>
              <a:gd name="adj" fmla="val 30000"/>
            </a:avLst>
          </a:prstGeom>
          <a:solidFill>
            <a:srgbClr val="E8E8ED"/>
          </a:solidFill>
          <a:ln>
            <a:noFill/>
          </a:ln>
          <a:effectLst/>
        </p:spPr>
        <p:txBody>
          <a:bodyPr rtlCol="0" anchor="ctr"/>
          <a:lstStyle/>
          <a:p>
            <a:pPr algn="ctr"/>
          </a:p>
        </p:txBody>
      </p:sp>
      <p:sp>
        <p:nvSpPr>
          <p:cNvPr id="21" name="!!vb_active"/>
          <p:cNvSpPr/>
          <p:nvPr/>
        </p:nvSpPr>
        <p:spPr>
          <a:xfrm>
            <a:off x="8220455" y="1225296"/>
            <a:ext cx="1691640"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2" name="!!vb_0"/>
          <p:cNvSpPr/>
          <p:nvPr/>
        </p:nvSpPr>
        <p:spPr>
          <a:xfrm>
            <a:off x="8220455" y="1225296"/>
            <a:ext cx="16916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Before inspection</a:t>
            </a:r>
          </a:p>
        </p:txBody>
      </p:sp>
      <p:sp>
        <p:nvSpPr>
          <p:cNvPr id="23" name="!!vb_1">
            <a:hlinkClick action="ppaction://hlinksldjump" r:id="rId11"/>
          </p:cNvPr>
          <p:cNvSpPr/>
          <p:nvPr/>
        </p:nvSpPr>
        <p:spPr>
          <a:xfrm>
            <a:off x="9912095" y="1225296"/>
            <a:ext cx="16916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After inspection</a:t>
            </a:r>
          </a:p>
        </p:txBody>
      </p:sp>
      <p:sp>
        <p:nvSpPr>
          <p:cNvPr id="24" name="!!ch_0"/>
          <p:cNvSpPr/>
          <p:nvPr/>
        </p:nvSpPr>
        <p:spPr>
          <a:xfrm>
            <a:off x="548640" y="2542032"/>
            <a:ext cx="2670048" cy="2926080"/>
          </a:xfrm>
          <a:prstGeom prst="roundRect">
            <a:avLst>
              <a:gd name="adj" fmla="val 6849"/>
            </a:avLst>
          </a:prstGeom>
          <a:solidFill>
            <a:srgbClr val="FFFFFF"/>
          </a:solidFill>
          <a:ln w="9525">
            <a:solidFill>
              <a:srgbClr val="34C759"/>
            </a:solid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731520"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ACV-style digital wholesale (sim.)</a:t>
            </a:r>
          </a:p>
        </p:txBody>
      </p:sp>
      <p:sp>
        <p:nvSpPr>
          <p:cNvPr id="26" name="Rounded Rectangle 25"/>
          <p:cNvSpPr/>
          <p:nvPr/>
        </p:nvSpPr>
        <p:spPr>
          <a:xfrm>
            <a:off x="731520" y="3154680"/>
            <a:ext cx="1107186"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Recommended</a:t>
            </a:r>
          </a:p>
        </p:txBody>
      </p:sp>
      <p:sp>
        <p:nvSpPr>
          <p:cNvPr id="27" name="TextBox 26"/>
          <p:cNvSpPr txBox="1"/>
          <p:nvPr/>
        </p:nvSpPr>
        <p:spPr>
          <a:xfrm>
            <a:off x="731520"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28" name="!!ch_net_0"/>
          <p:cNvSpPr txBox="1"/>
          <p:nvPr/>
        </p:nvSpPr>
        <p:spPr>
          <a:xfrm>
            <a:off x="731520"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$13,850</a:t>
            </a:r>
          </a:p>
        </p:txBody>
      </p:sp>
      <p:sp>
        <p:nvSpPr>
          <p:cNvPr id="29" name="!!ch_elig_0"/>
          <p:cNvSpPr/>
          <p:nvPr/>
        </p:nvSpPr>
        <p:spPr>
          <a:xfrm>
            <a:off x="731520" y="4160520"/>
            <a:ext cx="890016"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eligible</a:t>
            </a:r>
          </a:p>
        </p:txBody>
      </p:sp>
      <p:sp>
        <p:nvSpPr>
          <p:cNvPr id="30" name="TextBox 29"/>
          <p:cNvSpPr txBox="1"/>
          <p:nvPr/>
        </p:nvSpPr>
        <p:spPr>
          <a:xfrm>
            <a:off x="731520"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31" name="!!ch_0_0"/>
          <p:cNvSpPr txBox="1"/>
          <p:nvPr/>
        </p:nvSpPr>
        <p:spPr>
          <a:xfrm>
            <a:off x="2103120"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$14,200</a:t>
            </a:r>
          </a:p>
        </p:txBody>
      </p:sp>
      <p:sp>
        <p:nvSpPr>
          <p:cNvPr id="32" name="TextBox 31"/>
          <p:cNvSpPr txBox="1"/>
          <p:nvPr/>
        </p:nvSpPr>
        <p:spPr>
          <a:xfrm>
            <a:off x="731520"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33" name="!!ch_0_1"/>
          <p:cNvSpPr txBox="1"/>
          <p:nvPr/>
        </p:nvSpPr>
        <p:spPr>
          <a:xfrm>
            <a:off x="2103120"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−$350</a:t>
            </a:r>
          </a:p>
        </p:txBody>
      </p:sp>
      <p:sp>
        <p:nvSpPr>
          <p:cNvPr id="34" name="TextBox 33"/>
          <p:cNvSpPr txBox="1"/>
          <p:nvPr/>
        </p:nvSpPr>
        <p:spPr>
          <a:xfrm>
            <a:off x="731520"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35" name="!!ch_0_2"/>
          <p:cNvSpPr txBox="1"/>
          <p:nvPr/>
        </p:nvSpPr>
        <p:spPr>
          <a:xfrm>
            <a:off x="2103120"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3–7 days</a:t>
            </a:r>
          </a:p>
        </p:txBody>
      </p:sp>
      <p:sp>
        <p:nvSpPr>
          <p:cNvPr id="36" name="!!ch_1"/>
          <p:cNvSpPr/>
          <p:nvPr/>
        </p:nvSpPr>
        <p:spPr>
          <a:xfrm>
            <a:off x="3401568" y="2542032"/>
            <a:ext cx="2670048" cy="2926080"/>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7" name="TextBox 36"/>
          <p:cNvSpPr txBox="1"/>
          <p:nvPr/>
        </p:nvSpPr>
        <p:spPr>
          <a:xfrm>
            <a:off x="3584448"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Copart-style yard wholesale (sim.)</a:t>
            </a:r>
          </a:p>
        </p:txBody>
      </p:sp>
      <p:sp>
        <p:nvSpPr>
          <p:cNvPr id="38" name="TextBox 37"/>
          <p:cNvSpPr txBox="1"/>
          <p:nvPr/>
        </p:nvSpPr>
        <p:spPr>
          <a:xfrm>
            <a:off x="3584448"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39" name="!!ch_net_1"/>
          <p:cNvSpPr txBox="1"/>
          <p:nvPr/>
        </p:nvSpPr>
        <p:spPr>
          <a:xfrm>
            <a:off x="3584448"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$13,738</a:t>
            </a:r>
          </a:p>
        </p:txBody>
      </p:sp>
      <p:sp>
        <p:nvSpPr>
          <p:cNvPr id="40" name="!!ch_elig_1"/>
          <p:cNvSpPr/>
          <p:nvPr/>
        </p:nvSpPr>
        <p:spPr>
          <a:xfrm>
            <a:off x="3584448" y="4160520"/>
            <a:ext cx="890016"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eligible</a:t>
            </a:r>
          </a:p>
        </p:txBody>
      </p:sp>
      <p:sp>
        <p:nvSpPr>
          <p:cNvPr id="41" name="TextBox 40"/>
          <p:cNvSpPr txBox="1"/>
          <p:nvPr/>
        </p:nvSpPr>
        <p:spPr>
          <a:xfrm>
            <a:off x="3584448"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42" name="!!ch_1_0"/>
          <p:cNvSpPr txBox="1"/>
          <p:nvPr/>
        </p:nvSpPr>
        <p:spPr>
          <a:xfrm>
            <a:off x="4956048"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$14,750</a:t>
            </a:r>
          </a:p>
        </p:txBody>
      </p:sp>
      <p:sp>
        <p:nvSpPr>
          <p:cNvPr id="43" name="TextBox 42"/>
          <p:cNvSpPr txBox="1"/>
          <p:nvPr/>
        </p:nvSpPr>
        <p:spPr>
          <a:xfrm>
            <a:off x="3584448"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44" name="!!ch_1_1"/>
          <p:cNvSpPr txBox="1"/>
          <p:nvPr/>
        </p:nvSpPr>
        <p:spPr>
          <a:xfrm>
            <a:off x="4956048"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−$610</a:t>
            </a:r>
          </a:p>
        </p:txBody>
      </p:sp>
      <p:sp>
        <p:nvSpPr>
          <p:cNvPr id="45" name="TextBox 44"/>
          <p:cNvSpPr txBox="1"/>
          <p:nvPr/>
        </p:nvSpPr>
        <p:spPr>
          <a:xfrm>
            <a:off x="3584448"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Transport to yard</a:t>
            </a:r>
          </a:p>
        </p:txBody>
      </p:sp>
      <p:sp>
        <p:nvSpPr>
          <p:cNvPr id="46" name="!!ch_1_2"/>
          <p:cNvSpPr txBox="1"/>
          <p:nvPr/>
        </p:nvSpPr>
        <p:spPr>
          <a:xfrm>
            <a:off x="4956048"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−$402</a:t>
            </a:r>
          </a:p>
        </p:txBody>
      </p:sp>
      <p:sp>
        <p:nvSpPr>
          <p:cNvPr id="47" name="TextBox 46"/>
          <p:cNvSpPr txBox="1"/>
          <p:nvPr/>
        </p:nvSpPr>
        <p:spPr>
          <a:xfrm>
            <a:off x="3584448" y="5184648"/>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48" name="!!ch_1_3"/>
          <p:cNvSpPr txBox="1"/>
          <p:nvPr/>
        </p:nvSpPr>
        <p:spPr>
          <a:xfrm>
            <a:off x="4956048" y="5184648"/>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10–21 days</a:t>
            </a:r>
          </a:p>
        </p:txBody>
      </p:sp>
      <p:sp>
        <p:nvSpPr>
          <p:cNvPr id="49" name="!!ch_2"/>
          <p:cNvSpPr/>
          <p:nvPr/>
        </p:nvSpPr>
        <p:spPr>
          <a:xfrm>
            <a:off x="6254496" y="2542032"/>
            <a:ext cx="2670048" cy="2926080"/>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50" name="TextBox 49"/>
          <p:cNvSpPr txBox="1"/>
          <p:nvPr/>
        </p:nvSpPr>
        <p:spPr>
          <a:xfrm>
            <a:off x="6437376"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Copart-style salvage (sim.)</a:t>
            </a:r>
          </a:p>
        </p:txBody>
      </p:sp>
      <p:sp>
        <p:nvSpPr>
          <p:cNvPr id="51" name="TextBox 50"/>
          <p:cNvSpPr txBox="1"/>
          <p:nvPr/>
        </p:nvSpPr>
        <p:spPr>
          <a:xfrm>
            <a:off x="6437376"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52" name="!!ch_net_2"/>
          <p:cNvSpPr txBox="1"/>
          <p:nvPr/>
        </p:nvSpPr>
        <p:spPr>
          <a:xfrm>
            <a:off x="6437376"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a:t>
            </a:r>
          </a:p>
        </p:txBody>
      </p:sp>
      <p:sp>
        <p:nvSpPr>
          <p:cNvPr id="53" name="!!ch_elig_2"/>
          <p:cNvSpPr/>
          <p:nvPr/>
        </p:nvSpPr>
        <p:spPr>
          <a:xfrm>
            <a:off x="6437376" y="4160520"/>
            <a:ext cx="1034795" cy="246888"/>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50" b="1" i="0">
                <a:solidFill>
                  <a:srgbClr val="B0383E"/>
                </a:solidFill>
                <a:latin typeface="Helvetica Neue"/>
              </a:rPr>
              <a:t>ineligible</a:t>
            </a:r>
          </a:p>
        </p:txBody>
      </p:sp>
      <p:sp>
        <p:nvSpPr>
          <p:cNvPr id="54" name="TextBox 53"/>
          <p:cNvSpPr txBox="1"/>
          <p:nvPr/>
        </p:nvSpPr>
        <p:spPr>
          <a:xfrm>
            <a:off x="6437376"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55" name="!!ch_2_0"/>
          <p:cNvSpPr txBox="1"/>
          <p:nvPr/>
        </p:nvSpPr>
        <p:spPr>
          <a:xfrm>
            <a:off x="7808975"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a:t>
            </a:r>
          </a:p>
        </p:txBody>
      </p:sp>
      <p:sp>
        <p:nvSpPr>
          <p:cNvPr id="56" name="TextBox 55"/>
          <p:cNvSpPr txBox="1"/>
          <p:nvPr/>
        </p:nvSpPr>
        <p:spPr>
          <a:xfrm>
            <a:off x="6437376"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57" name="!!ch_2_1"/>
          <p:cNvSpPr txBox="1"/>
          <p:nvPr/>
        </p:nvSpPr>
        <p:spPr>
          <a:xfrm>
            <a:off x="7808975"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−$450</a:t>
            </a:r>
          </a:p>
        </p:txBody>
      </p:sp>
      <p:sp>
        <p:nvSpPr>
          <p:cNvPr id="58" name="TextBox 57"/>
          <p:cNvSpPr txBox="1"/>
          <p:nvPr/>
        </p:nvSpPr>
        <p:spPr>
          <a:xfrm>
            <a:off x="6437376"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Transport to yard</a:t>
            </a:r>
          </a:p>
        </p:txBody>
      </p:sp>
      <p:sp>
        <p:nvSpPr>
          <p:cNvPr id="59" name="!!ch_2_2"/>
          <p:cNvSpPr txBox="1"/>
          <p:nvPr/>
        </p:nvSpPr>
        <p:spPr>
          <a:xfrm>
            <a:off x="7808975"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−$402</a:t>
            </a:r>
          </a:p>
        </p:txBody>
      </p:sp>
      <p:sp>
        <p:nvSpPr>
          <p:cNvPr id="60" name="TextBox 59"/>
          <p:cNvSpPr txBox="1"/>
          <p:nvPr/>
        </p:nvSpPr>
        <p:spPr>
          <a:xfrm>
            <a:off x="6437376" y="5184648"/>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61" name="!!ch_2_3"/>
          <p:cNvSpPr txBox="1"/>
          <p:nvPr/>
        </p:nvSpPr>
        <p:spPr>
          <a:xfrm>
            <a:off x="7808975" y="5184648"/>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14–28 days</a:t>
            </a:r>
          </a:p>
        </p:txBody>
      </p:sp>
      <p:sp>
        <p:nvSpPr>
          <p:cNvPr id="62" name="!!ch_3"/>
          <p:cNvSpPr/>
          <p:nvPr/>
        </p:nvSpPr>
        <p:spPr>
          <a:xfrm>
            <a:off x="9107424" y="2542032"/>
            <a:ext cx="2670048" cy="2926080"/>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3" name="TextBox 62"/>
          <p:cNvSpPr txBox="1"/>
          <p:nvPr/>
        </p:nvSpPr>
        <p:spPr>
          <a:xfrm>
            <a:off x="9290303"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International export (sim.)</a:t>
            </a:r>
          </a:p>
        </p:txBody>
      </p:sp>
      <p:sp>
        <p:nvSpPr>
          <p:cNvPr id="64" name="TextBox 63"/>
          <p:cNvSpPr txBox="1"/>
          <p:nvPr/>
        </p:nvSpPr>
        <p:spPr>
          <a:xfrm>
            <a:off x="9290303"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65" name="!!ch_net_3"/>
          <p:cNvSpPr txBox="1"/>
          <p:nvPr/>
        </p:nvSpPr>
        <p:spPr>
          <a:xfrm>
            <a:off x="9290303"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a:t>
            </a:r>
          </a:p>
        </p:txBody>
      </p:sp>
      <p:sp>
        <p:nvSpPr>
          <p:cNvPr id="66" name="!!ch_elig_3"/>
          <p:cNvSpPr/>
          <p:nvPr/>
        </p:nvSpPr>
        <p:spPr>
          <a:xfrm>
            <a:off x="9290303" y="4160520"/>
            <a:ext cx="1179575" cy="246888"/>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950" b="1" i="0">
                <a:solidFill>
                  <a:srgbClr val="8A5A10"/>
                </a:solidFill>
                <a:latin typeface="Helvetica Neue"/>
              </a:rPr>
              <a:t>needs review</a:t>
            </a:r>
          </a:p>
        </p:txBody>
      </p:sp>
      <p:sp>
        <p:nvSpPr>
          <p:cNvPr id="67" name="TextBox 66"/>
          <p:cNvSpPr txBox="1"/>
          <p:nvPr/>
        </p:nvSpPr>
        <p:spPr>
          <a:xfrm>
            <a:off x="9290303"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68" name="!!ch_3_0"/>
          <p:cNvSpPr txBox="1"/>
          <p:nvPr/>
        </p:nvSpPr>
        <p:spPr>
          <a:xfrm>
            <a:off x="10661903"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unknown</a:t>
            </a:r>
          </a:p>
        </p:txBody>
      </p:sp>
      <p:sp>
        <p:nvSpPr>
          <p:cNvPr id="69" name="TextBox 68"/>
          <p:cNvSpPr txBox="1"/>
          <p:nvPr/>
        </p:nvSpPr>
        <p:spPr>
          <a:xfrm>
            <a:off x="9290303"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70" name="!!ch_3_1"/>
          <p:cNvSpPr txBox="1"/>
          <p:nvPr/>
        </p:nvSpPr>
        <p:spPr>
          <a:xfrm>
            <a:off x="10661903"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−$0</a:t>
            </a:r>
          </a:p>
        </p:txBody>
      </p:sp>
      <p:sp>
        <p:nvSpPr>
          <p:cNvPr id="71" name="TextBox 70"/>
          <p:cNvSpPr txBox="1"/>
          <p:nvPr/>
        </p:nvSpPr>
        <p:spPr>
          <a:xfrm>
            <a:off x="9290303"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Transport to yard</a:t>
            </a:r>
          </a:p>
        </p:txBody>
      </p:sp>
      <p:sp>
        <p:nvSpPr>
          <p:cNvPr id="72" name="!!ch_3_2"/>
          <p:cNvSpPr txBox="1"/>
          <p:nvPr/>
        </p:nvSpPr>
        <p:spPr>
          <a:xfrm>
            <a:off x="10661903"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−$402</a:t>
            </a:r>
          </a:p>
        </p:txBody>
      </p:sp>
      <p:sp>
        <p:nvSpPr>
          <p:cNvPr id="73" name="TextBox 72"/>
          <p:cNvSpPr txBox="1"/>
          <p:nvPr/>
        </p:nvSpPr>
        <p:spPr>
          <a:xfrm>
            <a:off x="9290303" y="5184648"/>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74" name="!!ch_3_3"/>
          <p:cNvSpPr txBox="1"/>
          <p:nvPr/>
        </p:nvSpPr>
        <p:spPr>
          <a:xfrm>
            <a:off x="10661903" y="5184648"/>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unknown</a:t>
            </a:r>
          </a:p>
        </p:txBody>
      </p:sp>
      <p:sp>
        <p:nvSpPr>
          <p:cNvPr id="75" name="!!why"/>
          <p:cNvSpPr/>
          <p:nvPr/>
        </p:nvSpPr>
        <p:spPr>
          <a:xfrm>
            <a:off x="548640" y="5623560"/>
            <a:ext cx="7498079" cy="640080"/>
          </a:xfrm>
          <a:prstGeom prst="roundRect">
            <a:avLst>
              <a:gd name="adj" fmla="val 22857"/>
            </a:avLst>
          </a:prstGeom>
          <a:solidFill>
            <a:srgbClr val="E6F4EA"/>
          </a:solidFill>
          <a:ln>
            <a:noFill/>
          </a:ln>
          <a:effectLst/>
        </p:spPr>
        <p:txBody>
          <a:bodyPr rtlCol="0" anchor="ctr" wrap="square" lIns="182880" rIns="182880" tIns="36576" bIns="36576">
            <a:noAutofit/>
          </a:bodyPr>
          <a:lstStyle/>
          <a:p>
            <a:pPr algn="l">
              <a:lnSpc>
                <a:spcPct val="112000"/>
              </a:lnSpc>
              <a:spcAft>
                <a:spcPts val="0"/>
              </a:spcAft>
            </a:pPr>
            <a:r>
              <a:rPr sz="1200" b="1" i="0">
                <a:solidFill>
                  <a:srgbClr val="2F7A4F"/>
                </a:solidFill>
                <a:latin typeface="Helvetica Neue"/>
              </a:rPr>
              <a:t>Why ACV:  </a:t>
            </a:r>
            <a:r>
              <a:rPr sz="1200" b="0" i="0">
                <a:solidFill>
                  <a:srgbClr val="2F7A4F"/>
                </a:solidFill>
                <a:latin typeface="Helvetica Neue"/>
              </a:rPr>
              <a:t>higher net despite $550 lower gross: no seller-paid transport, lower seller fee.</a:t>
            </a:r>
          </a:p>
        </p:txBody>
      </p:sp>
      <p:sp>
        <p:nvSpPr>
          <p:cNvPr id="76" name="!!floor"/>
          <p:cNvSpPr/>
          <p:nvPr/>
        </p:nvSpPr>
        <p:spPr>
          <a:xfrm>
            <a:off x="8229600" y="5623560"/>
            <a:ext cx="3410712" cy="640080"/>
          </a:xfrm>
          <a:prstGeom prst="roundRect">
            <a:avLst>
              <a:gd name="adj" fmla="val 22857"/>
            </a:avLst>
          </a:prstGeom>
          <a:solidFill>
            <a:srgbClr val="E6F4EA"/>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2F7A4F"/>
                </a:solidFill>
                <a:latin typeface="Helvetica Neue"/>
              </a:rPr>
              <a:t>Seller floor $12,000 · met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18</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Demo · Step 1 · BestExit</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Where does the seller net the most?</a:t>
            </a:r>
          </a:p>
        </p:txBody>
      </p:sp>
      <p:sp>
        <p:nvSpPr>
          <p:cNvPr id="19" name="!!sub"/>
          <p:cNvSpPr txBox="1"/>
          <p:nvPr/>
        </p:nvSpPr>
        <p:spPr>
          <a:xfrm>
            <a:off x="548640" y="1810512"/>
            <a:ext cx="7498079"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The inspector found a no-start. One confirmed fact re-priced every channel, and every change is explained.</a:t>
            </a:r>
          </a:p>
        </p:txBody>
      </p:sp>
      <p:sp>
        <p:nvSpPr>
          <p:cNvPr id="20" name="!!vb_track"/>
          <p:cNvSpPr/>
          <p:nvPr/>
        </p:nvSpPr>
        <p:spPr>
          <a:xfrm>
            <a:off x="8183879" y="1188720"/>
            <a:ext cx="3456432" cy="365760"/>
          </a:xfrm>
          <a:prstGeom prst="roundRect">
            <a:avLst>
              <a:gd name="adj" fmla="val 30000"/>
            </a:avLst>
          </a:prstGeom>
          <a:solidFill>
            <a:srgbClr val="E8E8ED"/>
          </a:solidFill>
          <a:ln>
            <a:noFill/>
          </a:ln>
          <a:effectLst/>
        </p:spPr>
        <p:txBody>
          <a:bodyPr rtlCol="0" anchor="ctr"/>
          <a:lstStyle/>
          <a:p>
            <a:pPr algn="ctr"/>
          </a:p>
        </p:txBody>
      </p:sp>
      <p:sp>
        <p:nvSpPr>
          <p:cNvPr id="21" name="!!vb_active"/>
          <p:cNvSpPr/>
          <p:nvPr/>
        </p:nvSpPr>
        <p:spPr>
          <a:xfrm>
            <a:off x="9912095" y="1225296"/>
            <a:ext cx="1691640"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2" name="!!vb_0">
            <a:hlinkClick action="ppaction://hlinksldjump" r:id="rId11"/>
          </p:cNvPr>
          <p:cNvSpPr/>
          <p:nvPr/>
        </p:nvSpPr>
        <p:spPr>
          <a:xfrm>
            <a:off x="8220455" y="1225296"/>
            <a:ext cx="16916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Before inspection</a:t>
            </a:r>
          </a:p>
        </p:txBody>
      </p:sp>
      <p:sp>
        <p:nvSpPr>
          <p:cNvPr id="23" name="!!vb_1"/>
          <p:cNvSpPr/>
          <p:nvPr/>
        </p:nvSpPr>
        <p:spPr>
          <a:xfrm>
            <a:off x="9912095" y="1225296"/>
            <a:ext cx="169164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After inspection</a:t>
            </a:r>
          </a:p>
        </p:txBody>
      </p:sp>
      <p:sp>
        <p:nvSpPr>
          <p:cNvPr id="24" name="!!ch_0"/>
          <p:cNvSpPr/>
          <p:nvPr/>
        </p:nvSpPr>
        <p:spPr>
          <a:xfrm>
            <a:off x="548640" y="2542032"/>
            <a:ext cx="2670048" cy="2926080"/>
          </a:xfrm>
          <a:prstGeom prst="roundRect">
            <a:avLst>
              <a:gd name="adj" fmla="val 6849"/>
            </a:avLst>
          </a:prstGeom>
          <a:solidFill>
            <a:srgbClr val="FFFFFF"/>
          </a:solidFill>
          <a:ln w="9525">
            <a:solidFill>
              <a:srgbClr val="34C759"/>
            </a:solid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731520"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ACV-style digital wholesale (sim.)</a:t>
            </a:r>
          </a:p>
        </p:txBody>
      </p:sp>
      <p:sp>
        <p:nvSpPr>
          <p:cNvPr id="26" name="Rounded Rectangle 25"/>
          <p:cNvSpPr/>
          <p:nvPr/>
        </p:nvSpPr>
        <p:spPr>
          <a:xfrm>
            <a:off x="731520" y="3154680"/>
            <a:ext cx="1107186"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Recommended</a:t>
            </a:r>
          </a:p>
        </p:txBody>
      </p:sp>
      <p:sp>
        <p:nvSpPr>
          <p:cNvPr id="27" name="TextBox 26"/>
          <p:cNvSpPr txBox="1"/>
          <p:nvPr/>
        </p:nvSpPr>
        <p:spPr>
          <a:xfrm>
            <a:off x="731520"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28" name="!!ch_net_0"/>
          <p:cNvSpPr txBox="1"/>
          <p:nvPr/>
        </p:nvSpPr>
        <p:spPr>
          <a:xfrm>
            <a:off x="731520"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$10,950</a:t>
            </a:r>
          </a:p>
        </p:txBody>
      </p:sp>
      <p:sp>
        <p:nvSpPr>
          <p:cNvPr id="29" name="!!ch_elig_0"/>
          <p:cNvSpPr/>
          <p:nvPr/>
        </p:nvSpPr>
        <p:spPr>
          <a:xfrm>
            <a:off x="731520" y="4160520"/>
            <a:ext cx="890016"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eligible</a:t>
            </a:r>
          </a:p>
        </p:txBody>
      </p:sp>
      <p:sp>
        <p:nvSpPr>
          <p:cNvPr id="30" name="TextBox 29"/>
          <p:cNvSpPr txBox="1"/>
          <p:nvPr/>
        </p:nvSpPr>
        <p:spPr>
          <a:xfrm>
            <a:off x="731520"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31" name="!!ch_0_0"/>
          <p:cNvSpPr txBox="1"/>
          <p:nvPr/>
        </p:nvSpPr>
        <p:spPr>
          <a:xfrm>
            <a:off x="2103120"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$11,300</a:t>
            </a:r>
          </a:p>
        </p:txBody>
      </p:sp>
      <p:sp>
        <p:nvSpPr>
          <p:cNvPr id="32" name="TextBox 31"/>
          <p:cNvSpPr txBox="1"/>
          <p:nvPr/>
        </p:nvSpPr>
        <p:spPr>
          <a:xfrm>
            <a:off x="731520"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33" name="!!ch_0_1"/>
          <p:cNvSpPr txBox="1"/>
          <p:nvPr/>
        </p:nvSpPr>
        <p:spPr>
          <a:xfrm>
            <a:off x="2103120"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−$350</a:t>
            </a:r>
          </a:p>
        </p:txBody>
      </p:sp>
      <p:sp>
        <p:nvSpPr>
          <p:cNvPr id="34" name="TextBox 33"/>
          <p:cNvSpPr txBox="1"/>
          <p:nvPr/>
        </p:nvSpPr>
        <p:spPr>
          <a:xfrm>
            <a:off x="731520"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35" name="!!ch_0_2"/>
          <p:cNvSpPr txBox="1"/>
          <p:nvPr/>
        </p:nvSpPr>
        <p:spPr>
          <a:xfrm>
            <a:off x="2103120"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3–7 days</a:t>
            </a:r>
          </a:p>
        </p:txBody>
      </p:sp>
      <p:sp>
        <p:nvSpPr>
          <p:cNvPr id="36" name="!!ch_1"/>
          <p:cNvSpPr/>
          <p:nvPr/>
        </p:nvSpPr>
        <p:spPr>
          <a:xfrm>
            <a:off x="3401568" y="2542032"/>
            <a:ext cx="2670048" cy="2926080"/>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7" name="TextBox 36"/>
          <p:cNvSpPr txBox="1"/>
          <p:nvPr/>
        </p:nvSpPr>
        <p:spPr>
          <a:xfrm>
            <a:off x="3584448"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Copart-style yard wholesale (sim.)</a:t>
            </a:r>
          </a:p>
        </p:txBody>
      </p:sp>
      <p:sp>
        <p:nvSpPr>
          <p:cNvPr id="38" name="TextBox 37"/>
          <p:cNvSpPr txBox="1"/>
          <p:nvPr/>
        </p:nvSpPr>
        <p:spPr>
          <a:xfrm>
            <a:off x="3584448"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39" name="!!ch_net_1"/>
          <p:cNvSpPr txBox="1"/>
          <p:nvPr/>
        </p:nvSpPr>
        <p:spPr>
          <a:xfrm>
            <a:off x="3584448"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$10,863</a:t>
            </a:r>
          </a:p>
        </p:txBody>
      </p:sp>
      <p:sp>
        <p:nvSpPr>
          <p:cNvPr id="40" name="!!ch_elig_1"/>
          <p:cNvSpPr/>
          <p:nvPr/>
        </p:nvSpPr>
        <p:spPr>
          <a:xfrm>
            <a:off x="3584448" y="4160520"/>
            <a:ext cx="890016"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eligible</a:t>
            </a:r>
          </a:p>
        </p:txBody>
      </p:sp>
      <p:sp>
        <p:nvSpPr>
          <p:cNvPr id="41" name="TextBox 40"/>
          <p:cNvSpPr txBox="1"/>
          <p:nvPr/>
        </p:nvSpPr>
        <p:spPr>
          <a:xfrm>
            <a:off x="3584448"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42" name="!!ch_1_0"/>
          <p:cNvSpPr txBox="1"/>
          <p:nvPr/>
        </p:nvSpPr>
        <p:spPr>
          <a:xfrm>
            <a:off x="4956048"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$12,050</a:t>
            </a:r>
          </a:p>
        </p:txBody>
      </p:sp>
      <p:sp>
        <p:nvSpPr>
          <p:cNvPr id="43" name="TextBox 42"/>
          <p:cNvSpPr txBox="1"/>
          <p:nvPr/>
        </p:nvSpPr>
        <p:spPr>
          <a:xfrm>
            <a:off x="3584448"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44" name="!!ch_1_1"/>
          <p:cNvSpPr txBox="1"/>
          <p:nvPr/>
        </p:nvSpPr>
        <p:spPr>
          <a:xfrm>
            <a:off x="4956048"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−$610</a:t>
            </a:r>
          </a:p>
        </p:txBody>
      </p:sp>
      <p:sp>
        <p:nvSpPr>
          <p:cNvPr id="45" name="TextBox 44"/>
          <p:cNvSpPr txBox="1"/>
          <p:nvPr/>
        </p:nvSpPr>
        <p:spPr>
          <a:xfrm>
            <a:off x="3584448"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Transport to yard</a:t>
            </a:r>
          </a:p>
        </p:txBody>
      </p:sp>
      <p:sp>
        <p:nvSpPr>
          <p:cNvPr id="46" name="!!ch_1_2"/>
          <p:cNvSpPr txBox="1"/>
          <p:nvPr/>
        </p:nvSpPr>
        <p:spPr>
          <a:xfrm>
            <a:off x="4956048"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−$577</a:t>
            </a:r>
          </a:p>
        </p:txBody>
      </p:sp>
      <p:sp>
        <p:nvSpPr>
          <p:cNvPr id="47" name="TextBox 46"/>
          <p:cNvSpPr txBox="1"/>
          <p:nvPr/>
        </p:nvSpPr>
        <p:spPr>
          <a:xfrm>
            <a:off x="3584448" y="5184648"/>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48" name="!!ch_1_3"/>
          <p:cNvSpPr txBox="1"/>
          <p:nvPr/>
        </p:nvSpPr>
        <p:spPr>
          <a:xfrm>
            <a:off x="4956048" y="5184648"/>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10–21 days</a:t>
            </a:r>
          </a:p>
        </p:txBody>
      </p:sp>
      <p:sp>
        <p:nvSpPr>
          <p:cNvPr id="49" name="!!ch_2"/>
          <p:cNvSpPr/>
          <p:nvPr/>
        </p:nvSpPr>
        <p:spPr>
          <a:xfrm>
            <a:off x="6254496" y="2542032"/>
            <a:ext cx="2670048" cy="2926080"/>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50" name="TextBox 49"/>
          <p:cNvSpPr txBox="1"/>
          <p:nvPr/>
        </p:nvSpPr>
        <p:spPr>
          <a:xfrm>
            <a:off x="6437376"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Copart-style salvage (sim.)</a:t>
            </a:r>
          </a:p>
        </p:txBody>
      </p:sp>
      <p:sp>
        <p:nvSpPr>
          <p:cNvPr id="51" name="TextBox 50"/>
          <p:cNvSpPr txBox="1"/>
          <p:nvPr/>
        </p:nvSpPr>
        <p:spPr>
          <a:xfrm>
            <a:off x="6437376"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52" name="!!ch_net_2"/>
          <p:cNvSpPr txBox="1"/>
          <p:nvPr/>
        </p:nvSpPr>
        <p:spPr>
          <a:xfrm>
            <a:off x="6437376"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$9,073</a:t>
            </a:r>
          </a:p>
        </p:txBody>
      </p:sp>
      <p:sp>
        <p:nvSpPr>
          <p:cNvPr id="53" name="!!ch_elig_2"/>
          <p:cNvSpPr/>
          <p:nvPr/>
        </p:nvSpPr>
        <p:spPr>
          <a:xfrm>
            <a:off x="6437376" y="4160520"/>
            <a:ext cx="890016"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eligible</a:t>
            </a:r>
          </a:p>
        </p:txBody>
      </p:sp>
      <p:sp>
        <p:nvSpPr>
          <p:cNvPr id="54" name="TextBox 53"/>
          <p:cNvSpPr txBox="1"/>
          <p:nvPr/>
        </p:nvSpPr>
        <p:spPr>
          <a:xfrm>
            <a:off x="6437376"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55" name="!!ch_2_0"/>
          <p:cNvSpPr txBox="1"/>
          <p:nvPr/>
        </p:nvSpPr>
        <p:spPr>
          <a:xfrm>
            <a:off x="7808975"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$10,100</a:t>
            </a:r>
          </a:p>
        </p:txBody>
      </p:sp>
      <p:sp>
        <p:nvSpPr>
          <p:cNvPr id="56" name="TextBox 55"/>
          <p:cNvSpPr txBox="1"/>
          <p:nvPr/>
        </p:nvSpPr>
        <p:spPr>
          <a:xfrm>
            <a:off x="6437376"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57" name="!!ch_2_1"/>
          <p:cNvSpPr txBox="1"/>
          <p:nvPr/>
        </p:nvSpPr>
        <p:spPr>
          <a:xfrm>
            <a:off x="7808975"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−$450</a:t>
            </a:r>
          </a:p>
        </p:txBody>
      </p:sp>
      <p:sp>
        <p:nvSpPr>
          <p:cNvPr id="58" name="TextBox 57"/>
          <p:cNvSpPr txBox="1"/>
          <p:nvPr/>
        </p:nvSpPr>
        <p:spPr>
          <a:xfrm>
            <a:off x="6437376"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Transport to yard</a:t>
            </a:r>
          </a:p>
        </p:txBody>
      </p:sp>
      <p:sp>
        <p:nvSpPr>
          <p:cNvPr id="59" name="!!ch_2_2"/>
          <p:cNvSpPr txBox="1"/>
          <p:nvPr/>
        </p:nvSpPr>
        <p:spPr>
          <a:xfrm>
            <a:off x="7808975"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−$577</a:t>
            </a:r>
          </a:p>
        </p:txBody>
      </p:sp>
      <p:sp>
        <p:nvSpPr>
          <p:cNvPr id="60" name="TextBox 59"/>
          <p:cNvSpPr txBox="1"/>
          <p:nvPr/>
        </p:nvSpPr>
        <p:spPr>
          <a:xfrm>
            <a:off x="6437376" y="5184648"/>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61" name="!!ch_2_3"/>
          <p:cNvSpPr txBox="1"/>
          <p:nvPr/>
        </p:nvSpPr>
        <p:spPr>
          <a:xfrm>
            <a:off x="7808975" y="5184648"/>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14–28 days</a:t>
            </a:r>
          </a:p>
        </p:txBody>
      </p:sp>
      <p:sp>
        <p:nvSpPr>
          <p:cNvPr id="62" name="!!ch_3"/>
          <p:cNvSpPr/>
          <p:nvPr/>
        </p:nvSpPr>
        <p:spPr>
          <a:xfrm>
            <a:off x="9107424" y="2542032"/>
            <a:ext cx="2670048" cy="2926080"/>
          </a:xfrm>
          <a:prstGeom prst="roundRect">
            <a:avLst>
              <a:gd name="adj" fmla="val 684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3" name="TextBox 62"/>
          <p:cNvSpPr txBox="1"/>
          <p:nvPr/>
        </p:nvSpPr>
        <p:spPr>
          <a:xfrm>
            <a:off x="9290303" y="2679192"/>
            <a:ext cx="2331720" cy="457200"/>
          </a:xfrm>
          <a:prstGeom prst="rect">
            <a:avLst/>
          </a:prstGeom>
          <a:noFill/>
        </p:spPr>
        <p:txBody>
          <a:bodyPr wrap="square" lIns="0" rIns="0" tIns="0" bIns="0" anchor="t">
            <a:noAutofit/>
          </a:bodyPr>
          <a:lstStyle/>
          <a:p>
            <a:pPr algn="l">
              <a:lnSpc>
                <a:spcPct val="100000"/>
              </a:lnSpc>
              <a:spcAft>
                <a:spcPts val="0"/>
              </a:spcAft>
            </a:pPr>
            <a:r>
              <a:rPr sz="1250" b="1" i="0">
                <a:solidFill>
                  <a:srgbClr val="1D1D1F"/>
                </a:solidFill>
                <a:latin typeface="Helvetica Neue"/>
              </a:rPr>
              <a:t>International export (sim.)</a:t>
            </a:r>
          </a:p>
        </p:txBody>
      </p:sp>
      <p:sp>
        <p:nvSpPr>
          <p:cNvPr id="64" name="TextBox 63"/>
          <p:cNvSpPr txBox="1"/>
          <p:nvPr/>
        </p:nvSpPr>
        <p:spPr>
          <a:xfrm>
            <a:off x="9290303" y="3456432"/>
            <a:ext cx="2286000" cy="201168"/>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Seller net (mid)</a:t>
            </a:r>
          </a:p>
        </p:txBody>
      </p:sp>
      <p:sp>
        <p:nvSpPr>
          <p:cNvPr id="65" name="!!ch_net_3"/>
          <p:cNvSpPr txBox="1"/>
          <p:nvPr/>
        </p:nvSpPr>
        <p:spPr>
          <a:xfrm>
            <a:off x="9290303" y="3639312"/>
            <a:ext cx="2286000" cy="457200"/>
          </a:xfrm>
          <a:prstGeom prst="rect">
            <a:avLst/>
          </a:prstGeom>
          <a:noFill/>
        </p:spPr>
        <p:txBody>
          <a:bodyPr wrap="square" lIns="0" rIns="0" tIns="0" bIns="0" anchor="t">
            <a:noAutofit/>
          </a:bodyPr>
          <a:lstStyle/>
          <a:p>
            <a:pPr algn="l">
              <a:lnSpc>
                <a:spcPct val="112000"/>
              </a:lnSpc>
              <a:spcAft>
                <a:spcPts val="0"/>
              </a:spcAft>
            </a:pPr>
            <a:r>
              <a:rPr sz="2600" b="1" i="0" spc="-50">
                <a:solidFill>
                  <a:srgbClr val="1D1D1F"/>
                </a:solidFill>
                <a:latin typeface="Helvetica Neue"/>
              </a:rPr>
              <a:t>—</a:t>
            </a:r>
          </a:p>
        </p:txBody>
      </p:sp>
      <p:sp>
        <p:nvSpPr>
          <p:cNvPr id="66" name="!!ch_elig_3"/>
          <p:cNvSpPr/>
          <p:nvPr/>
        </p:nvSpPr>
        <p:spPr>
          <a:xfrm>
            <a:off x="9290303" y="4160520"/>
            <a:ext cx="1179575" cy="246888"/>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950" b="1" i="0">
                <a:solidFill>
                  <a:srgbClr val="8A5A10"/>
                </a:solidFill>
                <a:latin typeface="Helvetica Neue"/>
              </a:rPr>
              <a:t>needs review</a:t>
            </a:r>
          </a:p>
        </p:txBody>
      </p:sp>
      <p:sp>
        <p:nvSpPr>
          <p:cNvPr id="67" name="TextBox 66"/>
          <p:cNvSpPr txBox="1"/>
          <p:nvPr/>
        </p:nvSpPr>
        <p:spPr>
          <a:xfrm>
            <a:off x="9290303" y="4526280"/>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Gross (mid)</a:t>
            </a:r>
          </a:p>
        </p:txBody>
      </p:sp>
      <p:sp>
        <p:nvSpPr>
          <p:cNvPr id="68" name="!!ch_3_0"/>
          <p:cNvSpPr txBox="1"/>
          <p:nvPr/>
        </p:nvSpPr>
        <p:spPr>
          <a:xfrm>
            <a:off x="10661903" y="4526280"/>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unknown</a:t>
            </a:r>
          </a:p>
        </p:txBody>
      </p:sp>
      <p:sp>
        <p:nvSpPr>
          <p:cNvPr id="69" name="TextBox 68"/>
          <p:cNvSpPr txBox="1"/>
          <p:nvPr/>
        </p:nvSpPr>
        <p:spPr>
          <a:xfrm>
            <a:off x="9290303" y="4745736"/>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Seller fee</a:t>
            </a:r>
          </a:p>
        </p:txBody>
      </p:sp>
      <p:sp>
        <p:nvSpPr>
          <p:cNvPr id="70" name="!!ch_3_1"/>
          <p:cNvSpPr txBox="1"/>
          <p:nvPr/>
        </p:nvSpPr>
        <p:spPr>
          <a:xfrm>
            <a:off x="10661903" y="4745736"/>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−$0</a:t>
            </a:r>
          </a:p>
        </p:txBody>
      </p:sp>
      <p:sp>
        <p:nvSpPr>
          <p:cNvPr id="71" name="TextBox 70"/>
          <p:cNvSpPr txBox="1"/>
          <p:nvPr/>
        </p:nvSpPr>
        <p:spPr>
          <a:xfrm>
            <a:off x="9290303" y="4965192"/>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Transport to yard</a:t>
            </a:r>
          </a:p>
        </p:txBody>
      </p:sp>
      <p:sp>
        <p:nvSpPr>
          <p:cNvPr id="72" name="!!ch_3_2"/>
          <p:cNvSpPr txBox="1"/>
          <p:nvPr/>
        </p:nvSpPr>
        <p:spPr>
          <a:xfrm>
            <a:off x="10661903" y="4965192"/>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−$577</a:t>
            </a:r>
          </a:p>
        </p:txBody>
      </p:sp>
      <p:sp>
        <p:nvSpPr>
          <p:cNvPr id="73" name="TextBox 72"/>
          <p:cNvSpPr txBox="1"/>
          <p:nvPr/>
        </p:nvSpPr>
        <p:spPr>
          <a:xfrm>
            <a:off x="9290303" y="5184648"/>
            <a:ext cx="1554480" cy="201168"/>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Helvetica Neue"/>
              </a:rPr>
              <a:t>Days to cash</a:t>
            </a:r>
          </a:p>
        </p:txBody>
      </p:sp>
      <p:sp>
        <p:nvSpPr>
          <p:cNvPr id="74" name="!!ch_3_3"/>
          <p:cNvSpPr txBox="1"/>
          <p:nvPr/>
        </p:nvSpPr>
        <p:spPr>
          <a:xfrm>
            <a:off x="10661903" y="5184648"/>
            <a:ext cx="932688" cy="201168"/>
          </a:xfrm>
          <a:prstGeom prst="rect">
            <a:avLst/>
          </a:prstGeom>
          <a:noFill/>
        </p:spPr>
        <p:txBody>
          <a:bodyPr wrap="square" lIns="0" rIns="0" tIns="0" bIns="0" anchor="t">
            <a:noAutofit/>
          </a:bodyPr>
          <a:lstStyle/>
          <a:p>
            <a:pPr algn="r">
              <a:lnSpc>
                <a:spcPct val="112000"/>
              </a:lnSpc>
              <a:spcAft>
                <a:spcPts val="0"/>
              </a:spcAft>
            </a:pPr>
            <a:r>
              <a:rPr sz="950" b="1" i="0">
                <a:solidFill>
                  <a:srgbClr val="1D1D1F"/>
                </a:solidFill>
                <a:latin typeface="Helvetica Neue"/>
              </a:rPr>
              <a:t>unknown</a:t>
            </a:r>
          </a:p>
        </p:txBody>
      </p:sp>
      <p:sp>
        <p:nvSpPr>
          <p:cNvPr id="75" name="!!why"/>
          <p:cNvSpPr/>
          <p:nvPr/>
        </p:nvSpPr>
        <p:spPr>
          <a:xfrm>
            <a:off x="548640" y="5623560"/>
            <a:ext cx="7498079" cy="640080"/>
          </a:xfrm>
          <a:prstGeom prst="roundRect">
            <a:avLst>
              <a:gd name="adj" fmla="val 22857"/>
            </a:avLst>
          </a:prstGeom>
          <a:solidFill>
            <a:srgbClr val="EAF1FF"/>
          </a:solidFill>
          <a:ln>
            <a:noFill/>
          </a:ln>
          <a:effectLst/>
        </p:spPr>
        <p:txBody>
          <a:bodyPr rtlCol="0" anchor="ctr" wrap="square" lIns="182880" rIns="182880" tIns="36576" bIns="36576">
            <a:noAutofit/>
          </a:bodyPr>
          <a:lstStyle/>
          <a:p>
            <a:pPr algn="l">
              <a:lnSpc>
                <a:spcPct val="112000"/>
              </a:lnSpc>
              <a:spcAft>
                <a:spcPts val="0"/>
              </a:spcAft>
            </a:pPr>
            <a:r>
              <a:rPr sz="1200" b="1" i="0">
                <a:solidFill>
                  <a:srgbClr val="2560D6"/>
                </a:solidFill>
                <a:latin typeface="Helvetica Neue"/>
              </a:rPr>
              <a:t>Why it changed:  </a:t>
            </a:r>
            <a:r>
              <a:rPr sz="1050" b="0" i="0">
                <a:solidFill>
                  <a:srgbClr val="2560D6"/>
                </a:solidFill>
                <a:latin typeface="Menlo"/>
              </a:rPr>
              <a:t>INPUT_REVISED · COMPARABLES_CHANGED · COST_CHANGED ×3 · ELIGIBILITY_CHANGED</a:t>
            </a:r>
          </a:p>
        </p:txBody>
      </p:sp>
      <p:sp>
        <p:nvSpPr>
          <p:cNvPr id="76" name="!!floor"/>
          <p:cNvSpPr/>
          <p:nvPr/>
        </p:nvSpPr>
        <p:spPr>
          <a:xfrm>
            <a:off x="8229600" y="5623560"/>
            <a:ext cx="3410712" cy="640080"/>
          </a:xfrm>
          <a:prstGeom prst="roundRect">
            <a:avLst>
              <a:gd name="adj" fmla="val 22857"/>
            </a:avLst>
          </a:prstGeom>
          <a:solidFill>
            <a:srgbClr val="FCEBEB"/>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B0383E"/>
                </a:solidFill>
                <a:latin typeface="Helvetica Neue"/>
              </a:rPr>
              <a:t>Seller floor $12,000 · not met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19</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Demo · Step 2 · SecondLook</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What does the evidence actually say?</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AI reads every note and must cite its sources. Rules rank what to check next. A person confirms.</a:t>
            </a:r>
          </a:p>
        </p:txBody>
      </p:sp>
      <p:sp>
        <p:nvSpPr>
          <p:cNvPr id="20" name="TextBox 19"/>
          <p:cNvSpPr txBox="1"/>
          <p:nvPr/>
        </p:nvSpPr>
        <p:spPr>
          <a:xfrm>
            <a:off x="548640" y="2450592"/>
            <a:ext cx="3566160" cy="274320"/>
          </a:xfrm>
          <a:prstGeom prst="rect">
            <a:avLst/>
          </a:prstGeom>
          <a:noFill/>
        </p:spPr>
        <p:txBody>
          <a:bodyPr wrap="square" lIns="0" rIns="0" tIns="0" bIns="0" anchor="t">
            <a:noAutofit/>
          </a:bodyPr>
          <a:lstStyle/>
          <a:p>
            <a:pPr algn="l">
              <a:lnSpc>
                <a:spcPct val="112000"/>
              </a:lnSpc>
              <a:spcAft>
                <a:spcPts val="0"/>
              </a:spcAft>
            </a:pPr>
            <a:r>
              <a:rPr sz="1300" b="1" i="0">
                <a:solidFill>
                  <a:srgbClr val="6E6E73"/>
                </a:solidFill>
                <a:latin typeface="Helvetica Neue"/>
              </a:rPr>
              <a:t>Evidence · append-only</a:t>
            </a:r>
          </a:p>
        </p:txBody>
      </p:sp>
      <p:sp>
        <p:nvSpPr>
          <p:cNvPr id="21" name="TextBox 20"/>
          <p:cNvSpPr txBox="1"/>
          <p:nvPr/>
        </p:nvSpPr>
        <p:spPr>
          <a:xfrm>
            <a:off x="4343400" y="2450592"/>
            <a:ext cx="3566160" cy="274320"/>
          </a:xfrm>
          <a:prstGeom prst="rect">
            <a:avLst/>
          </a:prstGeom>
          <a:noFill/>
        </p:spPr>
        <p:txBody>
          <a:bodyPr wrap="square" lIns="0" rIns="0" tIns="0" bIns="0" anchor="t">
            <a:noAutofit/>
          </a:bodyPr>
          <a:lstStyle/>
          <a:p>
            <a:pPr algn="l">
              <a:lnSpc>
                <a:spcPct val="112000"/>
              </a:lnSpc>
              <a:spcAft>
                <a:spcPts val="0"/>
              </a:spcAft>
            </a:pPr>
            <a:r>
              <a:rPr sz="1300" b="1" i="0">
                <a:solidFill>
                  <a:srgbClr val="6E6E73"/>
                </a:solidFill>
                <a:latin typeface="Helvetica Neue"/>
              </a:rPr>
              <a:t>AI interpretation · Gemini, live</a:t>
            </a:r>
          </a:p>
        </p:txBody>
      </p:sp>
      <p:sp>
        <p:nvSpPr>
          <p:cNvPr id="22" name="TextBox 21"/>
          <p:cNvSpPr txBox="1"/>
          <p:nvPr/>
        </p:nvSpPr>
        <p:spPr>
          <a:xfrm>
            <a:off x="8138160" y="2450592"/>
            <a:ext cx="3566160" cy="274320"/>
          </a:xfrm>
          <a:prstGeom prst="rect">
            <a:avLst/>
          </a:prstGeom>
          <a:noFill/>
        </p:spPr>
        <p:txBody>
          <a:bodyPr wrap="square" lIns="0" rIns="0" tIns="0" bIns="0" anchor="t">
            <a:noAutofit/>
          </a:bodyPr>
          <a:lstStyle/>
          <a:p>
            <a:pPr algn="l">
              <a:lnSpc>
                <a:spcPct val="112000"/>
              </a:lnSpc>
              <a:spcAft>
                <a:spcPts val="0"/>
              </a:spcAft>
            </a:pPr>
            <a:r>
              <a:rPr sz="1300" b="1" i="0">
                <a:solidFill>
                  <a:srgbClr val="6E6E73"/>
                </a:solidFill>
                <a:latin typeface="Helvetica Neue"/>
              </a:rPr>
              <a:t>Rules + a human</a:t>
            </a:r>
          </a:p>
        </p:txBody>
      </p:sp>
      <p:sp>
        <p:nvSpPr>
          <p:cNvPr id="23" name="Rounded Rectangle 22"/>
          <p:cNvSpPr/>
          <p:nvPr/>
        </p:nvSpPr>
        <p:spPr>
          <a:xfrm>
            <a:off x="548640" y="2788920"/>
            <a:ext cx="3520440" cy="758952"/>
          </a:xfrm>
          <a:prstGeom prst="roundRect">
            <a:avLst>
              <a:gd name="adj" fmla="val 2409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TextBox 23"/>
          <p:cNvSpPr txBox="1"/>
          <p:nvPr/>
        </p:nvSpPr>
        <p:spPr>
          <a:xfrm>
            <a:off x="713232" y="2862072"/>
            <a:ext cx="3200400" cy="640080"/>
          </a:xfrm>
          <a:prstGeom prst="rect">
            <a:avLst/>
          </a:prstGeom>
          <a:noFill/>
        </p:spPr>
        <p:txBody>
          <a:bodyPr wrap="square" lIns="0" rIns="0" tIns="0" bIns="0" anchor="t">
            <a:noAutofit/>
          </a:bodyPr>
          <a:lstStyle/>
          <a:p>
            <a:pPr algn="l">
              <a:lnSpc>
                <a:spcPct val="110000"/>
              </a:lnSpc>
              <a:spcAft>
                <a:spcPts val="0"/>
              </a:spcAft>
            </a:pPr>
            <a:r>
              <a:rPr sz="950" b="1" i="0">
                <a:solidFill>
                  <a:srgbClr val="6E6E73"/>
                </a:solidFill>
                <a:latin typeface="Menlo"/>
              </a:rPr>
              <a:t>EV-001-INTAKE</a:t>
            </a:r>
            <a:r>
              <a:rPr sz="950" b="1" i="0">
                <a:solidFill>
                  <a:srgbClr val="8A5A10"/>
                </a:solidFill>
                <a:latin typeface="Helvetica Neue"/>
              </a:rPr>
              <a:t/>
            </a:r>
          </a:p>
          <a:p>
            <a:pPr algn="l">
              <a:lnSpc>
                <a:spcPct val="110000"/>
              </a:lnSpc>
              <a:spcAft>
                <a:spcPts val="0"/>
              </a:spcAft>
            </a:pPr>
            <a:r>
              <a:rPr sz="1100" b="0" i="0">
                <a:solidFill>
                  <a:srgbClr val="1D1D1F"/>
                </a:solidFill>
                <a:latin typeface="Helvetica Neue"/>
              </a:rPr>
              <a:t>Check-in: engine started; driven to row 14. Keys: see office.</a:t>
            </a:r>
          </a:p>
        </p:txBody>
      </p:sp>
      <p:cxnSp>
        <p:nvCxnSpPr>
          <p:cNvPr id="25" name="Connector 24"/>
          <p:cNvCxnSpPr/>
          <p:nvPr/>
        </p:nvCxnSpPr>
        <p:spPr>
          <a:xfrm>
            <a:off x="4087368" y="3172968"/>
            <a:ext cx="237744" cy="393192"/>
          </a:xfrm>
          <a:prstGeom prst="line">
            <a:avLst/>
          </a:prstGeom>
          <a:ln w="12700">
            <a:solidFill>
              <a:srgbClr val="D1D1D6"/>
            </a:solidFill>
            <a:tailEnd type="triangle" w="med" len="med"/>
          </a:ln>
        </p:spPr>
      </p:cxnSp>
      <p:sp>
        <p:nvSpPr>
          <p:cNvPr id="26" name="Rounded Rectangle 25"/>
          <p:cNvSpPr/>
          <p:nvPr/>
        </p:nvSpPr>
        <p:spPr>
          <a:xfrm>
            <a:off x="548640" y="3657600"/>
            <a:ext cx="3520440" cy="758952"/>
          </a:xfrm>
          <a:prstGeom prst="roundRect">
            <a:avLst>
              <a:gd name="adj" fmla="val 2409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7" name="TextBox 26"/>
          <p:cNvSpPr txBox="1"/>
          <p:nvPr/>
        </p:nvSpPr>
        <p:spPr>
          <a:xfrm>
            <a:off x="713232" y="3730752"/>
            <a:ext cx="3200400" cy="640080"/>
          </a:xfrm>
          <a:prstGeom prst="rect">
            <a:avLst/>
          </a:prstGeom>
          <a:noFill/>
        </p:spPr>
        <p:txBody>
          <a:bodyPr wrap="square" lIns="0" rIns="0" tIns="0" bIns="0" anchor="t">
            <a:noAutofit/>
          </a:bodyPr>
          <a:lstStyle/>
          <a:p>
            <a:pPr algn="l">
              <a:lnSpc>
                <a:spcPct val="110000"/>
              </a:lnSpc>
              <a:spcAft>
                <a:spcPts val="0"/>
              </a:spcAft>
            </a:pPr>
            <a:r>
              <a:rPr sz="950" b="1" i="0">
                <a:solidFill>
                  <a:srgbClr val="6E6E73"/>
                </a:solidFill>
                <a:latin typeface="Menlo"/>
              </a:rPr>
              <a:t>EV-001-CR</a:t>
            </a:r>
            <a:r>
              <a:rPr sz="950" b="1" i="0">
                <a:solidFill>
                  <a:srgbClr val="8A5A10"/>
                </a:solidFill>
                <a:latin typeface="Helvetica Neue"/>
              </a:rPr>
              <a:t/>
            </a:r>
          </a:p>
          <a:p>
            <a:pPr algn="l">
              <a:lnSpc>
                <a:spcPct val="110000"/>
              </a:lnSpc>
              <a:spcAft>
                <a:spcPts val="0"/>
              </a:spcAft>
            </a:pPr>
            <a:r>
              <a:rPr sz="1100" b="0" i="0">
                <a:solidFill>
                  <a:srgbClr val="1D1D1F"/>
                </a:solidFill>
                <a:latin typeface="Helvetica Neue"/>
              </a:rPr>
              <a:t>Rear bumper scuff ~8 cm. No warning lights. Odometer 58,400 mi.</a:t>
            </a:r>
          </a:p>
        </p:txBody>
      </p:sp>
      <p:cxnSp>
        <p:nvCxnSpPr>
          <p:cNvPr id="28" name="Connector 27"/>
          <p:cNvCxnSpPr/>
          <p:nvPr/>
        </p:nvCxnSpPr>
        <p:spPr>
          <a:xfrm flipV="1">
            <a:off x="4087368" y="3566160"/>
            <a:ext cx="237744" cy="475488"/>
          </a:xfrm>
          <a:prstGeom prst="line">
            <a:avLst/>
          </a:prstGeom>
          <a:ln w="12700">
            <a:solidFill>
              <a:srgbClr val="D1D1D6"/>
            </a:solidFill>
            <a:tailEnd type="triangle" w="med" len="med"/>
          </a:ln>
        </p:spPr>
      </p:cxnSp>
      <p:sp>
        <p:nvSpPr>
          <p:cNvPr id="29" name="Rounded Rectangle 28"/>
          <p:cNvSpPr/>
          <p:nvPr/>
        </p:nvSpPr>
        <p:spPr>
          <a:xfrm>
            <a:off x="548640" y="4526279"/>
            <a:ext cx="3520440" cy="758952"/>
          </a:xfrm>
          <a:prstGeom prst="roundRect">
            <a:avLst>
              <a:gd name="adj" fmla="val 2409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0" name="TextBox 29"/>
          <p:cNvSpPr txBox="1"/>
          <p:nvPr/>
        </p:nvSpPr>
        <p:spPr>
          <a:xfrm>
            <a:off x="713232" y="4599431"/>
            <a:ext cx="3200400" cy="640080"/>
          </a:xfrm>
          <a:prstGeom prst="rect">
            <a:avLst/>
          </a:prstGeom>
          <a:noFill/>
        </p:spPr>
        <p:txBody>
          <a:bodyPr wrap="square" lIns="0" rIns="0" tIns="0" bIns="0" anchor="t">
            <a:noAutofit/>
          </a:bodyPr>
          <a:lstStyle/>
          <a:p>
            <a:pPr algn="l">
              <a:lnSpc>
                <a:spcPct val="110000"/>
              </a:lnSpc>
              <a:spcAft>
                <a:spcPts val="0"/>
              </a:spcAft>
            </a:pPr>
            <a:r>
              <a:rPr sz="950" b="1" i="0">
                <a:solidFill>
                  <a:srgbClr val="6E6E73"/>
                </a:solidFill>
                <a:latin typeface="Menlo"/>
              </a:rPr>
              <a:t>EV-001-SELLER</a:t>
            </a:r>
            <a:r>
              <a:rPr sz="950" b="1" i="0">
                <a:solidFill>
                  <a:srgbClr val="8A5A10"/>
                </a:solidFill>
                <a:latin typeface="Helvetica Neue"/>
              </a:rPr>
              <a:t/>
            </a:r>
          </a:p>
          <a:p>
            <a:pPr algn="l">
              <a:lnSpc>
                <a:spcPct val="110000"/>
              </a:lnSpc>
              <a:spcAft>
                <a:spcPts val="0"/>
              </a:spcAft>
            </a:pPr>
            <a:r>
              <a:rPr sz="1100" b="0" i="0">
                <a:solidFill>
                  <a:srgbClr val="1D1D1F"/>
                </a:solidFill>
                <a:latin typeface="Helvetica Neue"/>
              </a:rPr>
              <a:t>Runs and drives fine. Should have both keys somewhere.</a:t>
            </a:r>
          </a:p>
        </p:txBody>
      </p:sp>
      <p:cxnSp>
        <p:nvCxnSpPr>
          <p:cNvPr id="31" name="Connector 30"/>
          <p:cNvCxnSpPr/>
          <p:nvPr/>
        </p:nvCxnSpPr>
        <p:spPr>
          <a:xfrm flipV="1">
            <a:off x="4087368" y="4206240"/>
            <a:ext cx="237744" cy="704087"/>
          </a:xfrm>
          <a:prstGeom prst="line">
            <a:avLst/>
          </a:prstGeom>
          <a:ln w="12700">
            <a:solidFill>
              <a:srgbClr val="D1D1D6"/>
            </a:solidFill>
            <a:tailEnd type="triangle" w="med" len="med"/>
          </a:ln>
        </p:spPr>
      </p:cxnSp>
      <p:sp>
        <p:nvSpPr>
          <p:cNvPr id="32" name="Rounded Rectangle 31"/>
          <p:cNvSpPr/>
          <p:nvPr/>
        </p:nvSpPr>
        <p:spPr>
          <a:xfrm>
            <a:off x="548640" y="5394959"/>
            <a:ext cx="3520440" cy="758952"/>
          </a:xfrm>
          <a:prstGeom prst="roundRect">
            <a:avLst>
              <a:gd name="adj" fmla="val 24096"/>
            </a:avLst>
          </a:prstGeom>
          <a:solidFill>
            <a:srgbClr val="FDF1DC"/>
          </a:solidFill>
          <a:ln>
            <a:noFill/>
          </a:ln>
          <a:effectLst/>
        </p:spPr>
        <p:txBody>
          <a:bodyPr rtlCol="0" anchor="ctr"/>
          <a:lstStyle/>
          <a:p>
            <a:pPr algn="ctr"/>
          </a:p>
        </p:txBody>
      </p:sp>
      <p:sp>
        <p:nvSpPr>
          <p:cNvPr id="33" name="TextBox 32"/>
          <p:cNvSpPr txBox="1"/>
          <p:nvPr/>
        </p:nvSpPr>
        <p:spPr>
          <a:xfrm>
            <a:off x="713232" y="5468112"/>
            <a:ext cx="3200400" cy="640080"/>
          </a:xfrm>
          <a:prstGeom prst="rect">
            <a:avLst/>
          </a:prstGeom>
          <a:noFill/>
        </p:spPr>
        <p:txBody>
          <a:bodyPr wrap="square" lIns="0" rIns="0" tIns="0" bIns="0" anchor="t">
            <a:noAutofit/>
          </a:bodyPr>
          <a:lstStyle/>
          <a:p>
            <a:pPr algn="l">
              <a:lnSpc>
                <a:spcPct val="110000"/>
              </a:lnSpc>
              <a:spcAft>
                <a:spcPts val="0"/>
              </a:spcAft>
            </a:pPr>
            <a:r>
              <a:rPr sz="950" b="1" i="0">
                <a:solidFill>
                  <a:srgbClr val="8A5A10"/>
                </a:solidFill>
                <a:latin typeface="Menlo"/>
              </a:rPr>
              <a:t>EV-001-INSP-2</a:t>
            </a:r>
            <a:r>
              <a:rPr sz="950" b="1" i="0">
                <a:solidFill>
                  <a:srgbClr val="8A5A10"/>
                </a:solidFill>
                <a:latin typeface="Helvetica Neue"/>
              </a:rPr>
              <a:t>   new</a:t>
            </a:r>
          </a:p>
          <a:p>
            <a:pPr algn="l">
              <a:lnSpc>
                <a:spcPct val="110000"/>
              </a:lnSpc>
              <a:spcAft>
                <a:spcPts val="0"/>
              </a:spcAft>
            </a:pPr>
            <a:r>
              <a:rPr sz="1100" b="0" i="0">
                <a:solidFill>
                  <a:srgbClr val="1D1D1F"/>
                </a:solidFill>
                <a:latin typeface="Helvetica Neue"/>
              </a:rPr>
              <a:t>Cranks, no start after 3 attempts. Keys not located.</a:t>
            </a:r>
          </a:p>
        </p:txBody>
      </p:sp>
      <p:cxnSp>
        <p:nvCxnSpPr>
          <p:cNvPr id="34" name="Connector 33"/>
          <p:cNvCxnSpPr/>
          <p:nvPr/>
        </p:nvCxnSpPr>
        <p:spPr>
          <a:xfrm flipV="1">
            <a:off x="4087368" y="4206240"/>
            <a:ext cx="237744" cy="1572767"/>
          </a:xfrm>
          <a:prstGeom prst="line">
            <a:avLst/>
          </a:prstGeom>
          <a:ln w="12700">
            <a:solidFill>
              <a:srgbClr val="D1D1D6"/>
            </a:solidFill>
            <a:tailEnd type="triangle" w="med" len="med"/>
          </a:ln>
        </p:spPr>
      </p:cxnSp>
      <p:sp>
        <p:nvSpPr>
          <p:cNvPr id="35" name="Rounded Rectangle 34"/>
          <p:cNvSpPr/>
          <p:nvPr/>
        </p:nvSpPr>
        <p:spPr>
          <a:xfrm>
            <a:off x="4343400" y="2788920"/>
            <a:ext cx="3566160" cy="1024128"/>
          </a:xfrm>
          <a:prstGeom prst="roundRect">
            <a:avLst>
              <a:gd name="adj" fmla="val 17857"/>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6" name="TextBox 35"/>
          <p:cNvSpPr txBox="1"/>
          <p:nvPr/>
        </p:nvSpPr>
        <p:spPr>
          <a:xfrm>
            <a:off x="4526280" y="2898648"/>
            <a:ext cx="3200400" cy="274320"/>
          </a:xfrm>
          <a:prstGeom prst="rect">
            <a:avLst/>
          </a:prstGeom>
          <a:noFill/>
        </p:spPr>
        <p:txBody>
          <a:bodyPr wrap="square" lIns="0" rIns="0" tIns="0" bIns="0" anchor="t">
            <a:noAutofit/>
          </a:bodyPr>
          <a:lstStyle/>
          <a:p>
            <a:pPr algn="l">
              <a:lnSpc>
                <a:spcPct val="112000"/>
              </a:lnSpc>
              <a:spcAft>
                <a:spcPts val="0"/>
              </a:spcAft>
            </a:pPr>
            <a:r>
              <a:rPr sz="1300" b="1" i="0">
                <a:solidFill>
                  <a:srgbClr val="1D1D1F"/>
                </a:solidFill>
                <a:latin typeface="Helvetica Neue"/>
              </a:rPr>
              <a:t>Engine cranks but won’t start</a:t>
            </a:r>
          </a:p>
        </p:txBody>
      </p:sp>
      <p:sp>
        <p:nvSpPr>
          <p:cNvPr id="37" name="Rounded Rectangle 36"/>
          <p:cNvSpPr/>
          <p:nvPr/>
        </p:nvSpPr>
        <p:spPr>
          <a:xfrm>
            <a:off x="4526280" y="3246120"/>
            <a:ext cx="1834896" cy="256032"/>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1000" b="1" i="0">
                <a:solidFill>
                  <a:srgbClr val="8A5A10"/>
                </a:solidFill>
                <a:latin typeface="Helvetica Neue"/>
              </a:rPr>
              <a:t>conflicting · severe</a:t>
            </a:r>
          </a:p>
        </p:txBody>
      </p:sp>
      <p:sp>
        <p:nvSpPr>
          <p:cNvPr id="38" name="TextBox 37"/>
          <p:cNvSpPr txBox="1"/>
          <p:nvPr/>
        </p:nvSpPr>
        <p:spPr>
          <a:xfrm>
            <a:off x="4526280" y="3538727"/>
            <a:ext cx="3200400" cy="228600"/>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Menlo"/>
              </a:rPr>
              <a:t>INSP-2  vs  INTAKE</a:t>
            </a:r>
          </a:p>
        </p:txBody>
      </p:sp>
      <p:sp>
        <p:nvSpPr>
          <p:cNvPr id="39" name="Rounded Rectangle 38"/>
          <p:cNvSpPr/>
          <p:nvPr/>
        </p:nvSpPr>
        <p:spPr>
          <a:xfrm>
            <a:off x="4343400" y="3950208"/>
            <a:ext cx="3566160" cy="1024128"/>
          </a:xfrm>
          <a:prstGeom prst="roundRect">
            <a:avLst>
              <a:gd name="adj" fmla="val 17857"/>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0" name="TextBox 39"/>
          <p:cNvSpPr txBox="1"/>
          <p:nvPr/>
        </p:nvSpPr>
        <p:spPr>
          <a:xfrm>
            <a:off x="4526280" y="4059936"/>
            <a:ext cx="3200400" cy="274320"/>
          </a:xfrm>
          <a:prstGeom prst="rect">
            <a:avLst/>
          </a:prstGeom>
          <a:noFill/>
        </p:spPr>
        <p:txBody>
          <a:bodyPr wrap="square" lIns="0" rIns="0" tIns="0" bIns="0" anchor="t">
            <a:noAutofit/>
          </a:bodyPr>
          <a:lstStyle/>
          <a:p>
            <a:pPr algn="l">
              <a:lnSpc>
                <a:spcPct val="112000"/>
              </a:lnSpc>
              <a:spcAft>
                <a:spcPts val="0"/>
              </a:spcAft>
            </a:pPr>
            <a:r>
              <a:rPr sz="1300" b="1" i="0">
                <a:solidFill>
                  <a:srgbClr val="1D1D1F"/>
                </a:solidFill>
                <a:latin typeface="Helvetica Neue"/>
              </a:rPr>
              <a:t>Not drivable, pushed to a bay</a:t>
            </a:r>
          </a:p>
        </p:txBody>
      </p:sp>
      <p:sp>
        <p:nvSpPr>
          <p:cNvPr id="41" name="Rounded Rectangle 40"/>
          <p:cNvSpPr/>
          <p:nvPr/>
        </p:nvSpPr>
        <p:spPr>
          <a:xfrm>
            <a:off x="4526280" y="4407408"/>
            <a:ext cx="1834896" cy="256032"/>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1000" b="1" i="0">
                <a:solidFill>
                  <a:srgbClr val="8A5A10"/>
                </a:solidFill>
                <a:latin typeface="Helvetica Neue"/>
              </a:rPr>
              <a:t>conflicting · severe</a:t>
            </a:r>
          </a:p>
        </p:txBody>
      </p:sp>
      <p:sp>
        <p:nvSpPr>
          <p:cNvPr id="42" name="TextBox 41"/>
          <p:cNvSpPr txBox="1"/>
          <p:nvPr/>
        </p:nvSpPr>
        <p:spPr>
          <a:xfrm>
            <a:off x="4526280" y="4700016"/>
            <a:ext cx="3200400" cy="228600"/>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Menlo"/>
              </a:rPr>
              <a:t>INSP-2  vs  INTAKE</a:t>
            </a:r>
          </a:p>
        </p:txBody>
      </p:sp>
      <p:sp>
        <p:nvSpPr>
          <p:cNvPr id="43" name="Rounded Rectangle 42"/>
          <p:cNvSpPr/>
          <p:nvPr/>
        </p:nvSpPr>
        <p:spPr>
          <a:xfrm>
            <a:off x="4343400" y="5111496"/>
            <a:ext cx="3566160" cy="1024128"/>
          </a:xfrm>
          <a:prstGeom prst="roundRect">
            <a:avLst>
              <a:gd name="adj" fmla="val 17857"/>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4" name="TextBox 43"/>
          <p:cNvSpPr txBox="1"/>
          <p:nvPr/>
        </p:nvSpPr>
        <p:spPr>
          <a:xfrm>
            <a:off x="4526280" y="5221224"/>
            <a:ext cx="3200400" cy="274320"/>
          </a:xfrm>
          <a:prstGeom prst="rect">
            <a:avLst/>
          </a:prstGeom>
          <a:noFill/>
        </p:spPr>
        <p:txBody>
          <a:bodyPr wrap="square" lIns="0" rIns="0" tIns="0" bIns="0" anchor="t">
            <a:noAutofit/>
          </a:bodyPr>
          <a:lstStyle/>
          <a:p>
            <a:pPr algn="l">
              <a:lnSpc>
                <a:spcPct val="112000"/>
              </a:lnSpc>
              <a:spcAft>
                <a:spcPts val="0"/>
              </a:spcAft>
            </a:pPr>
            <a:r>
              <a:rPr sz="1300" b="1" i="0">
                <a:solidFill>
                  <a:srgbClr val="1D1D1F"/>
                </a:solidFill>
                <a:latin typeface="Helvetica Neue"/>
              </a:rPr>
              <a:t>Keys present</a:t>
            </a:r>
          </a:p>
        </p:txBody>
      </p:sp>
      <p:sp>
        <p:nvSpPr>
          <p:cNvPr id="45" name="Rounded Rectangle 44"/>
          <p:cNvSpPr/>
          <p:nvPr/>
        </p:nvSpPr>
        <p:spPr>
          <a:xfrm>
            <a:off x="4526280" y="5568696"/>
            <a:ext cx="844296" cy="256032"/>
          </a:xfrm>
          <a:prstGeom prst="roundRect">
            <a:avLst>
              <a:gd name="adj" fmla="val 50000"/>
            </a:avLst>
          </a:prstGeom>
          <a:solidFill>
            <a:srgbClr val="EFECFB"/>
          </a:solidFill>
          <a:ln>
            <a:noFill/>
          </a:ln>
          <a:effectLst/>
        </p:spPr>
        <p:txBody>
          <a:bodyPr rtlCol="0" anchor="ctr" wrap="none" tIns="0" bIns="0">
            <a:noAutofit/>
          </a:bodyPr>
          <a:lstStyle/>
          <a:p>
            <a:pPr algn="ctr">
              <a:lnSpc>
                <a:spcPct val="112000"/>
              </a:lnSpc>
              <a:spcAft>
                <a:spcPts val="0"/>
              </a:spcAft>
            </a:pPr>
            <a:r>
              <a:rPr sz="1000" b="1" i="0">
                <a:solidFill>
                  <a:srgbClr val="5E4BB0"/>
                </a:solidFill>
                <a:latin typeface="Helvetica Neue"/>
              </a:rPr>
              <a:t>unknown</a:t>
            </a:r>
          </a:p>
        </p:txBody>
      </p:sp>
      <p:sp>
        <p:nvSpPr>
          <p:cNvPr id="46" name="TextBox 45"/>
          <p:cNvSpPr txBox="1"/>
          <p:nvPr/>
        </p:nvSpPr>
        <p:spPr>
          <a:xfrm>
            <a:off x="4526280" y="5861304"/>
            <a:ext cx="3200400" cy="228600"/>
          </a:xfrm>
          <a:prstGeom prst="rect">
            <a:avLst/>
          </a:prstGeom>
          <a:noFill/>
        </p:spPr>
        <p:txBody>
          <a:bodyPr wrap="square" lIns="0" rIns="0" tIns="0" bIns="0" anchor="t">
            <a:noAutofit/>
          </a:bodyPr>
          <a:lstStyle/>
          <a:p>
            <a:pPr algn="l">
              <a:lnSpc>
                <a:spcPct val="112000"/>
              </a:lnSpc>
              <a:spcAft>
                <a:spcPts val="0"/>
              </a:spcAft>
            </a:pPr>
            <a:r>
              <a:rPr sz="950" b="0" i="0">
                <a:solidFill>
                  <a:srgbClr val="6E6E73"/>
                </a:solidFill>
                <a:latin typeface="Menlo"/>
              </a:rPr>
              <a:t>not observed</a:t>
            </a:r>
          </a:p>
        </p:txBody>
      </p:sp>
      <p:sp>
        <p:nvSpPr>
          <p:cNvPr id="47" name="Rounded Rectangle 46"/>
          <p:cNvSpPr/>
          <p:nvPr/>
        </p:nvSpPr>
        <p:spPr>
          <a:xfrm>
            <a:off x="8138160" y="2788920"/>
            <a:ext cx="3502152" cy="1965960"/>
          </a:xfrm>
          <a:prstGeom prst="roundRect">
            <a:avLst>
              <a:gd name="adj" fmla="val 9302"/>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8" name="TextBox 47"/>
          <p:cNvSpPr txBox="1"/>
          <p:nvPr/>
        </p:nvSpPr>
        <p:spPr>
          <a:xfrm>
            <a:off x="8321040" y="2898648"/>
            <a:ext cx="3108960" cy="274320"/>
          </a:xfrm>
          <a:prstGeom prst="rect">
            <a:avLst/>
          </a:prstGeom>
          <a:noFill/>
        </p:spPr>
        <p:txBody>
          <a:bodyPr wrap="square" lIns="0" rIns="0" tIns="0" bIns="0" anchor="t">
            <a:noAutofit/>
          </a:bodyPr>
          <a:lstStyle/>
          <a:p>
            <a:pPr algn="l">
              <a:lnSpc>
                <a:spcPct val="112000"/>
              </a:lnSpc>
              <a:spcAft>
                <a:spcPts val="0"/>
              </a:spcAft>
            </a:pPr>
            <a:r>
              <a:rPr sz="1200" b="1" i="0">
                <a:solidFill>
                  <a:srgbClr val="1D1D1F"/>
                </a:solidFill>
                <a:latin typeface="Helvetica Neue"/>
              </a:rPr>
              <a:t>Next checks (deterministic)</a:t>
            </a:r>
          </a:p>
        </p:txBody>
      </p:sp>
      <p:sp>
        <p:nvSpPr>
          <p:cNvPr id="49" name="Oval 48"/>
          <p:cNvSpPr/>
          <p:nvPr/>
        </p:nvSpPr>
        <p:spPr>
          <a:xfrm>
            <a:off x="8321040" y="3291840"/>
            <a:ext cx="310896" cy="310896"/>
          </a:xfrm>
          <a:prstGeom prst="ellipse">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000" b="1" i="0">
                <a:solidFill>
                  <a:srgbClr val="FFFFFF"/>
                </a:solidFill>
                <a:latin typeface="Helvetica Neue"/>
              </a:rPr>
              <a:t>1</a:t>
            </a:r>
          </a:p>
        </p:txBody>
      </p:sp>
      <p:sp>
        <p:nvSpPr>
          <p:cNvPr id="50" name="TextBox 49"/>
          <p:cNvSpPr txBox="1"/>
          <p:nvPr/>
        </p:nvSpPr>
        <p:spPr>
          <a:xfrm>
            <a:off x="8732520" y="3319272"/>
            <a:ext cx="2743200" cy="274320"/>
          </a:xfrm>
          <a:prstGeom prst="rect">
            <a:avLst/>
          </a:prstGeom>
          <a:noFill/>
        </p:spPr>
        <p:txBody>
          <a:bodyPr wrap="square" lIns="0" rIns="0" tIns="0" bIns="0" anchor="t">
            <a:noAutofit/>
          </a:bodyPr>
          <a:lstStyle/>
          <a:p>
            <a:pPr algn="l">
              <a:lnSpc>
                <a:spcPct val="112000"/>
              </a:lnSpc>
              <a:spcAft>
                <a:spcPts val="0"/>
              </a:spcAft>
            </a:pPr>
            <a:r>
              <a:rPr sz="1200" b="0" i="0">
                <a:solidFill>
                  <a:srgbClr val="1D1D1F"/>
                </a:solidFill>
                <a:latin typeface="Helvetica Neue"/>
              </a:rPr>
              <a:t>Starting/charging diagnostic</a:t>
            </a:r>
          </a:p>
        </p:txBody>
      </p:sp>
      <p:sp>
        <p:nvSpPr>
          <p:cNvPr id="51" name="Oval 50"/>
          <p:cNvSpPr/>
          <p:nvPr/>
        </p:nvSpPr>
        <p:spPr>
          <a:xfrm>
            <a:off x="8321040" y="3749039"/>
            <a:ext cx="310896" cy="310896"/>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000" b="1" i="0">
                <a:solidFill>
                  <a:srgbClr val="2560D6"/>
                </a:solidFill>
                <a:latin typeface="Helvetica Neue"/>
              </a:rPr>
              <a:t>2</a:t>
            </a:r>
          </a:p>
        </p:txBody>
      </p:sp>
      <p:sp>
        <p:nvSpPr>
          <p:cNvPr id="52" name="TextBox 51"/>
          <p:cNvSpPr txBox="1"/>
          <p:nvPr/>
        </p:nvSpPr>
        <p:spPr>
          <a:xfrm>
            <a:off x="8732520" y="3776472"/>
            <a:ext cx="2743200" cy="274320"/>
          </a:xfrm>
          <a:prstGeom prst="rect">
            <a:avLst/>
          </a:prstGeom>
          <a:noFill/>
        </p:spPr>
        <p:txBody>
          <a:bodyPr wrap="square" lIns="0" rIns="0" tIns="0" bIns="0" anchor="t">
            <a:noAutofit/>
          </a:bodyPr>
          <a:lstStyle/>
          <a:p>
            <a:pPr algn="l">
              <a:lnSpc>
                <a:spcPct val="112000"/>
              </a:lnSpc>
              <a:spcAft>
                <a:spcPts val="0"/>
              </a:spcAft>
            </a:pPr>
            <a:r>
              <a:rPr sz="1200" b="0" i="0">
                <a:solidFill>
                  <a:srgbClr val="1D1D1F"/>
                </a:solidFill>
                <a:latin typeface="Helvetica Neue"/>
              </a:rPr>
              <a:t>Locate and count keys</a:t>
            </a:r>
          </a:p>
        </p:txBody>
      </p:sp>
      <p:sp>
        <p:nvSpPr>
          <p:cNvPr id="53" name="Oval 52"/>
          <p:cNvSpPr/>
          <p:nvPr/>
        </p:nvSpPr>
        <p:spPr>
          <a:xfrm>
            <a:off x="8321040" y="4206240"/>
            <a:ext cx="310896" cy="310896"/>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000" b="1" i="0">
                <a:solidFill>
                  <a:srgbClr val="2560D6"/>
                </a:solidFill>
                <a:latin typeface="Helvetica Neue"/>
              </a:rPr>
              <a:t>3</a:t>
            </a:r>
          </a:p>
        </p:txBody>
      </p:sp>
      <p:sp>
        <p:nvSpPr>
          <p:cNvPr id="54" name="TextBox 53"/>
          <p:cNvSpPr txBox="1"/>
          <p:nvPr/>
        </p:nvSpPr>
        <p:spPr>
          <a:xfrm>
            <a:off x="8732520" y="4233672"/>
            <a:ext cx="2743200" cy="274320"/>
          </a:xfrm>
          <a:prstGeom prst="rect">
            <a:avLst/>
          </a:prstGeom>
          <a:noFill/>
        </p:spPr>
        <p:txBody>
          <a:bodyPr wrap="square" lIns="0" rIns="0" tIns="0" bIns="0" anchor="t">
            <a:noAutofit/>
          </a:bodyPr>
          <a:lstStyle/>
          <a:p>
            <a:pPr algn="l">
              <a:lnSpc>
                <a:spcPct val="112000"/>
              </a:lnSpc>
              <a:spcAft>
                <a:spcPts val="0"/>
              </a:spcAft>
            </a:pPr>
            <a:r>
              <a:rPr sz="1200" b="0" i="0">
                <a:solidFill>
                  <a:srgbClr val="1D1D1F"/>
                </a:solidFill>
                <a:latin typeface="Helvetica Neue"/>
              </a:rPr>
              <a:t>Undercarriage imaging</a:t>
            </a:r>
          </a:p>
        </p:txBody>
      </p:sp>
      <p:sp>
        <p:nvSpPr>
          <p:cNvPr id="55" name="Rounded Rectangle 54"/>
          <p:cNvSpPr/>
          <p:nvPr/>
        </p:nvSpPr>
        <p:spPr>
          <a:xfrm>
            <a:off x="8138160" y="4919472"/>
            <a:ext cx="3502152" cy="1280160"/>
          </a:xfrm>
          <a:prstGeom prst="roundRect">
            <a:avLst>
              <a:gd name="adj" fmla="val 11428"/>
            </a:avLst>
          </a:prstGeom>
          <a:solidFill>
            <a:srgbClr val="EAF1FF"/>
          </a:solidFill>
          <a:ln>
            <a:noFill/>
          </a:ln>
          <a:effectLst/>
        </p:spPr>
        <p:txBody>
          <a:bodyPr rtlCol="0" anchor="ctr" wrap="square" lIns="201168" rIns="201168" tIns="36576" bIns="36576">
            <a:noAutofit/>
          </a:bodyPr>
          <a:lstStyle/>
          <a:p>
            <a:pPr algn="l">
              <a:lnSpc>
                <a:spcPct val="112000"/>
              </a:lnSpc>
              <a:spcAft>
                <a:spcPts val="0"/>
              </a:spcAft>
            </a:pPr>
            <a:r>
              <a:rPr sz="1250" b="1" i="0">
                <a:solidFill>
                  <a:srgbClr val="2560D6"/>
                </a:solidFill>
                <a:latin typeface="Helvetica Neue"/>
              </a:rPr>
              <a:t>Reviewer confirms</a:t>
            </a:r>
          </a:p>
          <a:p>
            <a:pPr algn="l">
              <a:lnSpc>
                <a:spcPct val="112000"/>
              </a:lnSpc>
              <a:spcAft>
                <a:spcPts val="0"/>
              </a:spcAft>
            </a:pPr>
            <a:r>
              <a:rPr sz="1250" b="0" i="0">
                <a:solidFill>
                  <a:srgbClr val="2560D6"/>
                </a:solidFill>
                <a:latin typeface="Helvetica Neue"/>
              </a:rPr>
              <a:t>startsEngine = false, drivable = false → vehicle Revision 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20</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Demo · Step 4 · LoadLink</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Which truck can actually move it?</a:t>
            </a:r>
          </a:p>
        </p:txBody>
      </p:sp>
      <p:sp>
        <p:nvSpPr>
          <p:cNvPr id="19" name="!!sub"/>
          <p:cNvSpPr txBox="1"/>
          <p:nvPr/>
        </p:nvSpPr>
        <p:spPr>
          <a:xfrm>
            <a:off x="548640" y="1810512"/>
            <a:ext cx="731520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ACV- and Copart-tagged loads pooled on one plan; non-runners only go to trucks with a winch.</a:t>
            </a:r>
          </a:p>
        </p:txBody>
      </p:sp>
      <p:sp>
        <p:nvSpPr>
          <p:cNvPr id="20" name="!!dl_track"/>
          <p:cNvSpPr/>
          <p:nvPr/>
        </p:nvSpPr>
        <p:spPr>
          <a:xfrm>
            <a:off x="8092440" y="1188720"/>
            <a:ext cx="3639312" cy="365760"/>
          </a:xfrm>
          <a:prstGeom prst="roundRect">
            <a:avLst>
              <a:gd name="adj" fmla="val 30000"/>
            </a:avLst>
          </a:prstGeom>
          <a:solidFill>
            <a:srgbClr val="E8E8ED"/>
          </a:solidFill>
          <a:ln>
            <a:noFill/>
          </a:ln>
          <a:effectLst/>
        </p:spPr>
        <p:txBody>
          <a:bodyPr rtlCol="0" anchor="ctr"/>
          <a:lstStyle/>
          <a:p>
            <a:pPr algn="ctr"/>
          </a:p>
        </p:txBody>
      </p:sp>
      <p:sp>
        <p:nvSpPr>
          <p:cNvPr id="21" name="!!dl_active"/>
          <p:cNvSpPr/>
          <p:nvPr/>
        </p:nvSpPr>
        <p:spPr>
          <a:xfrm>
            <a:off x="8129015" y="1225296"/>
            <a:ext cx="1783080"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2" name="!!dl_0"/>
          <p:cNvSpPr/>
          <p:nvPr/>
        </p:nvSpPr>
        <p:spPr>
          <a:xfrm>
            <a:off x="8129015" y="1225296"/>
            <a:ext cx="178308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Winch available</a:t>
            </a:r>
          </a:p>
        </p:txBody>
      </p:sp>
      <p:sp>
        <p:nvSpPr>
          <p:cNvPr id="23" name="!!dl_1">
            <a:hlinkClick action="ppaction://hlinksldjump" r:id="rId11"/>
          </p:cNvPr>
          <p:cNvSpPr/>
          <p:nvPr/>
        </p:nvSpPr>
        <p:spPr>
          <a:xfrm>
            <a:off x="9912095" y="1225296"/>
            <a:ext cx="178308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Winch out of service</a:t>
            </a:r>
          </a:p>
        </p:txBody>
      </p:sp>
      <p:sp>
        <p:nvSpPr>
          <p:cNvPr id="24" name="!!dl_status"/>
          <p:cNvSpPr/>
          <p:nvPr/>
        </p:nvSpPr>
        <p:spPr>
          <a:xfrm>
            <a:off x="548640" y="2468880"/>
            <a:ext cx="3911346" cy="292608"/>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1050" b="1" i="0">
                <a:solidFill>
                  <a:srgbClr val="8A5A10"/>
                </a:solidFill>
                <a:latin typeface="Helvetica Neue"/>
              </a:rPr>
              <a:t>Provisional · readiness unknown for some work</a:t>
            </a:r>
          </a:p>
        </p:txBody>
      </p:sp>
      <p:sp>
        <p:nvSpPr>
          <p:cNvPr id="25" name="!!dl_nodispatch"/>
          <p:cNvSpPr/>
          <p:nvPr/>
        </p:nvSpPr>
        <p:spPr>
          <a:xfrm>
            <a:off x="4551425" y="2468880"/>
            <a:ext cx="2631185" cy="292608"/>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1050" b="1" i="0">
                <a:solidFill>
                  <a:srgbClr val="B0383E"/>
                </a:solidFill>
                <a:latin typeface="Helvetica Neue"/>
              </a:rPr>
              <a:t>Not dispatchable (simulation)</a:t>
            </a:r>
          </a:p>
        </p:txBody>
      </p:sp>
      <p:sp>
        <p:nvSpPr>
          <p:cNvPr id="26" name="!!truck_0"/>
          <p:cNvSpPr/>
          <p:nvPr/>
        </p:nvSpPr>
        <p:spPr>
          <a:xfrm>
            <a:off x="548640" y="2926080"/>
            <a:ext cx="3566160" cy="3337560"/>
          </a:xfrm>
          <a:prstGeom prst="roundRect">
            <a:avLst>
              <a:gd name="adj" fmla="val 547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7" name="!!truck_name_0"/>
          <p:cNvSpPr txBox="1"/>
          <p:nvPr/>
        </p:nvSpPr>
        <p:spPr>
          <a:xfrm>
            <a:off x="749808" y="3072384"/>
            <a:ext cx="2103120" cy="502920"/>
          </a:xfrm>
          <a:prstGeom prst="rect">
            <a:avLst/>
          </a:prstGeom>
          <a:noFill/>
        </p:spPr>
        <p:txBody>
          <a:bodyPr wrap="square" lIns="0" rIns="0" tIns="0" bIns="0" anchor="t">
            <a:noAutofit/>
          </a:bodyPr>
          <a:lstStyle/>
          <a:p>
            <a:pPr algn="l">
              <a:lnSpc>
                <a:spcPct val="105000"/>
              </a:lnSpc>
              <a:spcAft>
                <a:spcPts val="0"/>
              </a:spcAft>
            </a:pPr>
            <a:r>
              <a:rPr sz="1500" b="1" i="0">
                <a:solidFill>
                  <a:srgbClr val="1D1D1F"/>
                </a:solidFill>
                <a:latin typeface="Helvetica Neue"/>
              </a:rPr>
              <a:t>CR-DEMO-A</a:t>
            </a:r>
          </a:p>
          <a:p>
            <a:pPr algn="l">
              <a:lnSpc>
                <a:spcPct val="105000"/>
              </a:lnSpc>
              <a:spcAft>
                <a:spcPts val="0"/>
              </a:spcAft>
            </a:pPr>
            <a:r>
              <a:rPr sz="1000" b="0" i="0">
                <a:solidFill>
                  <a:srgbClr val="6E6E73"/>
                </a:solidFill>
                <a:latin typeface="Helvetica Neue"/>
              </a:rPr>
              <a:t>3 slots · open deck</a:t>
            </a:r>
          </a:p>
        </p:txBody>
      </p:sp>
      <p:sp>
        <p:nvSpPr>
          <p:cNvPr id="28" name="!!truck_km_0"/>
          <p:cNvSpPr txBox="1"/>
          <p:nvPr/>
        </p:nvSpPr>
        <p:spPr>
          <a:xfrm>
            <a:off x="2651760" y="3072384"/>
            <a:ext cx="1280160" cy="411480"/>
          </a:xfrm>
          <a:prstGeom prst="rect">
            <a:avLst/>
          </a:prstGeom>
          <a:noFill/>
        </p:spPr>
        <p:txBody>
          <a:bodyPr wrap="square" lIns="0" rIns="0" tIns="0" bIns="0" anchor="t">
            <a:noAutofit/>
          </a:bodyPr>
          <a:lstStyle/>
          <a:p>
            <a:pPr algn="r">
              <a:lnSpc>
                <a:spcPct val="112000"/>
              </a:lnSpc>
              <a:spcAft>
                <a:spcPts val="0"/>
              </a:spcAft>
            </a:pPr>
            <a:r>
              <a:rPr sz="2200" b="1" i="0" spc="-40">
                <a:solidFill>
                  <a:srgbClr val="1D1D1F"/>
                </a:solidFill>
                <a:latin typeface="Helvetica Neue"/>
              </a:rPr>
              <a:t>360 km</a:t>
            </a:r>
          </a:p>
        </p:txBody>
      </p:sp>
      <p:sp>
        <p:nvSpPr>
          <p:cNvPr id="29" name="!!truck_line_0"/>
          <p:cNvSpPr/>
          <p:nvPr/>
        </p:nvSpPr>
        <p:spPr>
          <a:xfrm>
            <a:off x="877824" y="3840480"/>
            <a:ext cx="27432" cy="1152144"/>
          </a:xfrm>
          <a:prstGeom prst="roundRect">
            <a:avLst>
              <a:gd name="adj" fmla="val 0"/>
            </a:avLst>
          </a:prstGeom>
          <a:solidFill>
            <a:srgbClr val="B8C8EE"/>
          </a:solidFill>
          <a:ln>
            <a:noFill/>
          </a:ln>
          <a:effectLst/>
        </p:spPr>
        <p:txBody>
          <a:bodyPr rtlCol="0" anchor="ctr"/>
          <a:lstStyle/>
          <a:p>
            <a:pPr algn="ctr"/>
          </a:p>
        </p:txBody>
      </p:sp>
      <p:sp>
        <p:nvSpPr>
          <p:cNvPr id="30" name="!!stop_dot_0_0"/>
          <p:cNvSpPr/>
          <p:nvPr/>
        </p:nvSpPr>
        <p:spPr>
          <a:xfrm>
            <a:off x="804672" y="3776472"/>
            <a:ext cx="173736" cy="173736"/>
          </a:xfrm>
          <a:prstGeom prst="ellipse">
            <a:avLst/>
          </a:prstGeom>
          <a:solidFill>
            <a:srgbClr val="FFFFFF"/>
          </a:solidFill>
          <a:ln w="19050">
            <a:solidFill>
              <a:srgbClr val="2F6BE6"/>
            </a:solidFill>
          </a:ln>
          <a:effectLst/>
        </p:spPr>
        <p:txBody>
          <a:bodyPr rtlCol="0" anchor="ctr"/>
          <a:lstStyle/>
          <a:p>
            <a:pPr algn="ctr"/>
          </a:p>
        </p:txBody>
      </p:sp>
      <p:sp>
        <p:nvSpPr>
          <p:cNvPr id="31" name="!!stop_0_0"/>
          <p:cNvSpPr txBox="1"/>
          <p:nvPr/>
        </p:nvSpPr>
        <p:spPr>
          <a:xfrm>
            <a:off x="1097280" y="3730752"/>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Pick up </a:t>
            </a:r>
            <a:r>
              <a:rPr sz="1000" b="0" i="0">
                <a:solidFill>
                  <a:srgbClr val="1D1D1F"/>
                </a:solidFill>
                <a:latin typeface="Menlo"/>
              </a:rPr>
              <a:t>SH-DEMO-004</a:t>
            </a:r>
            <a:r>
              <a:rPr sz="1100" b="0" i="0">
                <a:solidFill>
                  <a:srgbClr val="6E6E73"/>
                </a:solidFill>
                <a:latin typeface="Helvetica Neue"/>
              </a:rPr>
              <a:t>  @ Seller lot</a:t>
            </a:r>
          </a:p>
        </p:txBody>
      </p:sp>
      <p:sp>
        <p:nvSpPr>
          <p:cNvPr id="32" name="!!stop_dot_0_1"/>
          <p:cNvSpPr/>
          <p:nvPr/>
        </p:nvSpPr>
        <p:spPr>
          <a:xfrm>
            <a:off x="804672" y="4160520"/>
            <a:ext cx="173736" cy="173736"/>
          </a:xfrm>
          <a:prstGeom prst="ellipse">
            <a:avLst/>
          </a:prstGeom>
          <a:solidFill>
            <a:srgbClr val="FFFFFF"/>
          </a:solidFill>
          <a:ln w="19050">
            <a:solidFill>
              <a:srgbClr val="2F6BE6"/>
            </a:solidFill>
          </a:ln>
          <a:effectLst/>
        </p:spPr>
        <p:txBody>
          <a:bodyPr rtlCol="0" anchor="ctr"/>
          <a:lstStyle/>
          <a:p>
            <a:pPr algn="ctr"/>
          </a:p>
        </p:txBody>
      </p:sp>
      <p:sp>
        <p:nvSpPr>
          <p:cNvPr id="33" name="!!stop_0_1"/>
          <p:cNvSpPr txBox="1"/>
          <p:nvPr/>
        </p:nvSpPr>
        <p:spPr>
          <a:xfrm>
            <a:off x="1097280" y="4114800"/>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Pick up </a:t>
            </a:r>
            <a:r>
              <a:rPr sz="1000" b="0" i="0">
                <a:solidFill>
                  <a:srgbClr val="1D1D1F"/>
                </a:solidFill>
                <a:latin typeface="Menlo"/>
              </a:rPr>
              <a:t>SH-DEMO-003</a:t>
            </a:r>
            <a:r>
              <a:rPr sz="1100" b="0" i="0">
                <a:solidFill>
                  <a:srgbClr val="6E6E73"/>
                </a:solidFill>
                <a:latin typeface="Helvetica Neue"/>
              </a:rPr>
              <a:t>  @ Yard N</a:t>
            </a:r>
          </a:p>
        </p:txBody>
      </p:sp>
      <p:sp>
        <p:nvSpPr>
          <p:cNvPr id="34" name="!!stop_dot_0_2"/>
          <p:cNvSpPr/>
          <p:nvPr/>
        </p:nvSpPr>
        <p:spPr>
          <a:xfrm>
            <a:off x="804672" y="4544568"/>
            <a:ext cx="173736" cy="173736"/>
          </a:xfrm>
          <a:prstGeom prst="ellipse">
            <a:avLst/>
          </a:prstGeom>
          <a:solidFill>
            <a:srgbClr val="2F6BE6"/>
          </a:solidFill>
          <a:ln w="19050">
            <a:solidFill>
              <a:srgbClr val="2F6BE6"/>
            </a:solidFill>
          </a:ln>
          <a:effectLst/>
        </p:spPr>
        <p:txBody>
          <a:bodyPr rtlCol="0" anchor="ctr"/>
          <a:lstStyle/>
          <a:p>
            <a:pPr algn="ctr"/>
          </a:p>
        </p:txBody>
      </p:sp>
      <p:sp>
        <p:nvSpPr>
          <p:cNvPr id="35" name="!!stop_0_2"/>
          <p:cNvSpPr txBox="1"/>
          <p:nvPr/>
        </p:nvSpPr>
        <p:spPr>
          <a:xfrm>
            <a:off x="1097280" y="4498848"/>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Deliver </a:t>
            </a:r>
            <a:r>
              <a:rPr sz="1000" b="0" i="0">
                <a:solidFill>
                  <a:srgbClr val="1D1D1F"/>
                </a:solidFill>
                <a:latin typeface="Menlo"/>
              </a:rPr>
              <a:t>SH-DEMO-003</a:t>
            </a:r>
            <a:r>
              <a:rPr sz="1100" b="0" i="0">
                <a:solidFill>
                  <a:srgbClr val="6E6E73"/>
                </a:solidFill>
                <a:latin typeface="Helvetica Neue"/>
              </a:rPr>
              <a:t>  @ Buyer 101</a:t>
            </a:r>
          </a:p>
        </p:txBody>
      </p:sp>
      <p:sp>
        <p:nvSpPr>
          <p:cNvPr id="36" name="!!stop_dot_0_3"/>
          <p:cNvSpPr/>
          <p:nvPr/>
        </p:nvSpPr>
        <p:spPr>
          <a:xfrm>
            <a:off x="804672" y="4928616"/>
            <a:ext cx="173736" cy="173736"/>
          </a:xfrm>
          <a:prstGeom prst="ellipse">
            <a:avLst/>
          </a:prstGeom>
          <a:solidFill>
            <a:srgbClr val="2F6BE6"/>
          </a:solidFill>
          <a:ln w="19050">
            <a:solidFill>
              <a:srgbClr val="2F6BE6"/>
            </a:solidFill>
          </a:ln>
          <a:effectLst/>
        </p:spPr>
        <p:txBody>
          <a:bodyPr rtlCol="0" anchor="ctr"/>
          <a:lstStyle/>
          <a:p>
            <a:pPr algn="ctr"/>
          </a:p>
        </p:txBody>
      </p:sp>
      <p:sp>
        <p:nvSpPr>
          <p:cNvPr id="37" name="!!stop_0_3"/>
          <p:cNvSpPr txBox="1"/>
          <p:nvPr/>
        </p:nvSpPr>
        <p:spPr>
          <a:xfrm>
            <a:off x="1097280" y="4882896"/>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Deliver </a:t>
            </a:r>
            <a:r>
              <a:rPr sz="1000" b="0" i="0">
                <a:solidFill>
                  <a:srgbClr val="1D1D1F"/>
                </a:solidFill>
                <a:latin typeface="Menlo"/>
              </a:rPr>
              <a:t>SH-DEMO-004</a:t>
            </a:r>
            <a:r>
              <a:rPr sz="1100" b="0" i="0">
                <a:solidFill>
                  <a:srgbClr val="6E6E73"/>
                </a:solidFill>
                <a:latin typeface="Helvetica Neue"/>
              </a:rPr>
              <a:t>  @ Buyer 101</a:t>
            </a:r>
          </a:p>
        </p:txBody>
      </p:sp>
      <p:sp>
        <p:nvSpPr>
          <p:cNvPr id="38" name="!!truck_1"/>
          <p:cNvSpPr/>
          <p:nvPr/>
        </p:nvSpPr>
        <p:spPr>
          <a:xfrm>
            <a:off x="4297679" y="2926080"/>
            <a:ext cx="3566160" cy="3337560"/>
          </a:xfrm>
          <a:prstGeom prst="roundRect">
            <a:avLst>
              <a:gd name="adj" fmla="val 547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9" name="!!truck_name_1"/>
          <p:cNvSpPr txBox="1"/>
          <p:nvPr/>
        </p:nvSpPr>
        <p:spPr>
          <a:xfrm>
            <a:off x="4498847" y="3072384"/>
            <a:ext cx="2103120" cy="502920"/>
          </a:xfrm>
          <a:prstGeom prst="rect">
            <a:avLst/>
          </a:prstGeom>
          <a:noFill/>
        </p:spPr>
        <p:txBody>
          <a:bodyPr wrap="square" lIns="0" rIns="0" tIns="0" bIns="0" anchor="t">
            <a:noAutofit/>
          </a:bodyPr>
          <a:lstStyle/>
          <a:p>
            <a:pPr algn="l">
              <a:lnSpc>
                <a:spcPct val="105000"/>
              </a:lnSpc>
              <a:spcAft>
                <a:spcPts val="0"/>
              </a:spcAft>
            </a:pPr>
            <a:r>
              <a:rPr sz="1500" b="1" i="0">
                <a:solidFill>
                  <a:srgbClr val="1D1D1F"/>
                </a:solidFill>
                <a:latin typeface="Helvetica Neue"/>
              </a:rPr>
              <a:t>CR-DEMO-B</a:t>
            </a:r>
          </a:p>
          <a:p>
            <a:pPr algn="l">
              <a:lnSpc>
                <a:spcPct val="105000"/>
              </a:lnSpc>
              <a:spcAft>
                <a:spcPts val="0"/>
              </a:spcAft>
            </a:pPr>
            <a:r>
              <a:rPr sz="1000" b="0" i="0">
                <a:solidFill>
                  <a:srgbClr val="6E6E73"/>
                </a:solidFill>
                <a:latin typeface="Helvetica Neue"/>
              </a:rPr>
              <a:t>2 slots · open deck + winch</a:t>
            </a:r>
          </a:p>
        </p:txBody>
      </p:sp>
      <p:sp>
        <p:nvSpPr>
          <p:cNvPr id="40" name="!!truck_km_1"/>
          <p:cNvSpPr txBox="1"/>
          <p:nvPr/>
        </p:nvSpPr>
        <p:spPr>
          <a:xfrm>
            <a:off x="6400799" y="3072384"/>
            <a:ext cx="1280160" cy="411480"/>
          </a:xfrm>
          <a:prstGeom prst="rect">
            <a:avLst/>
          </a:prstGeom>
          <a:noFill/>
        </p:spPr>
        <p:txBody>
          <a:bodyPr wrap="square" lIns="0" rIns="0" tIns="0" bIns="0" anchor="t">
            <a:noAutofit/>
          </a:bodyPr>
          <a:lstStyle/>
          <a:p>
            <a:pPr algn="r">
              <a:lnSpc>
                <a:spcPct val="112000"/>
              </a:lnSpc>
              <a:spcAft>
                <a:spcPts val="0"/>
              </a:spcAft>
            </a:pPr>
            <a:r>
              <a:rPr sz="2200" b="1" i="0" spc="-40">
                <a:solidFill>
                  <a:srgbClr val="1D1D1F"/>
                </a:solidFill>
                <a:latin typeface="Helvetica Neue"/>
              </a:rPr>
              <a:t>375 km</a:t>
            </a:r>
          </a:p>
        </p:txBody>
      </p:sp>
      <p:sp>
        <p:nvSpPr>
          <p:cNvPr id="41" name="!!truck_line_1"/>
          <p:cNvSpPr/>
          <p:nvPr/>
        </p:nvSpPr>
        <p:spPr>
          <a:xfrm>
            <a:off x="4626864" y="3840480"/>
            <a:ext cx="27432" cy="1152144"/>
          </a:xfrm>
          <a:prstGeom prst="roundRect">
            <a:avLst>
              <a:gd name="adj" fmla="val 0"/>
            </a:avLst>
          </a:prstGeom>
          <a:solidFill>
            <a:srgbClr val="B8C8EE"/>
          </a:solidFill>
          <a:ln>
            <a:noFill/>
          </a:ln>
          <a:effectLst/>
        </p:spPr>
        <p:txBody>
          <a:bodyPr rtlCol="0" anchor="ctr"/>
          <a:lstStyle/>
          <a:p>
            <a:pPr algn="ctr"/>
          </a:p>
        </p:txBody>
      </p:sp>
      <p:sp>
        <p:nvSpPr>
          <p:cNvPr id="42" name="!!stop_dot_1_0"/>
          <p:cNvSpPr/>
          <p:nvPr/>
        </p:nvSpPr>
        <p:spPr>
          <a:xfrm>
            <a:off x="4553712" y="3776472"/>
            <a:ext cx="173736" cy="173736"/>
          </a:xfrm>
          <a:prstGeom prst="ellipse">
            <a:avLst/>
          </a:prstGeom>
          <a:solidFill>
            <a:srgbClr val="FFFFFF"/>
          </a:solidFill>
          <a:ln w="19050">
            <a:solidFill>
              <a:srgbClr val="2F6BE6"/>
            </a:solidFill>
          </a:ln>
          <a:effectLst/>
        </p:spPr>
        <p:txBody>
          <a:bodyPr rtlCol="0" anchor="ctr"/>
          <a:lstStyle/>
          <a:p>
            <a:pPr algn="ctr"/>
          </a:p>
        </p:txBody>
      </p:sp>
      <p:sp>
        <p:nvSpPr>
          <p:cNvPr id="43" name="!!stop_1_0"/>
          <p:cNvSpPr txBox="1"/>
          <p:nvPr/>
        </p:nvSpPr>
        <p:spPr>
          <a:xfrm>
            <a:off x="4846319" y="3730752"/>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Pick up </a:t>
            </a:r>
            <a:r>
              <a:rPr sz="1000" b="1" i="0">
                <a:solidFill>
                  <a:srgbClr val="2560D6"/>
                </a:solidFill>
                <a:latin typeface="Menlo"/>
              </a:rPr>
              <a:t>SH-S01-0001</a:t>
            </a:r>
            <a:r>
              <a:rPr sz="1100" b="0" i="0">
                <a:solidFill>
                  <a:srgbClr val="6E6E73"/>
                </a:solidFill>
                <a:latin typeface="Helvetica Neue"/>
              </a:rPr>
              <a:t>  @ Seller lot</a:t>
            </a:r>
          </a:p>
        </p:txBody>
      </p:sp>
      <p:sp>
        <p:nvSpPr>
          <p:cNvPr id="44" name="!!stop_dot_1_1"/>
          <p:cNvSpPr/>
          <p:nvPr/>
        </p:nvSpPr>
        <p:spPr>
          <a:xfrm>
            <a:off x="4553712" y="4160520"/>
            <a:ext cx="173736" cy="173736"/>
          </a:xfrm>
          <a:prstGeom prst="ellipse">
            <a:avLst/>
          </a:prstGeom>
          <a:solidFill>
            <a:srgbClr val="FFFFFF"/>
          </a:solidFill>
          <a:ln w="19050">
            <a:solidFill>
              <a:srgbClr val="2F6BE6"/>
            </a:solidFill>
          </a:ln>
          <a:effectLst/>
        </p:spPr>
        <p:txBody>
          <a:bodyPr rtlCol="0" anchor="ctr"/>
          <a:lstStyle/>
          <a:p>
            <a:pPr algn="ctr"/>
          </a:p>
        </p:txBody>
      </p:sp>
      <p:sp>
        <p:nvSpPr>
          <p:cNvPr id="45" name="!!stop_1_1"/>
          <p:cNvSpPr txBox="1"/>
          <p:nvPr/>
        </p:nvSpPr>
        <p:spPr>
          <a:xfrm>
            <a:off x="4846319" y="4114800"/>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Pick up </a:t>
            </a:r>
            <a:r>
              <a:rPr sz="1000" b="0" i="0">
                <a:solidFill>
                  <a:srgbClr val="1D1D1F"/>
                </a:solidFill>
                <a:latin typeface="Menlo"/>
              </a:rPr>
              <a:t>SH-DEMO-002</a:t>
            </a:r>
            <a:r>
              <a:rPr sz="1100" b="0" i="0">
                <a:solidFill>
                  <a:srgbClr val="6E6E73"/>
                </a:solidFill>
                <a:latin typeface="Helvetica Neue"/>
              </a:rPr>
              <a:t>  @ Yard N</a:t>
            </a:r>
          </a:p>
        </p:txBody>
      </p:sp>
      <p:sp>
        <p:nvSpPr>
          <p:cNvPr id="46" name="!!stop_dot_1_2"/>
          <p:cNvSpPr/>
          <p:nvPr/>
        </p:nvSpPr>
        <p:spPr>
          <a:xfrm>
            <a:off x="4553712" y="4544568"/>
            <a:ext cx="173736" cy="173736"/>
          </a:xfrm>
          <a:prstGeom prst="ellipse">
            <a:avLst/>
          </a:prstGeom>
          <a:solidFill>
            <a:srgbClr val="2F6BE6"/>
          </a:solidFill>
          <a:ln w="19050">
            <a:solidFill>
              <a:srgbClr val="2F6BE6"/>
            </a:solidFill>
          </a:ln>
          <a:effectLst/>
        </p:spPr>
        <p:txBody>
          <a:bodyPr rtlCol="0" anchor="ctr"/>
          <a:lstStyle/>
          <a:p>
            <a:pPr algn="ctr"/>
          </a:p>
        </p:txBody>
      </p:sp>
      <p:sp>
        <p:nvSpPr>
          <p:cNvPr id="47" name="!!stop_1_2"/>
          <p:cNvSpPr txBox="1"/>
          <p:nvPr/>
        </p:nvSpPr>
        <p:spPr>
          <a:xfrm>
            <a:off x="4846319" y="4498848"/>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Deliver </a:t>
            </a:r>
            <a:r>
              <a:rPr sz="1000" b="0" i="0">
                <a:solidFill>
                  <a:srgbClr val="1D1D1F"/>
                </a:solidFill>
                <a:latin typeface="Menlo"/>
              </a:rPr>
              <a:t>SH-DEMO-002</a:t>
            </a:r>
            <a:r>
              <a:rPr sz="1100" b="0" i="0">
                <a:solidFill>
                  <a:srgbClr val="6E6E73"/>
                </a:solidFill>
                <a:latin typeface="Helvetica Neue"/>
              </a:rPr>
              <a:t>  @ Buyer 401</a:t>
            </a:r>
          </a:p>
        </p:txBody>
      </p:sp>
      <p:sp>
        <p:nvSpPr>
          <p:cNvPr id="48" name="!!stop_dot_1_3"/>
          <p:cNvSpPr/>
          <p:nvPr/>
        </p:nvSpPr>
        <p:spPr>
          <a:xfrm>
            <a:off x="4553712" y="4928616"/>
            <a:ext cx="173736" cy="173736"/>
          </a:xfrm>
          <a:prstGeom prst="ellipse">
            <a:avLst/>
          </a:prstGeom>
          <a:solidFill>
            <a:srgbClr val="2F6BE6"/>
          </a:solidFill>
          <a:ln w="19050">
            <a:solidFill>
              <a:srgbClr val="2F6BE6"/>
            </a:solidFill>
          </a:ln>
          <a:effectLst/>
        </p:spPr>
        <p:txBody>
          <a:bodyPr rtlCol="0" anchor="ctr"/>
          <a:lstStyle/>
          <a:p>
            <a:pPr algn="ctr"/>
          </a:p>
        </p:txBody>
      </p:sp>
      <p:sp>
        <p:nvSpPr>
          <p:cNvPr id="49" name="!!stop_1_3"/>
          <p:cNvSpPr txBox="1"/>
          <p:nvPr/>
        </p:nvSpPr>
        <p:spPr>
          <a:xfrm>
            <a:off x="4846319" y="4882896"/>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Deliver </a:t>
            </a:r>
            <a:r>
              <a:rPr sz="1000" b="1" i="0">
                <a:solidFill>
                  <a:srgbClr val="2560D6"/>
                </a:solidFill>
                <a:latin typeface="Menlo"/>
              </a:rPr>
              <a:t>SH-S01-0001</a:t>
            </a:r>
            <a:r>
              <a:rPr sz="1100" b="0" i="0">
                <a:solidFill>
                  <a:srgbClr val="6E6E73"/>
                </a:solidFill>
                <a:latin typeface="Helvetica Neue"/>
              </a:rPr>
              <a:t>  @ Buyer 201</a:t>
            </a:r>
          </a:p>
        </p:txBody>
      </p:sp>
      <p:sp>
        <p:nvSpPr>
          <p:cNvPr id="50" name="!!unassigned"/>
          <p:cNvSpPr/>
          <p:nvPr/>
        </p:nvSpPr>
        <p:spPr>
          <a:xfrm>
            <a:off x="8092440" y="2926080"/>
            <a:ext cx="3547872" cy="3337560"/>
          </a:xfrm>
          <a:prstGeom prst="roundRect">
            <a:avLst>
              <a:gd name="adj" fmla="val 547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51" name="TextBox 50"/>
          <p:cNvSpPr txBox="1"/>
          <p:nvPr/>
        </p:nvSpPr>
        <p:spPr>
          <a:xfrm>
            <a:off x="8293608" y="3072384"/>
            <a:ext cx="3108960" cy="274320"/>
          </a:xfrm>
          <a:prstGeom prst="rect">
            <a:avLst/>
          </a:prstGeom>
          <a:noFill/>
        </p:spPr>
        <p:txBody>
          <a:bodyPr wrap="square" lIns="0" rIns="0" tIns="0" bIns="0" anchor="t">
            <a:noAutofit/>
          </a:bodyPr>
          <a:lstStyle/>
          <a:p>
            <a:pPr algn="l">
              <a:lnSpc>
                <a:spcPct val="112000"/>
              </a:lnSpc>
              <a:spcAft>
                <a:spcPts val="0"/>
              </a:spcAft>
            </a:pPr>
            <a:r>
              <a:rPr sz="1350" b="1" i="0">
                <a:solidFill>
                  <a:srgbClr val="1D1D1F"/>
                </a:solidFill>
                <a:latin typeface="Helvetica Neue"/>
              </a:rPr>
              <a:t>Unassigned, with a reason</a:t>
            </a:r>
          </a:p>
        </p:txBody>
      </p:sp>
      <p:sp>
        <p:nvSpPr>
          <p:cNvPr id="52" name="!!un_id_0"/>
          <p:cNvSpPr txBox="1"/>
          <p:nvPr/>
        </p:nvSpPr>
        <p:spPr>
          <a:xfrm>
            <a:off x="8293608" y="3493008"/>
            <a:ext cx="1463040" cy="274320"/>
          </a:xfrm>
          <a:prstGeom prst="rect">
            <a:avLst/>
          </a:prstGeom>
          <a:noFill/>
        </p:spPr>
        <p:txBody>
          <a:bodyPr wrap="square" lIns="0" rIns="0" tIns="0" bIns="0" anchor="t">
            <a:noAutofit/>
          </a:bodyPr>
          <a:lstStyle/>
          <a:p>
            <a:pPr algn="l">
              <a:lnSpc>
                <a:spcPct val="112000"/>
              </a:lnSpc>
              <a:spcAft>
                <a:spcPts val="0"/>
              </a:spcAft>
            </a:pPr>
            <a:r>
              <a:rPr sz="1000" b="0" i="0">
                <a:solidFill>
                  <a:srgbClr val="1D1D1F"/>
                </a:solidFill>
                <a:latin typeface="Menlo"/>
              </a:rPr>
              <a:t>SH-DEMO-005</a:t>
            </a:r>
          </a:p>
        </p:txBody>
      </p:sp>
      <p:sp>
        <p:nvSpPr>
          <p:cNvPr id="53" name="!!un_why_0"/>
          <p:cNvSpPr/>
          <p:nvPr/>
        </p:nvSpPr>
        <p:spPr>
          <a:xfrm>
            <a:off x="9646920" y="3474720"/>
            <a:ext cx="1810512"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00" b="1" i="0">
                <a:solidFill>
                  <a:srgbClr val="B0383E"/>
                </a:solidFill>
                <a:latin typeface="Helvetica Neue"/>
              </a:rPr>
              <a:t>readiness blocked</a:t>
            </a:r>
          </a:p>
        </p:txBody>
      </p:sp>
      <p:sp>
        <p:nvSpPr>
          <p:cNvPr id="54" name="!!un_d_0"/>
          <p:cNvSpPr txBox="1"/>
          <p:nvPr/>
        </p:nvSpPr>
        <p:spPr>
          <a:xfrm>
            <a:off x="8293608" y="3767328"/>
            <a:ext cx="3108960" cy="274320"/>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Payment reversed</a:t>
            </a:r>
          </a:p>
        </p:txBody>
      </p:sp>
      <p:sp>
        <p:nvSpPr>
          <p:cNvPr id="55" name="!!un_id_1"/>
          <p:cNvSpPr txBox="1"/>
          <p:nvPr/>
        </p:nvSpPr>
        <p:spPr>
          <a:xfrm>
            <a:off x="8293608" y="4169663"/>
            <a:ext cx="1463040" cy="274320"/>
          </a:xfrm>
          <a:prstGeom prst="rect">
            <a:avLst/>
          </a:prstGeom>
          <a:noFill/>
        </p:spPr>
        <p:txBody>
          <a:bodyPr wrap="square" lIns="0" rIns="0" tIns="0" bIns="0" anchor="t">
            <a:noAutofit/>
          </a:bodyPr>
          <a:lstStyle/>
          <a:p>
            <a:pPr algn="l">
              <a:lnSpc>
                <a:spcPct val="112000"/>
              </a:lnSpc>
              <a:spcAft>
                <a:spcPts val="0"/>
              </a:spcAft>
            </a:pPr>
            <a:r>
              <a:rPr sz="1000" b="0" i="0">
                <a:solidFill>
                  <a:srgbClr val="1D1D1F"/>
                </a:solidFill>
                <a:latin typeface="Menlo"/>
              </a:rPr>
              <a:t>SH-DEMO-006</a:t>
            </a:r>
          </a:p>
        </p:txBody>
      </p:sp>
      <p:sp>
        <p:nvSpPr>
          <p:cNvPr id="56" name="!!un_why_1"/>
          <p:cNvSpPr/>
          <p:nvPr/>
        </p:nvSpPr>
        <p:spPr>
          <a:xfrm>
            <a:off x="9646920" y="4151376"/>
            <a:ext cx="1810512"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00" b="1" i="0">
                <a:solidFill>
                  <a:srgbClr val="B0383E"/>
                </a:solidFill>
                <a:latin typeface="Helvetica Neue"/>
              </a:rPr>
              <a:t>cargo type unsupported</a:t>
            </a:r>
          </a:p>
        </p:txBody>
      </p:sp>
      <p:sp>
        <p:nvSpPr>
          <p:cNvPr id="57" name="!!un_d_1"/>
          <p:cNvSpPr txBox="1"/>
          <p:nvPr/>
        </p:nvSpPr>
        <p:spPr>
          <a:xfrm>
            <a:off x="8293608" y="4443983"/>
            <a:ext cx="3108960" cy="274320"/>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Parts package; vehicle carriers only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21</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Demo · Step 4 · LoadLink</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Which truck can actually move it?</a:t>
            </a:r>
          </a:p>
        </p:txBody>
      </p:sp>
      <p:sp>
        <p:nvSpPr>
          <p:cNvPr id="19" name="!!sub"/>
          <p:cNvSpPr txBox="1"/>
          <p:nvPr/>
        </p:nvSpPr>
        <p:spPr>
          <a:xfrm>
            <a:off x="548640" y="1810512"/>
            <a:ext cx="731520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Truck B’s winch breaks. The plan re-routes, and refuses to send a non-runner to a truck that can’t load it.</a:t>
            </a:r>
          </a:p>
        </p:txBody>
      </p:sp>
      <p:sp>
        <p:nvSpPr>
          <p:cNvPr id="20" name="!!dl_track"/>
          <p:cNvSpPr/>
          <p:nvPr/>
        </p:nvSpPr>
        <p:spPr>
          <a:xfrm>
            <a:off x="8092440" y="1188720"/>
            <a:ext cx="3639312" cy="365760"/>
          </a:xfrm>
          <a:prstGeom prst="roundRect">
            <a:avLst>
              <a:gd name="adj" fmla="val 30000"/>
            </a:avLst>
          </a:prstGeom>
          <a:solidFill>
            <a:srgbClr val="E8E8ED"/>
          </a:solidFill>
          <a:ln>
            <a:noFill/>
          </a:ln>
          <a:effectLst/>
        </p:spPr>
        <p:txBody>
          <a:bodyPr rtlCol="0" anchor="ctr"/>
          <a:lstStyle/>
          <a:p>
            <a:pPr algn="ctr"/>
          </a:p>
        </p:txBody>
      </p:sp>
      <p:sp>
        <p:nvSpPr>
          <p:cNvPr id="21" name="!!dl_active"/>
          <p:cNvSpPr/>
          <p:nvPr/>
        </p:nvSpPr>
        <p:spPr>
          <a:xfrm>
            <a:off x="9912095" y="1225296"/>
            <a:ext cx="1783080" cy="292608"/>
          </a:xfrm>
          <a:prstGeom prst="roundRect">
            <a:avLst>
              <a:gd name="adj" fmla="val 2812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2" name="!!dl_0">
            <a:hlinkClick action="ppaction://hlinksldjump" r:id="rId11"/>
          </p:cNvPr>
          <p:cNvSpPr/>
          <p:nvPr/>
        </p:nvSpPr>
        <p:spPr>
          <a:xfrm>
            <a:off x="8129015" y="1225296"/>
            <a:ext cx="178308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Winch available</a:t>
            </a:r>
          </a:p>
        </p:txBody>
      </p:sp>
      <p:sp>
        <p:nvSpPr>
          <p:cNvPr id="23" name="!!dl_1"/>
          <p:cNvSpPr/>
          <p:nvPr/>
        </p:nvSpPr>
        <p:spPr>
          <a:xfrm>
            <a:off x="9912095" y="1225296"/>
            <a:ext cx="1783080" cy="292608"/>
          </a:xfrm>
          <a:prstGeom prst="roundRect">
            <a:avLst>
              <a:gd name="adj" fmla="val 28125"/>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Winch out of service</a:t>
            </a:r>
          </a:p>
        </p:txBody>
      </p:sp>
      <p:sp>
        <p:nvSpPr>
          <p:cNvPr id="24" name="!!dl_status"/>
          <p:cNvSpPr/>
          <p:nvPr/>
        </p:nvSpPr>
        <p:spPr>
          <a:xfrm>
            <a:off x="548640" y="2468880"/>
            <a:ext cx="2071115" cy="29260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50" b="1" i="0">
                <a:solidFill>
                  <a:srgbClr val="2F7A4F"/>
                </a:solidFill>
                <a:latin typeface="Helvetica Neue"/>
              </a:rPr>
              <a:t>Eligible in simulation</a:t>
            </a:r>
          </a:p>
        </p:txBody>
      </p:sp>
      <p:sp>
        <p:nvSpPr>
          <p:cNvPr id="25" name="!!dl_nodispatch"/>
          <p:cNvSpPr/>
          <p:nvPr/>
        </p:nvSpPr>
        <p:spPr>
          <a:xfrm>
            <a:off x="2711196" y="2468880"/>
            <a:ext cx="2631185" cy="292608"/>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1050" b="1" i="0">
                <a:solidFill>
                  <a:srgbClr val="B0383E"/>
                </a:solidFill>
                <a:latin typeface="Helvetica Neue"/>
              </a:rPr>
              <a:t>Not dispatchable (simulation)</a:t>
            </a:r>
          </a:p>
        </p:txBody>
      </p:sp>
      <p:sp>
        <p:nvSpPr>
          <p:cNvPr id="26" name="!!truck_0"/>
          <p:cNvSpPr/>
          <p:nvPr/>
        </p:nvSpPr>
        <p:spPr>
          <a:xfrm>
            <a:off x="548640" y="2926080"/>
            <a:ext cx="3566160" cy="3337560"/>
          </a:xfrm>
          <a:prstGeom prst="roundRect">
            <a:avLst>
              <a:gd name="adj" fmla="val 547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7" name="!!truck_name_0"/>
          <p:cNvSpPr txBox="1"/>
          <p:nvPr/>
        </p:nvSpPr>
        <p:spPr>
          <a:xfrm>
            <a:off x="749808" y="3072384"/>
            <a:ext cx="2103120" cy="502920"/>
          </a:xfrm>
          <a:prstGeom prst="rect">
            <a:avLst/>
          </a:prstGeom>
          <a:noFill/>
        </p:spPr>
        <p:txBody>
          <a:bodyPr wrap="square" lIns="0" rIns="0" tIns="0" bIns="0" anchor="t">
            <a:noAutofit/>
          </a:bodyPr>
          <a:lstStyle/>
          <a:p>
            <a:pPr algn="l">
              <a:lnSpc>
                <a:spcPct val="105000"/>
              </a:lnSpc>
              <a:spcAft>
                <a:spcPts val="0"/>
              </a:spcAft>
            </a:pPr>
            <a:r>
              <a:rPr sz="1500" b="1" i="0">
                <a:solidFill>
                  <a:srgbClr val="1D1D1F"/>
                </a:solidFill>
                <a:latin typeface="Helvetica Neue"/>
              </a:rPr>
              <a:t>CR-DEMO-A</a:t>
            </a:r>
          </a:p>
          <a:p>
            <a:pPr algn="l">
              <a:lnSpc>
                <a:spcPct val="105000"/>
              </a:lnSpc>
              <a:spcAft>
                <a:spcPts val="0"/>
              </a:spcAft>
            </a:pPr>
            <a:r>
              <a:rPr sz="1000" b="0" i="0">
                <a:solidFill>
                  <a:srgbClr val="6E6E73"/>
                </a:solidFill>
                <a:latin typeface="Helvetica Neue"/>
              </a:rPr>
              <a:t>3 slots · open deck</a:t>
            </a:r>
          </a:p>
        </p:txBody>
      </p:sp>
      <p:sp>
        <p:nvSpPr>
          <p:cNvPr id="28" name="!!truck_km_0"/>
          <p:cNvSpPr txBox="1"/>
          <p:nvPr/>
        </p:nvSpPr>
        <p:spPr>
          <a:xfrm>
            <a:off x="2651760" y="3072384"/>
            <a:ext cx="1280160" cy="411480"/>
          </a:xfrm>
          <a:prstGeom prst="rect">
            <a:avLst/>
          </a:prstGeom>
          <a:noFill/>
        </p:spPr>
        <p:txBody>
          <a:bodyPr wrap="square" lIns="0" rIns="0" tIns="0" bIns="0" anchor="t">
            <a:noAutofit/>
          </a:bodyPr>
          <a:lstStyle/>
          <a:p>
            <a:pPr algn="r">
              <a:lnSpc>
                <a:spcPct val="112000"/>
              </a:lnSpc>
              <a:spcAft>
                <a:spcPts val="0"/>
              </a:spcAft>
            </a:pPr>
            <a:r>
              <a:rPr sz="2200" b="1" i="0" spc="-40">
                <a:solidFill>
                  <a:srgbClr val="1D1D1F"/>
                </a:solidFill>
                <a:latin typeface="Helvetica Neue"/>
              </a:rPr>
              <a:t>290 km</a:t>
            </a:r>
          </a:p>
        </p:txBody>
      </p:sp>
      <p:sp>
        <p:nvSpPr>
          <p:cNvPr id="29" name="!!truck_line_0"/>
          <p:cNvSpPr/>
          <p:nvPr/>
        </p:nvSpPr>
        <p:spPr>
          <a:xfrm>
            <a:off x="877824" y="3840480"/>
            <a:ext cx="27432" cy="384048"/>
          </a:xfrm>
          <a:prstGeom prst="roundRect">
            <a:avLst>
              <a:gd name="adj" fmla="val 0"/>
            </a:avLst>
          </a:prstGeom>
          <a:solidFill>
            <a:srgbClr val="B8C8EE"/>
          </a:solidFill>
          <a:ln>
            <a:noFill/>
          </a:ln>
          <a:effectLst/>
        </p:spPr>
        <p:txBody>
          <a:bodyPr rtlCol="0" anchor="ctr"/>
          <a:lstStyle/>
          <a:p>
            <a:pPr algn="ctr"/>
          </a:p>
        </p:txBody>
      </p:sp>
      <p:sp>
        <p:nvSpPr>
          <p:cNvPr id="30" name="!!stop_dot_0_0"/>
          <p:cNvSpPr/>
          <p:nvPr/>
        </p:nvSpPr>
        <p:spPr>
          <a:xfrm>
            <a:off x="804672" y="3776472"/>
            <a:ext cx="173736" cy="173736"/>
          </a:xfrm>
          <a:prstGeom prst="ellipse">
            <a:avLst/>
          </a:prstGeom>
          <a:solidFill>
            <a:srgbClr val="FFFFFF"/>
          </a:solidFill>
          <a:ln w="19050">
            <a:solidFill>
              <a:srgbClr val="2F6BE6"/>
            </a:solidFill>
          </a:ln>
          <a:effectLst/>
        </p:spPr>
        <p:txBody>
          <a:bodyPr rtlCol="0" anchor="ctr"/>
          <a:lstStyle/>
          <a:p>
            <a:pPr algn="ctr"/>
          </a:p>
        </p:txBody>
      </p:sp>
      <p:sp>
        <p:nvSpPr>
          <p:cNvPr id="31" name="!!stop_0_0"/>
          <p:cNvSpPr txBox="1"/>
          <p:nvPr/>
        </p:nvSpPr>
        <p:spPr>
          <a:xfrm>
            <a:off x="1097280" y="3730752"/>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Pick up </a:t>
            </a:r>
            <a:r>
              <a:rPr sz="1000" b="0" i="0">
                <a:solidFill>
                  <a:srgbClr val="1D1D1F"/>
                </a:solidFill>
                <a:latin typeface="Menlo"/>
              </a:rPr>
              <a:t>SH-DEMO-003</a:t>
            </a:r>
            <a:r>
              <a:rPr sz="1100" b="0" i="0">
                <a:solidFill>
                  <a:srgbClr val="6E6E73"/>
                </a:solidFill>
                <a:latin typeface="Helvetica Neue"/>
              </a:rPr>
              <a:t>  @ Yard N</a:t>
            </a:r>
          </a:p>
        </p:txBody>
      </p:sp>
      <p:sp>
        <p:nvSpPr>
          <p:cNvPr id="32" name="!!stop_dot_0_1"/>
          <p:cNvSpPr/>
          <p:nvPr/>
        </p:nvSpPr>
        <p:spPr>
          <a:xfrm>
            <a:off x="804672" y="4160520"/>
            <a:ext cx="173736" cy="173736"/>
          </a:xfrm>
          <a:prstGeom prst="ellipse">
            <a:avLst/>
          </a:prstGeom>
          <a:solidFill>
            <a:srgbClr val="2F6BE6"/>
          </a:solidFill>
          <a:ln w="19050">
            <a:solidFill>
              <a:srgbClr val="2F6BE6"/>
            </a:solidFill>
          </a:ln>
          <a:effectLst/>
        </p:spPr>
        <p:txBody>
          <a:bodyPr rtlCol="0" anchor="ctr"/>
          <a:lstStyle/>
          <a:p>
            <a:pPr algn="ctr"/>
          </a:p>
        </p:txBody>
      </p:sp>
      <p:sp>
        <p:nvSpPr>
          <p:cNvPr id="33" name="!!stop_0_1"/>
          <p:cNvSpPr txBox="1"/>
          <p:nvPr/>
        </p:nvSpPr>
        <p:spPr>
          <a:xfrm>
            <a:off x="1097280" y="4114800"/>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Deliver </a:t>
            </a:r>
            <a:r>
              <a:rPr sz="1000" b="0" i="0">
                <a:solidFill>
                  <a:srgbClr val="1D1D1F"/>
                </a:solidFill>
                <a:latin typeface="Menlo"/>
              </a:rPr>
              <a:t>SH-DEMO-003</a:t>
            </a:r>
            <a:r>
              <a:rPr sz="1100" b="0" i="0">
                <a:solidFill>
                  <a:srgbClr val="6E6E73"/>
                </a:solidFill>
                <a:latin typeface="Helvetica Neue"/>
              </a:rPr>
              <a:t>  @ Buyer 101</a:t>
            </a:r>
          </a:p>
        </p:txBody>
      </p:sp>
      <p:sp>
        <p:nvSpPr>
          <p:cNvPr id="34" name="!!truck_1"/>
          <p:cNvSpPr/>
          <p:nvPr/>
        </p:nvSpPr>
        <p:spPr>
          <a:xfrm>
            <a:off x="4297679" y="2926080"/>
            <a:ext cx="3566160" cy="3337560"/>
          </a:xfrm>
          <a:prstGeom prst="roundRect">
            <a:avLst>
              <a:gd name="adj" fmla="val 547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5" name="!!truck_name_1"/>
          <p:cNvSpPr txBox="1"/>
          <p:nvPr/>
        </p:nvSpPr>
        <p:spPr>
          <a:xfrm>
            <a:off x="4498847" y="3072384"/>
            <a:ext cx="2103120" cy="502920"/>
          </a:xfrm>
          <a:prstGeom prst="rect">
            <a:avLst/>
          </a:prstGeom>
          <a:noFill/>
        </p:spPr>
        <p:txBody>
          <a:bodyPr wrap="square" lIns="0" rIns="0" tIns="0" bIns="0" anchor="t">
            <a:noAutofit/>
          </a:bodyPr>
          <a:lstStyle/>
          <a:p>
            <a:pPr algn="l">
              <a:lnSpc>
                <a:spcPct val="105000"/>
              </a:lnSpc>
              <a:spcAft>
                <a:spcPts val="0"/>
              </a:spcAft>
            </a:pPr>
            <a:r>
              <a:rPr sz="1500" b="1" i="0">
                <a:solidFill>
                  <a:srgbClr val="1D1D1F"/>
                </a:solidFill>
                <a:latin typeface="Helvetica Neue"/>
              </a:rPr>
              <a:t>CR-DEMO-B</a:t>
            </a:r>
          </a:p>
          <a:p>
            <a:pPr algn="l">
              <a:lnSpc>
                <a:spcPct val="105000"/>
              </a:lnSpc>
              <a:spcAft>
                <a:spcPts val="0"/>
              </a:spcAft>
            </a:pPr>
            <a:r>
              <a:rPr sz="1000" b="0" i="0">
                <a:solidFill>
                  <a:srgbClr val="B0383E"/>
                </a:solidFill>
                <a:latin typeface="Helvetica Neue"/>
              </a:rPr>
              <a:t>2 slots · winch OUT OF SERVICE</a:t>
            </a:r>
          </a:p>
        </p:txBody>
      </p:sp>
      <p:sp>
        <p:nvSpPr>
          <p:cNvPr id="36" name="!!truck_km_1"/>
          <p:cNvSpPr txBox="1"/>
          <p:nvPr/>
        </p:nvSpPr>
        <p:spPr>
          <a:xfrm>
            <a:off x="6400799" y="3072384"/>
            <a:ext cx="1280160" cy="411480"/>
          </a:xfrm>
          <a:prstGeom prst="rect">
            <a:avLst/>
          </a:prstGeom>
          <a:noFill/>
        </p:spPr>
        <p:txBody>
          <a:bodyPr wrap="square" lIns="0" rIns="0" tIns="0" bIns="0" anchor="t">
            <a:noAutofit/>
          </a:bodyPr>
          <a:lstStyle/>
          <a:p>
            <a:pPr algn="r">
              <a:lnSpc>
                <a:spcPct val="112000"/>
              </a:lnSpc>
              <a:spcAft>
                <a:spcPts val="0"/>
              </a:spcAft>
            </a:pPr>
            <a:r>
              <a:rPr sz="2200" b="1" i="0" spc="-40">
                <a:solidFill>
                  <a:srgbClr val="1D1D1F"/>
                </a:solidFill>
                <a:latin typeface="Helvetica Neue"/>
              </a:rPr>
              <a:t>110 km</a:t>
            </a:r>
          </a:p>
        </p:txBody>
      </p:sp>
      <p:sp>
        <p:nvSpPr>
          <p:cNvPr id="37" name="!!truck_line_1"/>
          <p:cNvSpPr/>
          <p:nvPr/>
        </p:nvSpPr>
        <p:spPr>
          <a:xfrm>
            <a:off x="4626864" y="3840480"/>
            <a:ext cx="27432" cy="384048"/>
          </a:xfrm>
          <a:prstGeom prst="roundRect">
            <a:avLst>
              <a:gd name="adj" fmla="val 0"/>
            </a:avLst>
          </a:prstGeom>
          <a:solidFill>
            <a:srgbClr val="B8C8EE"/>
          </a:solidFill>
          <a:ln>
            <a:noFill/>
          </a:ln>
          <a:effectLst/>
        </p:spPr>
        <p:txBody>
          <a:bodyPr rtlCol="0" anchor="ctr"/>
          <a:lstStyle/>
          <a:p>
            <a:pPr algn="ctr"/>
          </a:p>
        </p:txBody>
      </p:sp>
      <p:sp>
        <p:nvSpPr>
          <p:cNvPr id="38" name="!!stop_dot_1_0"/>
          <p:cNvSpPr/>
          <p:nvPr/>
        </p:nvSpPr>
        <p:spPr>
          <a:xfrm>
            <a:off x="4553712" y="3776472"/>
            <a:ext cx="173736" cy="173736"/>
          </a:xfrm>
          <a:prstGeom prst="ellipse">
            <a:avLst/>
          </a:prstGeom>
          <a:solidFill>
            <a:srgbClr val="FFFFFF"/>
          </a:solidFill>
          <a:ln w="19050">
            <a:solidFill>
              <a:srgbClr val="2F6BE6"/>
            </a:solidFill>
          </a:ln>
          <a:effectLst/>
        </p:spPr>
        <p:txBody>
          <a:bodyPr rtlCol="0" anchor="ctr"/>
          <a:lstStyle/>
          <a:p>
            <a:pPr algn="ctr"/>
          </a:p>
        </p:txBody>
      </p:sp>
      <p:sp>
        <p:nvSpPr>
          <p:cNvPr id="39" name="!!stop_1_0"/>
          <p:cNvSpPr txBox="1"/>
          <p:nvPr/>
        </p:nvSpPr>
        <p:spPr>
          <a:xfrm>
            <a:off x="4846319" y="3730752"/>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Pick up </a:t>
            </a:r>
            <a:r>
              <a:rPr sz="1000" b="0" i="0">
                <a:solidFill>
                  <a:srgbClr val="1D1D1F"/>
                </a:solidFill>
                <a:latin typeface="Menlo"/>
              </a:rPr>
              <a:t>SH-DEMO-004</a:t>
            </a:r>
            <a:r>
              <a:rPr sz="1100" b="0" i="0">
                <a:solidFill>
                  <a:srgbClr val="6E6E73"/>
                </a:solidFill>
                <a:latin typeface="Helvetica Neue"/>
              </a:rPr>
              <a:t>  @ Seller lot</a:t>
            </a:r>
          </a:p>
        </p:txBody>
      </p:sp>
      <p:sp>
        <p:nvSpPr>
          <p:cNvPr id="40" name="!!stop_dot_1_1"/>
          <p:cNvSpPr/>
          <p:nvPr/>
        </p:nvSpPr>
        <p:spPr>
          <a:xfrm>
            <a:off x="4553712" y="4160520"/>
            <a:ext cx="173736" cy="173736"/>
          </a:xfrm>
          <a:prstGeom prst="ellipse">
            <a:avLst/>
          </a:prstGeom>
          <a:solidFill>
            <a:srgbClr val="2F6BE6"/>
          </a:solidFill>
          <a:ln w="19050">
            <a:solidFill>
              <a:srgbClr val="2F6BE6"/>
            </a:solidFill>
          </a:ln>
          <a:effectLst/>
        </p:spPr>
        <p:txBody>
          <a:bodyPr rtlCol="0" anchor="ctr"/>
          <a:lstStyle/>
          <a:p>
            <a:pPr algn="ctr"/>
          </a:p>
        </p:txBody>
      </p:sp>
      <p:sp>
        <p:nvSpPr>
          <p:cNvPr id="41" name="!!stop_1_1"/>
          <p:cNvSpPr txBox="1"/>
          <p:nvPr/>
        </p:nvSpPr>
        <p:spPr>
          <a:xfrm>
            <a:off x="4846319" y="4114800"/>
            <a:ext cx="29260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1D1D1F"/>
                </a:solidFill>
                <a:latin typeface="Helvetica Neue"/>
              </a:rPr>
              <a:t>Deliver </a:t>
            </a:r>
            <a:r>
              <a:rPr sz="1000" b="0" i="0">
                <a:solidFill>
                  <a:srgbClr val="1D1D1F"/>
                </a:solidFill>
                <a:latin typeface="Menlo"/>
              </a:rPr>
              <a:t>SH-DEMO-004</a:t>
            </a:r>
            <a:r>
              <a:rPr sz="1100" b="0" i="0">
                <a:solidFill>
                  <a:srgbClr val="6E6E73"/>
                </a:solidFill>
                <a:latin typeface="Helvetica Neue"/>
              </a:rPr>
              <a:t>  @ Buyer 101</a:t>
            </a:r>
          </a:p>
        </p:txBody>
      </p:sp>
      <p:sp>
        <p:nvSpPr>
          <p:cNvPr id="42" name="!!unassigned"/>
          <p:cNvSpPr/>
          <p:nvPr/>
        </p:nvSpPr>
        <p:spPr>
          <a:xfrm>
            <a:off x="8092440" y="2926080"/>
            <a:ext cx="3547872" cy="3337560"/>
          </a:xfrm>
          <a:prstGeom prst="roundRect">
            <a:avLst>
              <a:gd name="adj" fmla="val 5479"/>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3" name="TextBox 42"/>
          <p:cNvSpPr txBox="1"/>
          <p:nvPr/>
        </p:nvSpPr>
        <p:spPr>
          <a:xfrm>
            <a:off x="8293608" y="3072384"/>
            <a:ext cx="3108960" cy="274320"/>
          </a:xfrm>
          <a:prstGeom prst="rect">
            <a:avLst/>
          </a:prstGeom>
          <a:noFill/>
        </p:spPr>
        <p:txBody>
          <a:bodyPr wrap="square" lIns="0" rIns="0" tIns="0" bIns="0" anchor="t">
            <a:noAutofit/>
          </a:bodyPr>
          <a:lstStyle/>
          <a:p>
            <a:pPr algn="l">
              <a:lnSpc>
                <a:spcPct val="112000"/>
              </a:lnSpc>
              <a:spcAft>
                <a:spcPts val="0"/>
              </a:spcAft>
            </a:pPr>
            <a:r>
              <a:rPr sz="1350" b="1" i="0">
                <a:solidFill>
                  <a:srgbClr val="1D1D1F"/>
                </a:solidFill>
                <a:latin typeface="Helvetica Neue"/>
              </a:rPr>
              <a:t>Unassigned, with a reason</a:t>
            </a:r>
          </a:p>
        </p:txBody>
      </p:sp>
      <p:sp>
        <p:nvSpPr>
          <p:cNvPr id="44" name="!!un_id_0"/>
          <p:cNvSpPr txBox="1"/>
          <p:nvPr/>
        </p:nvSpPr>
        <p:spPr>
          <a:xfrm>
            <a:off x="8293608" y="3493008"/>
            <a:ext cx="1463040" cy="274320"/>
          </a:xfrm>
          <a:prstGeom prst="rect">
            <a:avLst/>
          </a:prstGeom>
          <a:noFill/>
        </p:spPr>
        <p:txBody>
          <a:bodyPr wrap="square" lIns="0" rIns="0" tIns="0" bIns="0" anchor="t">
            <a:noAutofit/>
          </a:bodyPr>
          <a:lstStyle/>
          <a:p>
            <a:pPr algn="l">
              <a:lnSpc>
                <a:spcPct val="112000"/>
              </a:lnSpc>
              <a:spcAft>
                <a:spcPts val="0"/>
              </a:spcAft>
            </a:pPr>
            <a:r>
              <a:rPr sz="1000" b="1" i="0">
                <a:solidFill>
                  <a:srgbClr val="2560D6"/>
                </a:solidFill>
                <a:latin typeface="Menlo"/>
              </a:rPr>
              <a:t>SH-S01-0001</a:t>
            </a:r>
          </a:p>
        </p:txBody>
      </p:sp>
      <p:sp>
        <p:nvSpPr>
          <p:cNvPr id="45" name="!!un_why_0"/>
          <p:cNvSpPr/>
          <p:nvPr/>
        </p:nvSpPr>
        <p:spPr>
          <a:xfrm>
            <a:off x="9646920" y="3474720"/>
            <a:ext cx="1810512"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00" b="1" i="0">
                <a:solidFill>
                  <a:srgbClr val="B0383E"/>
                </a:solidFill>
                <a:latin typeface="Helvetica Neue"/>
              </a:rPr>
              <a:t>no capable equipment</a:t>
            </a:r>
          </a:p>
        </p:txBody>
      </p:sp>
      <p:sp>
        <p:nvSpPr>
          <p:cNvPr id="46" name="!!un_d_0"/>
          <p:cNvSpPr txBox="1"/>
          <p:nvPr/>
        </p:nvSpPr>
        <p:spPr>
          <a:xfrm>
            <a:off x="8293608" y="3767328"/>
            <a:ext cx="3108960" cy="274320"/>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Our car: needs open slot + winch</a:t>
            </a:r>
          </a:p>
        </p:txBody>
      </p:sp>
      <p:sp>
        <p:nvSpPr>
          <p:cNvPr id="47" name="!!un_id_1"/>
          <p:cNvSpPr txBox="1"/>
          <p:nvPr/>
        </p:nvSpPr>
        <p:spPr>
          <a:xfrm>
            <a:off x="8293608" y="4169663"/>
            <a:ext cx="1463040" cy="274320"/>
          </a:xfrm>
          <a:prstGeom prst="rect">
            <a:avLst/>
          </a:prstGeom>
          <a:noFill/>
        </p:spPr>
        <p:txBody>
          <a:bodyPr wrap="square" lIns="0" rIns="0" tIns="0" bIns="0" anchor="t">
            <a:noAutofit/>
          </a:bodyPr>
          <a:lstStyle/>
          <a:p>
            <a:pPr algn="l">
              <a:lnSpc>
                <a:spcPct val="112000"/>
              </a:lnSpc>
              <a:spcAft>
                <a:spcPts val="0"/>
              </a:spcAft>
            </a:pPr>
            <a:r>
              <a:rPr sz="1000" b="0" i="0">
                <a:solidFill>
                  <a:srgbClr val="1D1D1F"/>
                </a:solidFill>
                <a:latin typeface="Menlo"/>
              </a:rPr>
              <a:t>SH-DEMO-002</a:t>
            </a:r>
          </a:p>
        </p:txBody>
      </p:sp>
      <p:sp>
        <p:nvSpPr>
          <p:cNvPr id="48" name="!!un_why_1"/>
          <p:cNvSpPr/>
          <p:nvPr/>
        </p:nvSpPr>
        <p:spPr>
          <a:xfrm>
            <a:off x="9646920" y="4151376"/>
            <a:ext cx="1810512"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00" b="1" i="0">
                <a:solidFill>
                  <a:srgbClr val="B0383E"/>
                </a:solidFill>
                <a:latin typeface="Helvetica Neue"/>
              </a:rPr>
              <a:t>no capable equipment</a:t>
            </a:r>
          </a:p>
        </p:txBody>
      </p:sp>
      <p:sp>
        <p:nvSpPr>
          <p:cNvPr id="49" name="!!un_d_1"/>
          <p:cNvSpPr txBox="1"/>
          <p:nvPr/>
        </p:nvSpPr>
        <p:spPr>
          <a:xfrm>
            <a:off x="8293608" y="4443983"/>
            <a:ext cx="3108960" cy="274320"/>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Needs open slot + winch</a:t>
            </a:r>
          </a:p>
        </p:txBody>
      </p:sp>
      <p:sp>
        <p:nvSpPr>
          <p:cNvPr id="50" name="!!un_id_2"/>
          <p:cNvSpPr txBox="1"/>
          <p:nvPr/>
        </p:nvSpPr>
        <p:spPr>
          <a:xfrm>
            <a:off x="8293608" y="4846320"/>
            <a:ext cx="1463040" cy="274320"/>
          </a:xfrm>
          <a:prstGeom prst="rect">
            <a:avLst/>
          </a:prstGeom>
          <a:noFill/>
        </p:spPr>
        <p:txBody>
          <a:bodyPr wrap="square" lIns="0" rIns="0" tIns="0" bIns="0" anchor="t">
            <a:noAutofit/>
          </a:bodyPr>
          <a:lstStyle/>
          <a:p>
            <a:pPr algn="l">
              <a:lnSpc>
                <a:spcPct val="112000"/>
              </a:lnSpc>
              <a:spcAft>
                <a:spcPts val="0"/>
              </a:spcAft>
            </a:pPr>
            <a:r>
              <a:rPr sz="1000" b="0" i="0">
                <a:solidFill>
                  <a:srgbClr val="1D1D1F"/>
                </a:solidFill>
                <a:latin typeface="Menlo"/>
              </a:rPr>
              <a:t>SH-DEMO-005</a:t>
            </a:r>
          </a:p>
        </p:txBody>
      </p:sp>
      <p:sp>
        <p:nvSpPr>
          <p:cNvPr id="51" name="!!un_why_2"/>
          <p:cNvSpPr/>
          <p:nvPr/>
        </p:nvSpPr>
        <p:spPr>
          <a:xfrm>
            <a:off x="9646920" y="4828032"/>
            <a:ext cx="1810512"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00" b="1" i="0">
                <a:solidFill>
                  <a:srgbClr val="B0383E"/>
                </a:solidFill>
                <a:latin typeface="Helvetica Neue"/>
              </a:rPr>
              <a:t>readiness blocked</a:t>
            </a:r>
          </a:p>
        </p:txBody>
      </p:sp>
      <p:sp>
        <p:nvSpPr>
          <p:cNvPr id="52" name="!!un_d_2"/>
          <p:cNvSpPr txBox="1"/>
          <p:nvPr/>
        </p:nvSpPr>
        <p:spPr>
          <a:xfrm>
            <a:off x="8293608" y="5120640"/>
            <a:ext cx="3108960" cy="274320"/>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Payment reversed</a:t>
            </a:r>
          </a:p>
        </p:txBody>
      </p:sp>
      <p:sp>
        <p:nvSpPr>
          <p:cNvPr id="53" name="!!un_id_3"/>
          <p:cNvSpPr txBox="1"/>
          <p:nvPr/>
        </p:nvSpPr>
        <p:spPr>
          <a:xfrm>
            <a:off x="8293608" y="5522975"/>
            <a:ext cx="1463040" cy="274320"/>
          </a:xfrm>
          <a:prstGeom prst="rect">
            <a:avLst/>
          </a:prstGeom>
          <a:noFill/>
        </p:spPr>
        <p:txBody>
          <a:bodyPr wrap="square" lIns="0" rIns="0" tIns="0" bIns="0" anchor="t">
            <a:noAutofit/>
          </a:bodyPr>
          <a:lstStyle/>
          <a:p>
            <a:pPr algn="l">
              <a:lnSpc>
                <a:spcPct val="112000"/>
              </a:lnSpc>
              <a:spcAft>
                <a:spcPts val="0"/>
              </a:spcAft>
            </a:pPr>
            <a:r>
              <a:rPr sz="1000" b="0" i="0">
                <a:solidFill>
                  <a:srgbClr val="1D1D1F"/>
                </a:solidFill>
                <a:latin typeface="Menlo"/>
              </a:rPr>
              <a:t>SH-DEMO-006</a:t>
            </a:r>
          </a:p>
        </p:txBody>
      </p:sp>
      <p:sp>
        <p:nvSpPr>
          <p:cNvPr id="54" name="!!un_why_3"/>
          <p:cNvSpPr/>
          <p:nvPr/>
        </p:nvSpPr>
        <p:spPr>
          <a:xfrm>
            <a:off x="9646920" y="5504688"/>
            <a:ext cx="1810512" cy="237744"/>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00" b="1" i="0">
                <a:solidFill>
                  <a:srgbClr val="B0383E"/>
                </a:solidFill>
                <a:latin typeface="Helvetica Neue"/>
              </a:rPr>
              <a:t>cargo type unsupported</a:t>
            </a:r>
          </a:p>
        </p:txBody>
      </p:sp>
      <p:sp>
        <p:nvSpPr>
          <p:cNvPr id="55" name="!!un_d_3"/>
          <p:cNvSpPr txBox="1"/>
          <p:nvPr/>
        </p:nvSpPr>
        <p:spPr>
          <a:xfrm>
            <a:off x="8293608" y="5797295"/>
            <a:ext cx="3108960" cy="274320"/>
          </a:xfrm>
          <a:prstGeom prst="rect">
            <a:avLst/>
          </a:prstGeom>
          <a:noFill/>
        </p:spPr>
        <p:txBody>
          <a:bodyPr wrap="square" lIns="0" rIns="0" tIns="0" bIns="0" anchor="t">
            <a:noAutofit/>
          </a:bodyPr>
          <a:lstStyle/>
          <a:p>
            <a:pPr algn="l">
              <a:lnSpc>
                <a:spcPct val="112000"/>
              </a:lnSpc>
              <a:spcAft>
                <a:spcPts val="0"/>
              </a:spcAft>
            </a:pPr>
            <a:r>
              <a:rPr sz="1000" b="0" i="0">
                <a:solidFill>
                  <a:srgbClr val="6E6E73"/>
                </a:solidFill>
                <a:latin typeface="Helvetica Neue"/>
              </a:rPr>
              <a:t>Parts package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22</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Under the hood · architecture</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A modular monolith, built by four in parallel.</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Frozen contracts let each teammate own exactly one module file. The foundation owns state, money, AI and the UI. Click a blue box for detail.</a:t>
            </a:r>
          </a:p>
        </p:txBody>
      </p:sp>
      <p:sp>
        <p:nvSpPr>
          <p:cNvPr id="20" name="Rounded Rectangle 19"/>
          <p:cNvSpPr/>
          <p:nvPr/>
        </p:nvSpPr>
        <p:spPr>
          <a:xfrm>
            <a:off x="548640" y="2514600"/>
            <a:ext cx="11091672" cy="548640"/>
          </a:xfrm>
          <a:prstGeom prst="roundRect">
            <a:avLst>
              <a:gd name="adj" fmla="val 23333"/>
            </a:avLst>
          </a:prstGeom>
          <a:solidFill>
            <a:srgbClr val="EAF1FF"/>
          </a:solidFill>
          <a:ln>
            <a:noFill/>
          </a:ln>
          <a:effectLst/>
        </p:spPr>
        <p:txBody>
          <a:bodyPr rtlCol="0" anchor="ctr" wrap="square" lIns="228600" rIns="228600" tIns="36576" bIns="36576">
            <a:noAutofit/>
          </a:bodyPr>
          <a:lstStyle/>
          <a:p>
            <a:pPr algn="l">
              <a:lnSpc>
                <a:spcPct val="112000"/>
              </a:lnSpc>
              <a:spcAft>
                <a:spcPts val="0"/>
              </a:spcAft>
            </a:pPr>
            <a:r>
              <a:rPr sz="1250" b="1" i="0">
                <a:solidFill>
                  <a:srgbClr val="2560D6"/>
                </a:solidFill>
                <a:latin typeface="Helvetica Neue"/>
              </a:rPr>
              <a:t>UI   </a:t>
            </a:r>
            <a:r>
              <a:rPr sz="1250" b="0" i="0">
                <a:solidFill>
                  <a:srgbClr val="1D1D1F"/>
                </a:solidFill>
                <a:latin typeface="Helvetica Neue"/>
              </a:rPr>
              <a:t>Next.js 16 App Router · React 19 · one journey page + three feature pages</a:t>
            </a:r>
          </a:p>
        </p:txBody>
      </p:sp>
      <p:sp>
        <p:nvSpPr>
          <p:cNvPr id="21" name="Rounded Rectangle 20"/>
          <p:cNvSpPr/>
          <p:nvPr/>
        </p:nvSpPr>
        <p:spPr>
          <a:xfrm>
            <a:off x="548640" y="3172968"/>
            <a:ext cx="11091672" cy="548640"/>
          </a:xfrm>
          <a:prstGeom prst="roundRect">
            <a:avLst>
              <a:gd name="adj" fmla="val 23333"/>
            </a:avLst>
          </a:prstGeom>
          <a:solidFill>
            <a:srgbClr val="E8E8ED"/>
          </a:solidFill>
          <a:ln>
            <a:noFill/>
          </a:ln>
          <a:effectLst/>
        </p:spPr>
        <p:txBody>
          <a:bodyPr rtlCol="0" anchor="ctr" wrap="square" lIns="228600" rIns="228600" tIns="36576" bIns="36576">
            <a:noAutofit/>
          </a:bodyPr>
          <a:lstStyle/>
          <a:p>
            <a:pPr algn="l">
              <a:lnSpc>
                <a:spcPct val="112000"/>
              </a:lnSpc>
              <a:spcAft>
                <a:spcPts val="0"/>
              </a:spcAft>
            </a:pPr>
            <a:r>
              <a:rPr sz="1250" b="1" i="0">
                <a:solidFill>
                  <a:srgbClr val="48484A"/>
                </a:solidFill>
                <a:latin typeface="Helvetica Neue"/>
              </a:rPr>
              <a:t>API   </a:t>
            </a:r>
            <a:r>
              <a:rPr sz="1250" b="0" i="0">
                <a:solidFill>
                  <a:srgbClr val="1D1D1F"/>
                </a:solidFill>
                <a:latin typeface="Helvetica Neue"/>
              </a:rPr>
              <a:t>/api/v1/platform · bestexit · secondlook · loadlink   (503 = capability not available yet)</a:t>
            </a:r>
          </a:p>
        </p:txBody>
      </p:sp>
      <p:sp>
        <p:nvSpPr>
          <p:cNvPr id="22" name="Rounded Rectangle 21"/>
          <p:cNvSpPr/>
          <p:nvPr/>
        </p:nvSpPr>
        <p:spPr>
          <a:xfrm>
            <a:off x="548640" y="3840480"/>
            <a:ext cx="11091672" cy="1143000"/>
          </a:xfrm>
          <a:prstGeom prst="roundRect">
            <a:avLst>
              <a:gd name="adj" fmla="val 1600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3" name="TextBox 22"/>
          <p:cNvSpPr txBox="1"/>
          <p:nvPr/>
        </p:nvSpPr>
        <p:spPr>
          <a:xfrm>
            <a:off x="749808" y="3931920"/>
            <a:ext cx="1828800" cy="274320"/>
          </a:xfrm>
          <a:prstGeom prst="rect">
            <a:avLst/>
          </a:prstGeom>
          <a:noFill/>
        </p:spPr>
        <p:txBody>
          <a:bodyPr wrap="square" lIns="0" rIns="0" tIns="0" bIns="0" anchor="t">
            <a:noAutofit/>
          </a:bodyPr>
          <a:lstStyle/>
          <a:p>
            <a:pPr algn="l">
              <a:lnSpc>
                <a:spcPct val="112000"/>
              </a:lnSpc>
              <a:spcAft>
                <a:spcPts val="0"/>
              </a:spcAft>
            </a:pPr>
            <a:r>
              <a:rPr sz="1250" b="1" i="0">
                <a:solidFill>
                  <a:srgbClr val="6E6E73"/>
                </a:solidFill>
                <a:latin typeface="Helvetica Neue"/>
              </a:rPr>
              <a:t>Platform</a:t>
            </a:r>
          </a:p>
        </p:txBody>
      </p:sp>
      <p:sp>
        <p:nvSpPr>
          <p:cNvPr id="24" name="Rounded Rectangle 23">
            <a:hlinkClick action="ppaction://hlinksldjump" r:id="rId11"/>
          </p:cNvPr>
          <p:cNvSpPr/>
          <p:nvPr/>
        </p:nvSpPr>
        <p:spPr>
          <a:xfrm>
            <a:off x="749808" y="4224528"/>
            <a:ext cx="2560320" cy="640080"/>
          </a:xfrm>
          <a:prstGeom prst="roundRect">
            <a:avLst>
              <a:gd name="adj" fmla="val 17142"/>
            </a:avLst>
          </a:prstGeom>
          <a:solidFill>
            <a:srgbClr val="EAF1FF"/>
          </a:solidFill>
          <a:ln>
            <a:noFill/>
          </a:ln>
          <a:effectLst/>
        </p:spPr>
        <p:txBody>
          <a:bodyPr rtlCol="0" anchor="ctr" wrap="square" lIns="137160" rIns="137160" tIns="36576" bIns="36576">
            <a:noAutofit/>
          </a:bodyPr>
          <a:lstStyle/>
          <a:p>
            <a:pPr algn="l">
              <a:lnSpc>
                <a:spcPct val="112000"/>
              </a:lnSpc>
              <a:spcAft>
                <a:spcPts val="0"/>
              </a:spcAft>
            </a:pPr>
            <a:r>
              <a:rPr sz="1250" b="1" i="0">
                <a:solidFill>
                  <a:srgbClr val="1D1D1F"/>
                </a:solidFill>
                <a:latin typeface="Helvetica Neue"/>
              </a:rPr>
              <a:t>Store  →</a:t>
            </a:r>
          </a:p>
          <a:p>
            <a:pPr algn="l">
              <a:lnSpc>
                <a:spcPct val="112000"/>
              </a:lnSpc>
              <a:spcAft>
                <a:spcPts val="0"/>
              </a:spcAft>
            </a:pPr>
            <a:r>
              <a:rPr sz="1000" b="0" i="0">
                <a:solidFill>
                  <a:srgbClr val="6E6E73"/>
                </a:solidFill>
                <a:latin typeface="Helvetica Neue"/>
              </a:rPr>
              <a:t>revisions · staleness · generation guard</a:t>
            </a:r>
          </a:p>
        </p:txBody>
      </p:sp>
      <p:sp>
        <p:nvSpPr>
          <p:cNvPr id="25" name="Rounded Rectangle 24"/>
          <p:cNvSpPr/>
          <p:nvPr/>
        </p:nvSpPr>
        <p:spPr>
          <a:xfrm>
            <a:off x="3465576" y="4224528"/>
            <a:ext cx="2560320" cy="640080"/>
          </a:xfrm>
          <a:prstGeom prst="roundRect">
            <a:avLst>
              <a:gd name="adj" fmla="val 17142"/>
            </a:avLst>
          </a:prstGeom>
          <a:solidFill>
            <a:srgbClr val="F5F5F7"/>
          </a:solidFill>
          <a:ln>
            <a:noFill/>
          </a:ln>
          <a:effectLst/>
        </p:spPr>
        <p:txBody>
          <a:bodyPr rtlCol="0" anchor="ctr" wrap="square" lIns="137160" rIns="137160" tIns="36576" bIns="36576">
            <a:noAutofit/>
          </a:bodyPr>
          <a:lstStyle/>
          <a:p>
            <a:pPr algn="l">
              <a:lnSpc>
                <a:spcPct val="112000"/>
              </a:lnSpc>
              <a:spcAft>
                <a:spcPts val="0"/>
              </a:spcAft>
            </a:pPr>
            <a:r>
              <a:rPr sz="1250" b="1" i="0">
                <a:solidFill>
                  <a:srgbClr val="1D1D1F"/>
                </a:solidFill>
                <a:latin typeface="Helvetica Neue"/>
              </a:rPr>
              <a:t>Money</a:t>
            </a:r>
          </a:p>
          <a:p>
            <a:pPr algn="l">
              <a:lnSpc>
                <a:spcPct val="112000"/>
              </a:lnSpc>
              <a:spcAft>
                <a:spcPts val="0"/>
              </a:spcAft>
            </a:pPr>
            <a:r>
              <a:rPr sz="1000" b="0" i="0">
                <a:solidFill>
                  <a:srgbClr val="6E6E73"/>
                </a:solidFill>
                <a:latin typeface="Helvetica Neue"/>
              </a:rPr>
              <a:t>integer cents · rate card</a:t>
            </a:r>
          </a:p>
        </p:txBody>
      </p:sp>
      <p:sp>
        <p:nvSpPr>
          <p:cNvPr id="26" name="Rounded Rectangle 25"/>
          <p:cNvSpPr/>
          <p:nvPr/>
        </p:nvSpPr>
        <p:spPr>
          <a:xfrm>
            <a:off x="6181344" y="4224528"/>
            <a:ext cx="2560320" cy="640080"/>
          </a:xfrm>
          <a:prstGeom prst="roundRect">
            <a:avLst>
              <a:gd name="adj" fmla="val 17142"/>
            </a:avLst>
          </a:prstGeom>
          <a:solidFill>
            <a:srgbClr val="F5F5F7"/>
          </a:solidFill>
          <a:ln>
            <a:noFill/>
          </a:ln>
          <a:effectLst/>
        </p:spPr>
        <p:txBody>
          <a:bodyPr rtlCol="0" anchor="ctr" wrap="square" lIns="137160" rIns="137160" tIns="36576" bIns="36576">
            <a:noAutofit/>
          </a:bodyPr>
          <a:lstStyle/>
          <a:p>
            <a:pPr algn="l">
              <a:lnSpc>
                <a:spcPct val="112000"/>
              </a:lnSpc>
              <a:spcAft>
                <a:spcPts val="0"/>
              </a:spcAft>
            </a:pPr>
            <a:r>
              <a:rPr sz="1250" b="1" i="0">
                <a:solidFill>
                  <a:srgbClr val="1D1D1F"/>
                </a:solidFill>
                <a:latin typeface="Helvetica Neue"/>
              </a:rPr>
              <a:t>Handling &amp; gates</a:t>
            </a:r>
          </a:p>
          <a:p>
            <a:pPr algn="l">
              <a:lnSpc>
                <a:spcPct val="112000"/>
              </a:lnSpc>
              <a:spcAft>
                <a:spcPts val="0"/>
              </a:spcAft>
            </a:pPr>
            <a:r>
              <a:rPr sz="1000" b="0" i="0">
                <a:solidFill>
                  <a:srgbClr val="6E6E73"/>
                </a:solidFill>
                <a:latin typeface="Helvetica Neue"/>
              </a:rPr>
              <a:t>equipment · readiness</a:t>
            </a:r>
          </a:p>
        </p:txBody>
      </p:sp>
      <p:sp>
        <p:nvSpPr>
          <p:cNvPr id="27" name="Rounded Rectangle 26">
            <a:hlinkClick action="ppaction://hlinksldjump" r:id="rId12"/>
          </p:cNvPr>
          <p:cNvSpPr/>
          <p:nvPr/>
        </p:nvSpPr>
        <p:spPr>
          <a:xfrm>
            <a:off x="8897112" y="4224528"/>
            <a:ext cx="2560320" cy="640080"/>
          </a:xfrm>
          <a:prstGeom prst="roundRect">
            <a:avLst>
              <a:gd name="adj" fmla="val 17142"/>
            </a:avLst>
          </a:prstGeom>
          <a:solidFill>
            <a:srgbClr val="EAF1FF"/>
          </a:solidFill>
          <a:ln>
            <a:noFill/>
          </a:ln>
          <a:effectLst/>
        </p:spPr>
        <p:txBody>
          <a:bodyPr rtlCol="0" anchor="ctr" wrap="square" lIns="137160" rIns="137160" tIns="36576" bIns="36576">
            <a:noAutofit/>
          </a:bodyPr>
          <a:lstStyle/>
          <a:p>
            <a:pPr algn="l">
              <a:lnSpc>
                <a:spcPct val="112000"/>
              </a:lnSpc>
              <a:spcAft>
                <a:spcPts val="0"/>
              </a:spcAft>
            </a:pPr>
            <a:r>
              <a:rPr sz="1250" b="1" i="0">
                <a:solidFill>
                  <a:srgbClr val="1D1D1F"/>
                </a:solidFill>
                <a:latin typeface="Helvetica Neue"/>
              </a:rPr>
              <a:t>AI gateway  →</a:t>
            </a:r>
          </a:p>
          <a:p>
            <a:pPr algn="l">
              <a:lnSpc>
                <a:spcPct val="112000"/>
              </a:lnSpc>
              <a:spcAft>
                <a:spcPts val="0"/>
              </a:spcAft>
            </a:pPr>
            <a:r>
              <a:rPr sz="1000" b="0" i="0">
                <a:solidFill>
                  <a:srgbClr val="6E6E73"/>
                </a:solidFill>
                <a:latin typeface="Helvetica Neue"/>
              </a:rPr>
              <a:t>Gemini or Claude · schema · cache</a:t>
            </a:r>
          </a:p>
        </p:txBody>
      </p:sp>
      <p:sp>
        <p:nvSpPr>
          <p:cNvPr id="28" name="Rounded Rectangle 27"/>
          <p:cNvSpPr/>
          <p:nvPr/>
        </p:nvSpPr>
        <p:spPr>
          <a:xfrm>
            <a:off x="548640" y="5120640"/>
            <a:ext cx="8138160" cy="1161288"/>
          </a:xfrm>
          <a:prstGeom prst="roundRect">
            <a:avLst>
              <a:gd name="adj" fmla="val 1574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9" name="TextBox 28"/>
          <p:cNvSpPr txBox="1"/>
          <p:nvPr/>
        </p:nvSpPr>
        <p:spPr>
          <a:xfrm>
            <a:off x="749808" y="5212080"/>
            <a:ext cx="3657600" cy="274320"/>
          </a:xfrm>
          <a:prstGeom prst="rect">
            <a:avLst/>
          </a:prstGeom>
          <a:noFill/>
        </p:spPr>
        <p:txBody>
          <a:bodyPr wrap="square" lIns="0" rIns="0" tIns="0" bIns="0" anchor="t">
            <a:noAutofit/>
          </a:bodyPr>
          <a:lstStyle/>
          <a:p>
            <a:pPr algn="l">
              <a:lnSpc>
                <a:spcPct val="112000"/>
              </a:lnSpc>
              <a:spcAft>
                <a:spcPts val="0"/>
              </a:spcAft>
            </a:pPr>
            <a:r>
              <a:rPr sz="1250" b="1" i="0">
                <a:solidFill>
                  <a:srgbClr val="6E6E73"/>
                </a:solidFill>
                <a:latin typeface="Helvetica Neue"/>
              </a:rPr>
              <a:t>Modules (pure functions, one owner each)</a:t>
            </a:r>
          </a:p>
        </p:txBody>
      </p:sp>
      <p:sp>
        <p:nvSpPr>
          <p:cNvPr id="30" name="Rounded Rectangle 29"/>
          <p:cNvSpPr/>
          <p:nvPr/>
        </p:nvSpPr>
        <p:spPr>
          <a:xfrm>
            <a:off x="749808" y="5532120"/>
            <a:ext cx="2487168" cy="603504"/>
          </a:xfrm>
          <a:prstGeom prst="roundRect">
            <a:avLst>
              <a:gd name="adj" fmla="val 18181"/>
            </a:avLst>
          </a:prstGeom>
          <a:solidFill>
            <a:srgbClr val="E6F4EA"/>
          </a:solidFill>
          <a:ln>
            <a:noFill/>
          </a:ln>
          <a:effectLst/>
        </p:spPr>
        <p:txBody>
          <a:bodyPr rtlCol="0" anchor="ctr" wrap="square" lIns="137160" rIns="137160" tIns="36576" bIns="36576">
            <a:noAutofit/>
          </a:bodyPr>
          <a:lstStyle/>
          <a:p>
            <a:pPr algn="l">
              <a:lnSpc>
                <a:spcPct val="112000"/>
              </a:lnSpc>
              <a:spcAft>
                <a:spcPts val="0"/>
              </a:spcAft>
            </a:pPr>
            <a:r>
              <a:rPr sz="1250" b="1" i="0">
                <a:solidFill>
                  <a:srgbClr val="1D1D1F"/>
                </a:solidFill>
                <a:latin typeface="Helvetica Neue"/>
              </a:rPr>
              <a:t>BestExit</a:t>
            </a:r>
          </a:p>
          <a:p>
            <a:pPr algn="l">
              <a:lnSpc>
                <a:spcPct val="112000"/>
              </a:lnSpc>
              <a:spcAft>
                <a:spcPts val="0"/>
              </a:spcAft>
            </a:pPr>
            <a:r>
              <a:rPr sz="950" b="0" i="0">
                <a:solidFill>
                  <a:srgbClr val="6E6E73"/>
                </a:solidFill>
                <a:latin typeface="Menlo"/>
              </a:rPr>
              <a:t>evaluateValuation()</a:t>
            </a:r>
          </a:p>
        </p:txBody>
      </p:sp>
      <p:sp>
        <p:nvSpPr>
          <p:cNvPr id="31" name="Rounded Rectangle 30"/>
          <p:cNvSpPr/>
          <p:nvPr/>
        </p:nvSpPr>
        <p:spPr>
          <a:xfrm>
            <a:off x="3383279" y="5532120"/>
            <a:ext cx="2487168" cy="603504"/>
          </a:xfrm>
          <a:prstGeom prst="roundRect">
            <a:avLst>
              <a:gd name="adj" fmla="val 18181"/>
            </a:avLst>
          </a:prstGeom>
          <a:solidFill>
            <a:srgbClr val="E6F4EA"/>
          </a:solidFill>
          <a:ln>
            <a:noFill/>
          </a:ln>
          <a:effectLst/>
        </p:spPr>
        <p:txBody>
          <a:bodyPr rtlCol="0" anchor="ctr" wrap="square" lIns="137160" rIns="137160" tIns="36576" bIns="36576">
            <a:noAutofit/>
          </a:bodyPr>
          <a:lstStyle/>
          <a:p>
            <a:pPr algn="l">
              <a:lnSpc>
                <a:spcPct val="112000"/>
              </a:lnSpc>
              <a:spcAft>
                <a:spcPts val="0"/>
              </a:spcAft>
            </a:pPr>
            <a:r>
              <a:rPr sz="1250" b="1" i="0">
                <a:solidFill>
                  <a:srgbClr val="1D1D1F"/>
                </a:solidFill>
                <a:latin typeface="Helvetica Neue"/>
              </a:rPr>
              <a:t>SecondLook</a:t>
            </a:r>
          </a:p>
          <a:p>
            <a:pPr algn="l">
              <a:lnSpc>
                <a:spcPct val="112000"/>
              </a:lnSpc>
              <a:spcAft>
                <a:spcPts val="0"/>
              </a:spcAft>
            </a:pPr>
            <a:r>
              <a:rPr sz="950" b="0" i="0">
                <a:solidFill>
                  <a:srgbClr val="6E6E73"/>
                </a:solidFill>
                <a:latin typeface="Menlo"/>
              </a:rPr>
              <a:t>buildPassport()</a:t>
            </a:r>
          </a:p>
        </p:txBody>
      </p:sp>
      <p:sp>
        <p:nvSpPr>
          <p:cNvPr id="32" name="Rounded Rectangle 31"/>
          <p:cNvSpPr/>
          <p:nvPr/>
        </p:nvSpPr>
        <p:spPr>
          <a:xfrm>
            <a:off x="6016752" y="5532120"/>
            <a:ext cx="2487168" cy="603504"/>
          </a:xfrm>
          <a:prstGeom prst="roundRect">
            <a:avLst>
              <a:gd name="adj" fmla="val 18181"/>
            </a:avLst>
          </a:prstGeom>
          <a:solidFill>
            <a:srgbClr val="E6F4EA"/>
          </a:solidFill>
          <a:ln>
            <a:noFill/>
          </a:ln>
          <a:effectLst/>
        </p:spPr>
        <p:txBody>
          <a:bodyPr rtlCol="0" anchor="ctr" wrap="square" lIns="137160" rIns="137160" tIns="36576" bIns="36576">
            <a:noAutofit/>
          </a:bodyPr>
          <a:lstStyle/>
          <a:p>
            <a:pPr algn="l">
              <a:lnSpc>
                <a:spcPct val="112000"/>
              </a:lnSpc>
              <a:spcAft>
                <a:spcPts val="0"/>
              </a:spcAft>
            </a:pPr>
            <a:r>
              <a:rPr sz="1250" b="1" i="0">
                <a:solidFill>
                  <a:srgbClr val="1D1D1F"/>
                </a:solidFill>
                <a:latin typeface="Helvetica Neue"/>
              </a:rPr>
              <a:t>LoadLink</a:t>
            </a:r>
          </a:p>
          <a:p>
            <a:pPr algn="l">
              <a:lnSpc>
                <a:spcPct val="112000"/>
              </a:lnSpc>
              <a:spcAft>
                <a:spcPts val="0"/>
              </a:spcAft>
            </a:pPr>
            <a:r>
              <a:rPr sz="950" b="0" i="0">
                <a:solidFill>
                  <a:srgbClr val="6E6E73"/>
                </a:solidFill>
                <a:latin typeface="Menlo"/>
              </a:rPr>
              <a:t>planRoutes()</a:t>
            </a:r>
          </a:p>
        </p:txBody>
      </p:sp>
      <p:sp>
        <p:nvSpPr>
          <p:cNvPr id="33" name="Rounded Rectangle 32"/>
          <p:cNvSpPr/>
          <p:nvPr/>
        </p:nvSpPr>
        <p:spPr>
          <a:xfrm>
            <a:off x="8869680" y="5120640"/>
            <a:ext cx="2770632" cy="548640"/>
          </a:xfrm>
          <a:prstGeom prst="roundRect">
            <a:avLst>
              <a:gd name="adj" fmla="val 20000"/>
            </a:avLst>
          </a:prstGeom>
          <a:solidFill>
            <a:srgbClr val="EFECFB"/>
          </a:solidFill>
          <a:ln>
            <a:noFill/>
          </a:ln>
          <a:effectLst/>
        </p:spPr>
        <p:txBody>
          <a:bodyPr rtlCol="0" anchor="ctr" wrap="square" lIns="164592" rIns="164592" tIns="36576" bIns="36576">
            <a:noAutofit/>
          </a:bodyPr>
          <a:lstStyle/>
          <a:p>
            <a:pPr algn="l">
              <a:lnSpc>
                <a:spcPct val="112000"/>
              </a:lnSpc>
              <a:spcAft>
                <a:spcPts val="0"/>
              </a:spcAft>
            </a:pPr>
            <a:r>
              <a:rPr sz="1200" b="1" i="0">
                <a:solidFill>
                  <a:srgbClr val="1D1D1F"/>
                </a:solidFill>
                <a:latin typeface="Helvetica Neue"/>
              </a:rPr>
              <a:t>Contracts  </a:t>
            </a:r>
            <a:r>
              <a:rPr sz="1200" b="0" i="0">
                <a:solidFill>
                  <a:srgbClr val="6E6E73"/>
                </a:solidFill>
                <a:latin typeface="Helvetica Neue"/>
              </a:rPr>
              <a:t>TypeScript + Zod</a:t>
            </a:r>
          </a:p>
        </p:txBody>
      </p:sp>
      <p:sp>
        <p:nvSpPr>
          <p:cNvPr id="34" name="Rounded Rectangle 33"/>
          <p:cNvSpPr/>
          <p:nvPr/>
        </p:nvSpPr>
        <p:spPr>
          <a:xfrm>
            <a:off x="8869680" y="5733288"/>
            <a:ext cx="2770632" cy="548640"/>
          </a:xfrm>
          <a:prstGeom prst="roundRect">
            <a:avLst>
              <a:gd name="adj" fmla="val 20000"/>
            </a:avLst>
          </a:prstGeom>
          <a:solidFill>
            <a:srgbClr val="FDF1DC"/>
          </a:solidFill>
          <a:ln>
            <a:noFill/>
          </a:ln>
          <a:effectLst/>
        </p:spPr>
        <p:txBody>
          <a:bodyPr rtlCol="0" anchor="ctr" wrap="square" lIns="164592" rIns="164592" tIns="36576" bIns="36576">
            <a:noAutofit/>
          </a:bodyPr>
          <a:lstStyle/>
          <a:p>
            <a:pPr algn="l">
              <a:lnSpc>
                <a:spcPct val="112000"/>
              </a:lnSpc>
              <a:spcAft>
                <a:spcPts val="0"/>
              </a:spcAft>
            </a:pPr>
            <a:r>
              <a:rPr sz="1200" b="1" i="0">
                <a:solidFill>
                  <a:srgbClr val="1D1D1F"/>
                </a:solidFill>
                <a:latin typeface="Helvetica Neue"/>
              </a:rPr>
              <a:t>Fixtures  </a:t>
            </a:r>
            <a:r>
              <a:rPr sz="1200" b="0" i="0">
                <a:solidFill>
                  <a:srgbClr val="6E6E73"/>
                </a:solidFill>
                <a:latin typeface="Helvetica Neue"/>
              </a:rPr>
              <a:t>synthetic seed scenario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23</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Under the hood · AI guardrails</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The AI proposes. Code checks. A person decides.</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One AI step, wrapped in deterministic checks on both sides.</a:t>
            </a:r>
          </a:p>
        </p:txBody>
      </p:sp>
      <p:sp>
        <p:nvSpPr>
          <p:cNvPr id="20" name="Rounded Rectangle 19"/>
          <p:cNvSpPr/>
          <p:nvPr/>
        </p:nvSpPr>
        <p:spPr>
          <a:xfrm>
            <a:off x="548640" y="2606040"/>
            <a:ext cx="1691640" cy="178308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Oval 20"/>
          <p:cNvSpPr/>
          <p:nvPr/>
        </p:nvSpPr>
        <p:spPr>
          <a:xfrm>
            <a:off x="713232" y="2761488"/>
            <a:ext cx="384048" cy="384048"/>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200" b="1" i="0">
                <a:solidFill>
                  <a:srgbClr val="2560D6"/>
                </a:solidFill>
                <a:latin typeface="Helvetica Neue"/>
              </a:rPr>
              <a:t>1</a:t>
            </a:r>
          </a:p>
        </p:txBody>
      </p:sp>
      <p:sp>
        <p:nvSpPr>
          <p:cNvPr id="22" name="TextBox 21"/>
          <p:cNvSpPr txBox="1"/>
          <p:nvPr/>
        </p:nvSpPr>
        <p:spPr>
          <a:xfrm>
            <a:off x="713232" y="3246120"/>
            <a:ext cx="141732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Evidence</a:t>
            </a:r>
          </a:p>
        </p:txBody>
      </p:sp>
      <p:sp>
        <p:nvSpPr>
          <p:cNvPr id="23" name="TextBox 22"/>
          <p:cNvSpPr txBox="1"/>
          <p:nvPr/>
        </p:nvSpPr>
        <p:spPr>
          <a:xfrm>
            <a:off x="713232" y="3584448"/>
            <a:ext cx="1417320" cy="731520"/>
          </a:xfrm>
          <a:prstGeom prst="rect">
            <a:avLst/>
          </a:prstGeom>
          <a:noFill/>
        </p:spPr>
        <p:txBody>
          <a:bodyPr wrap="square" lIns="0" rIns="0" tIns="0" bIns="0" anchor="t">
            <a:noAutofit/>
          </a:bodyPr>
          <a:lstStyle/>
          <a:p>
            <a:pPr algn="l">
              <a:lnSpc>
                <a:spcPct val="115000"/>
              </a:lnSpc>
              <a:spcAft>
                <a:spcPts val="0"/>
              </a:spcAft>
            </a:pPr>
            <a:r>
              <a:rPr sz="1100" b="0" i="0">
                <a:solidFill>
                  <a:srgbClr val="6E6E73"/>
                </a:solidFill>
                <a:latin typeface="Helvetica Neue"/>
              </a:rPr>
              <a:t>untrusted text, sent as data</a:t>
            </a:r>
          </a:p>
        </p:txBody>
      </p:sp>
      <p:cxnSp>
        <p:nvCxnSpPr>
          <p:cNvPr id="24" name="Connector 23"/>
          <p:cNvCxnSpPr/>
          <p:nvPr/>
        </p:nvCxnSpPr>
        <p:spPr>
          <a:xfrm>
            <a:off x="2258568" y="3493008"/>
            <a:ext cx="146304" cy="0"/>
          </a:xfrm>
          <a:prstGeom prst="line">
            <a:avLst/>
          </a:prstGeom>
          <a:ln w="19050">
            <a:solidFill>
              <a:srgbClr val="B8C8EE"/>
            </a:solidFill>
            <a:tailEnd type="triangle" w="med" len="med"/>
          </a:ln>
        </p:spPr>
      </p:cxnSp>
      <p:sp>
        <p:nvSpPr>
          <p:cNvPr id="25" name="Rounded Rectangle 24"/>
          <p:cNvSpPr/>
          <p:nvPr/>
        </p:nvSpPr>
        <p:spPr>
          <a:xfrm>
            <a:off x="2423160" y="2606040"/>
            <a:ext cx="1691640" cy="178308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6" name="Oval 25"/>
          <p:cNvSpPr/>
          <p:nvPr/>
        </p:nvSpPr>
        <p:spPr>
          <a:xfrm>
            <a:off x="2587752" y="2761488"/>
            <a:ext cx="384048" cy="384048"/>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200" b="1" i="0">
                <a:solidFill>
                  <a:srgbClr val="2560D6"/>
                </a:solidFill>
                <a:latin typeface="Helvetica Neue"/>
              </a:rPr>
              <a:t>2</a:t>
            </a:r>
          </a:p>
        </p:txBody>
      </p:sp>
      <p:sp>
        <p:nvSpPr>
          <p:cNvPr id="27" name="TextBox 26"/>
          <p:cNvSpPr txBox="1"/>
          <p:nvPr/>
        </p:nvSpPr>
        <p:spPr>
          <a:xfrm>
            <a:off x="2587752" y="3246120"/>
            <a:ext cx="141732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Redact</a:t>
            </a:r>
          </a:p>
        </p:txBody>
      </p:sp>
      <p:sp>
        <p:nvSpPr>
          <p:cNvPr id="28" name="TextBox 27"/>
          <p:cNvSpPr txBox="1"/>
          <p:nvPr/>
        </p:nvSpPr>
        <p:spPr>
          <a:xfrm>
            <a:off x="2587752" y="3584448"/>
            <a:ext cx="1417320" cy="731520"/>
          </a:xfrm>
          <a:prstGeom prst="rect">
            <a:avLst/>
          </a:prstGeom>
          <a:noFill/>
        </p:spPr>
        <p:txBody>
          <a:bodyPr wrap="square" lIns="0" rIns="0" tIns="0" bIns="0" anchor="t">
            <a:noAutofit/>
          </a:bodyPr>
          <a:lstStyle/>
          <a:p>
            <a:pPr algn="l">
              <a:lnSpc>
                <a:spcPct val="115000"/>
              </a:lnSpc>
              <a:spcAft>
                <a:spcPts val="0"/>
              </a:spcAft>
            </a:pPr>
            <a:r>
              <a:rPr sz="1100" b="0" i="0">
                <a:solidFill>
                  <a:srgbClr val="6E6E73"/>
                </a:solidFill>
                <a:latin typeface="Helvetica Neue"/>
              </a:rPr>
              <a:t>emails + phones masked</a:t>
            </a:r>
          </a:p>
        </p:txBody>
      </p:sp>
      <p:cxnSp>
        <p:nvCxnSpPr>
          <p:cNvPr id="29" name="Connector 28"/>
          <p:cNvCxnSpPr/>
          <p:nvPr/>
        </p:nvCxnSpPr>
        <p:spPr>
          <a:xfrm>
            <a:off x="4133087" y="3493008"/>
            <a:ext cx="146305" cy="0"/>
          </a:xfrm>
          <a:prstGeom prst="line">
            <a:avLst/>
          </a:prstGeom>
          <a:ln w="19050">
            <a:solidFill>
              <a:srgbClr val="B8C8EE"/>
            </a:solidFill>
            <a:tailEnd type="triangle" w="med" len="med"/>
          </a:ln>
        </p:spPr>
      </p:cxnSp>
      <p:sp>
        <p:nvSpPr>
          <p:cNvPr id="30" name="Rounded Rectangle 29"/>
          <p:cNvSpPr/>
          <p:nvPr/>
        </p:nvSpPr>
        <p:spPr>
          <a:xfrm>
            <a:off x="4297679" y="2606040"/>
            <a:ext cx="1691640" cy="1783080"/>
          </a:xfrm>
          <a:prstGeom prst="roundRect">
            <a:avLst>
              <a:gd name="adj" fmla="val 10810"/>
            </a:avLst>
          </a:prstGeom>
          <a:solidFill>
            <a:srgbClr val="2F6BE6"/>
          </a:solidFill>
          <a:ln>
            <a:noFill/>
          </a:ln>
          <a:effectLst/>
        </p:spPr>
        <p:txBody>
          <a:bodyPr rtlCol="0" anchor="ctr"/>
          <a:lstStyle/>
          <a:p>
            <a:pPr algn="ctr"/>
          </a:p>
        </p:txBody>
      </p:sp>
      <p:sp>
        <p:nvSpPr>
          <p:cNvPr id="31" name="Oval 30"/>
          <p:cNvSpPr/>
          <p:nvPr/>
        </p:nvSpPr>
        <p:spPr>
          <a:xfrm>
            <a:off x="4462271" y="2761488"/>
            <a:ext cx="384048" cy="384048"/>
          </a:xfrm>
          <a:prstGeom prst="ellipse">
            <a:avLst/>
          </a:prstGeom>
          <a:solidFill>
            <a:srgbClr val="1D1D1F"/>
          </a:solidFill>
          <a:ln>
            <a:noFill/>
          </a:ln>
          <a:effectLst/>
        </p:spPr>
        <p:txBody>
          <a:bodyPr rtlCol="0" anchor="ctr" wrap="square" lIns="0" rIns="0" tIns="0" bIns="0">
            <a:noAutofit/>
          </a:bodyPr>
          <a:lstStyle/>
          <a:p>
            <a:pPr algn="ctr">
              <a:lnSpc>
                <a:spcPct val="112000"/>
              </a:lnSpc>
              <a:spcAft>
                <a:spcPts val="0"/>
              </a:spcAft>
            </a:pPr>
            <a:r>
              <a:rPr sz="1200" b="1" i="0">
                <a:solidFill>
                  <a:srgbClr val="FFFFFF"/>
                </a:solidFill>
                <a:latin typeface="Helvetica Neue"/>
              </a:rPr>
              <a:t>3</a:t>
            </a:r>
          </a:p>
        </p:txBody>
      </p:sp>
      <p:sp>
        <p:nvSpPr>
          <p:cNvPr id="32" name="TextBox 31"/>
          <p:cNvSpPr txBox="1"/>
          <p:nvPr/>
        </p:nvSpPr>
        <p:spPr>
          <a:xfrm>
            <a:off x="4462271" y="3246120"/>
            <a:ext cx="1417320" cy="320040"/>
          </a:xfrm>
          <a:prstGeom prst="rect">
            <a:avLst/>
          </a:prstGeom>
          <a:noFill/>
        </p:spPr>
        <p:txBody>
          <a:bodyPr wrap="square" lIns="0" rIns="0" tIns="0" bIns="0" anchor="t">
            <a:noAutofit/>
          </a:bodyPr>
          <a:lstStyle/>
          <a:p>
            <a:pPr algn="l">
              <a:lnSpc>
                <a:spcPct val="112000"/>
              </a:lnSpc>
              <a:spcAft>
                <a:spcPts val="0"/>
              </a:spcAft>
            </a:pPr>
            <a:r>
              <a:rPr sz="1500" b="1" i="0">
                <a:solidFill>
                  <a:srgbClr val="FFFFFF"/>
                </a:solidFill>
                <a:latin typeface="Helvetica Neue"/>
              </a:rPr>
              <a:t>Model</a:t>
            </a:r>
          </a:p>
        </p:txBody>
      </p:sp>
      <p:sp>
        <p:nvSpPr>
          <p:cNvPr id="33" name="TextBox 32"/>
          <p:cNvSpPr txBox="1"/>
          <p:nvPr/>
        </p:nvSpPr>
        <p:spPr>
          <a:xfrm>
            <a:off x="4462271" y="3584448"/>
            <a:ext cx="1417320" cy="731520"/>
          </a:xfrm>
          <a:prstGeom prst="rect">
            <a:avLst/>
          </a:prstGeom>
          <a:noFill/>
        </p:spPr>
        <p:txBody>
          <a:bodyPr wrap="square" lIns="0" rIns="0" tIns="0" bIns="0" anchor="t">
            <a:noAutofit/>
          </a:bodyPr>
          <a:lstStyle/>
          <a:p>
            <a:pPr algn="l">
              <a:lnSpc>
                <a:spcPct val="115000"/>
              </a:lnSpc>
              <a:spcAft>
                <a:spcPts val="0"/>
              </a:spcAft>
            </a:pPr>
            <a:r>
              <a:rPr sz="1100" b="0" i="0">
                <a:solidFill>
                  <a:srgbClr val="DCE6FF"/>
                </a:solidFill>
                <a:latin typeface="Helvetica Neue"/>
              </a:rPr>
              <a:t>Gemini 3.5 Flash · key server-side</a:t>
            </a:r>
          </a:p>
        </p:txBody>
      </p:sp>
      <p:cxnSp>
        <p:nvCxnSpPr>
          <p:cNvPr id="34" name="Connector 33"/>
          <p:cNvCxnSpPr/>
          <p:nvPr/>
        </p:nvCxnSpPr>
        <p:spPr>
          <a:xfrm>
            <a:off x="6007607" y="3493008"/>
            <a:ext cx="146304" cy="0"/>
          </a:xfrm>
          <a:prstGeom prst="line">
            <a:avLst/>
          </a:prstGeom>
          <a:ln w="19050">
            <a:solidFill>
              <a:srgbClr val="B8C8EE"/>
            </a:solidFill>
            <a:tailEnd type="triangle" w="med" len="med"/>
          </a:ln>
        </p:spPr>
      </p:cxnSp>
      <p:sp>
        <p:nvSpPr>
          <p:cNvPr id="35" name="Rounded Rectangle 34"/>
          <p:cNvSpPr/>
          <p:nvPr/>
        </p:nvSpPr>
        <p:spPr>
          <a:xfrm>
            <a:off x="6172199" y="2606040"/>
            <a:ext cx="1691640" cy="178308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6" name="Oval 35"/>
          <p:cNvSpPr/>
          <p:nvPr/>
        </p:nvSpPr>
        <p:spPr>
          <a:xfrm>
            <a:off x="6336791" y="2761488"/>
            <a:ext cx="384048" cy="384048"/>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200" b="1" i="0">
                <a:solidFill>
                  <a:srgbClr val="2560D6"/>
                </a:solidFill>
                <a:latin typeface="Helvetica Neue"/>
              </a:rPr>
              <a:t>4</a:t>
            </a:r>
          </a:p>
        </p:txBody>
      </p:sp>
      <p:sp>
        <p:nvSpPr>
          <p:cNvPr id="37" name="TextBox 36"/>
          <p:cNvSpPr txBox="1"/>
          <p:nvPr/>
        </p:nvSpPr>
        <p:spPr>
          <a:xfrm>
            <a:off x="6336791" y="3246120"/>
            <a:ext cx="141732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Validate</a:t>
            </a:r>
          </a:p>
        </p:txBody>
      </p:sp>
      <p:sp>
        <p:nvSpPr>
          <p:cNvPr id="38" name="TextBox 37"/>
          <p:cNvSpPr txBox="1"/>
          <p:nvPr/>
        </p:nvSpPr>
        <p:spPr>
          <a:xfrm>
            <a:off x="6336791" y="3584448"/>
            <a:ext cx="1417320" cy="731520"/>
          </a:xfrm>
          <a:prstGeom prst="rect">
            <a:avLst/>
          </a:prstGeom>
          <a:noFill/>
        </p:spPr>
        <p:txBody>
          <a:bodyPr wrap="square" lIns="0" rIns="0" tIns="0" bIns="0" anchor="t">
            <a:noAutofit/>
          </a:bodyPr>
          <a:lstStyle/>
          <a:p>
            <a:pPr algn="l">
              <a:lnSpc>
                <a:spcPct val="115000"/>
              </a:lnSpc>
              <a:spcAft>
                <a:spcPts val="0"/>
              </a:spcAft>
            </a:pPr>
            <a:r>
              <a:rPr sz="1100" b="0" i="0">
                <a:solidFill>
                  <a:srgbClr val="6E6E73"/>
                </a:solidFill>
                <a:latin typeface="Helvetica Neue"/>
              </a:rPr>
              <a:t>schema + citation check</a:t>
            </a:r>
          </a:p>
        </p:txBody>
      </p:sp>
      <p:cxnSp>
        <p:nvCxnSpPr>
          <p:cNvPr id="39" name="Connector 38"/>
          <p:cNvCxnSpPr/>
          <p:nvPr/>
        </p:nvCxnSpPr>
        <p:spPr>
          <a:xfrm>
            <a:off x="7882127" y="3493008"/>
            <a:ext cx="146304" cy="0"/>
          </a:xfrm>
          <a:prstGeom prst="line">
            <a:avLst/>
          </a:prstGeom>
          <a:ln w="19050">
            <a:solidFill>
              <a:srgbClr val="B8C8EE"/>
            </a:solidFill>
            <a:tailEnd type="triangle" w="med" len="med"/>
          </a:ln>
        </p:spPr>
      </p:cxnSp>
      <p:sp>
        <p:nvSpPr>
          <p:cNvPr id="40" name="Rounded Rectangle 39"/>
          <p:cNvSpPr/>
          <p:nvPr/>
        </p:nvSpPr>
        <p:spPr>
          <a:xfrm>
            <a:off x="8046719" y="2606040"/>
            <a:ext cx="1691640" cy="178308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1" name="Oval 40"/>
          <p:cNvSpPr/>
          <p:nvPr/>
        </p:nvSpPr>
        <p:spPr>
          <a:xfrm>
            <a:off x="8211311" y="2761488"/>
            <a:ext cx="384048" cy="384048"/>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200" b="1" i="0">
                <a:solidFill>
                  <a:srgbClr val="2560D6"/>
                </a:solidFill>
                <a:latin typeface="Helvetica Neue"/>
              </a:rPr>
              <a:t>5</a:t>
            </a:r>
          </a:p>
        </p:txBody>
      </p:sp>
      <p:sp>
        <p:nvSpPr>
          <p:cNvPr id="42" name="TextBox 41"/>
          <p:cNvSpPr txBox="1"/>
          <p:nvPr/>
        </p:nvSpPr>
        <p:spPr>
          <a:xfrm>
            <a:off x="8211311" y="3246120"/>
            <a:ext cx="141732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Rank</a:t>
            </a:r>
          </a:p>
        </p:txBody>
      </p:sp>
      <p:sp>
        <p:nvSpPr>
          <p:cNvPr id="43" name="TextBox 42"/>
          <p:cNvSpPr txBox="1"/>
          <p:nvPr/>
        </p:nvSpPr>
        <p:spPr>
          <a:xfrm>
            <a:off x="8211311" y="3584448"/>
            <a:ext cx="1417320" cy="731520"/>
          </a:xfrm>
          <a:prstGeom prst="rect">
            <a:avLst/>
          </a:prstGeom>
          <a:noFill/>
        </p:spPr>
        <p:txBody>
          <a:bodyPr wrap="square" lIns="0" rIns="0" tIns="0" bIns="0" anchor="t">
            <a:noAutofit/>
          </a:bodyPr>
          <a:lstStyle/>
          <a:p>
            <a:pPr algn="l">
              <a:lnSpc>
                <a:spcPct val="115000"/>
              </a:lnSpc>
              <a:spcAft>
                <a:spcPts val="0"/>
              </a:spcAft>
            </a:pPr>
            <a:r>
              <a:rPr sz="1100" b="0" i="0">
                <a:solidFill>
                  <a:srgbClr val="6E6E73"/>
                </a:solidFill>
                <a:latin typeface="Helvetica Neue"/>
              </a:rPr>
              <a:t>rules pick next checks</a:t>
            </a:r>
          </a:p>
        </p:txBody>
      </p:sp>
      <p:cxnSp>
        <p:nvCxnSpPr>
          <p:cNvPr id="44" name="Connector 43"/>
          <p:cNvCxnSpPr/>
          <p:nvPr/>
        </p:nvCxnSpPr>
        <p:spPr>
          <a:xfrm>
            <a:off x="9756647" y="3493008"/>
            <a:ext cx="146304" cy="0"/>
          </a:xfrm>
          <a:prstGeom prst="line">
            <a:avLst/>
          </a:prstGeom>
          <a:ln w="19050">
            <a:solidFill>
              <a:srgbClr val="B8C8EE"/>
            </a:solidFill>
            <a:tailEnd type="triangle" w="med" len="med"/>
          </a:ln>
        </p:spPr>
      </p:cxnSp>
      <p:sp>
        <p:nvSpPr>
          <p:cNvPr id="45" name="Rounded Rectangle 44"/>
          <p:cNvSpPr/>
          <p:nvPr/>
        </p:nvSpPr>
        <p:spPr>
          <a:xfrm>
            <a:off x="9921240" y="2606040"/>
            <a:ext cx="1691640" cy="1783080"/>
          </a:xfrm>
          <a:prstGeom prst="roundRect">
            <a:avLst>
              <a:gd name="adj" fmla="val 1081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6" name="Oval 45"/>
          <p:cNvSpPr/>
          <p:nvPr/>
        </p:nvSpPr>
        <p:spPr>
          <a:xfrm>
            <a:off x="10085832" y="2761488"/>
            <a:ext cx="384048" cy="384048"/>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200" b="1" i="0">
                <a:solidFill>
                  <a:srgbClr val="2560D6"/>
                </a:solidFill>
                <a:latin typeface="Helvetica Neue"/>
              </a:rPr>
              <a:t>6</a:t>
            </a:r>
          </a:p>
        </p:txBody>
      </p:sp>
      <p:sp>
        <p:nvSpPr>
          <p:cNvPr id="47" name="TextBox 46"/>
          <p:cNvSpPr txBox="1"/>
          <p:nvPr/>
        </p:nvSpPr>
        <p:spPr>
          <a:xfrm>
            <a:off x="10085832" y="3246120"/>
            <a:ext cx="141732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Confirm</a:t>
            </a:r>
          </a:p>
        </p:txBody>
      </p:sp>
      <p:sp>
        <p:nvSpPr>
          <p:cNvPr id="48" name="TextBox 47"/>
          <p:cNvSpPr txBox="1"/>
          <p:nvPr/>
        </p:nvSpPr>
        <p:spPr>
          <a:xfrm>
            <a:off x="10085832" y="3584448"/>
            <a:ext cx="1417320" cy="731520"/>
          </a:xfrm>
          <a:prstGeom prst="rect">
            <a:avLst/>
          </a:prstGeom>
          <a:noFill/>
        </p:spPr>
        <p:txBody>
          <a:bodyPr wrap="square" lIns="0" rIns="0" tIns="0" bIns="0" anchor="t">
            <a:noAutofit/>
          </a:bodyPr>
          <a:lstStyle/>
          <a:p>
            <a:pPr algn="l">
              <a:lnSpc>
                <a:spcPct val="115000"/>
              </a:lnSpc>
              <a:spcAft>
                <a:spcPts val="0"/>
              </a:spcAft>
            </a:pPr>
            <a:r>
              <a:rPr sz="1100" b="0" i="0">
                <a:solidFill>
                  <a:srgbClr val="6E6E73"/>
                </a:solidFill>
                <a:latin typeface="Helvetica Neue"/>
              </a:rPr>
              <a:t>human → new revision</a:t>
            </a:r>
          </a:p>
        </p:txBody>
      </p:sp>
      <p:sp>
        <p:nvSpPr>
          <p:cNvPr id="49" name="Rounded Rectangle 48"/>
          <p:cNvSpPr/>
          <p:nvPr/>
        </p:nvSpPr>
        <p:spPr>
          <a:xfrm>
            <a:off x="548640" y="4572000"/>
            <a:ext cx="5486400" cy="749808"/>
          </a:xfrm>
          <a:prstGeom prst="roundRect">
            <a:avLst>
              <a:gd name="adj" fmla="val 17073"/>
            </a:avLst>
          </a:prstGeom>
          <a:solidFill>
            <a:srgbClr val="FDF1DC"/>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8A5A10"/>
                </a:solidFill>
                <a:latin typeface="Helvetica Neue"/>
              </a:rPr>
              <a:t>No silent fallback</a:t>
            </a:r>
          </a:p>
          <a:p>
            <a:pPr algn="l">
              <a:lnSpc>
                <a:spcPct val="112000"/>
              </a:lnSpc>
              <a:spcAft>
                <a:spcPts val="0"/>
              </a:spcAft>
            </a:pPr>
            <a:r>
              <a:rPr sz="1100" b="0" i="0">
                <a:solidFill>
                  <a:srgbClr val="1D1D1F"/>
                </a:solidFill>
                <a:latin typeface="Helvetica Neue"/>
              </a:rPr>
              <a:t>Refused / schema failed / provider error → ‘Rules only’ is shown; it never swaps in examples quietly.</a:t>
            </a:r>
          </a:p>
        </p:txBody>
      </p:sp>
      <p:sp>
        <p:nvSpPr>
          <p:cNvPr id="50" name="Rounded Rectangle 49"/>
          <p:cNvSpPr/>
          <p:nvPr/>
        </p:nvSpPr>
        <p:spPr>
          <a:xfrm>
            <a:off x="6144768" y="4572000"/>
            <a:ext cx="5486400" cy="749808"/>
          </a:xfrm>
          <a:prstGeom prst="roundRect">
            <a:avLst>
              <a:gd name="adj" fmla="val 17073"/>
            </a:avLst>
          </a:prstGeom>
          <a:solidFill>
            <a:srgbClr val="FCEBEB"/>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B0383E"/>
                </a:solidFill>
                <a:latin typeface="Helvetica Neue"/>
              </a:rPr>
              <a:t>Uncited = dropped</a:t>
            </a:r>
          </a:p>
          <a:p>
            <a:pPr algn="l">
              <a:lnSpc>
                <a:spcPct val="112000"/>
              </a:lnSpc>
              <a:spcAft>
                <a:spcPts val="0"/>
              </a:spcAft>
            </a:pPr>
            <a:r>
              <a:rPr sz="1100" b="0" i="0">
                <a:solidFill>
                  <a:srgbClr val="1D1D1F"/>
                </a:solidFill>
                <a:latin typeface="Helvetica Neue"/>
              </a:rPr>
              <a:t>A claim citing evidence the model wasn’t given is removed before anyone sees it.</a:t>
            </a:r>
          </a:p>
        </p:txBody>
      </p:sp>
      <p:sp>
        <p:nvSpPr>
          <p:cNvPr id="51" name="Rounded Rectangle 50"/>
          <p:cNvSpPr/>
          <p:nvPr/>
        </p:nvSpPr>
        <p:spPr>
          <a:xfrm>
            <a:off x="548640" y="5440680"/>
            <a:ext cx="5486400" cy="749808"/>
          </a:xfrm>
          <a:prstGeom prst="roundRect">
            <a:avLst>
              <a:gd name="adj" fmla="val 17073"/>
            </a:avLst>
          </a:prstGeom>
          <a:solidFill>
            <a:srgbClr val="E6F4EA"/>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2F7A4F"/>
                </a:solidFill>
                <a:latin typeface="Helvetica Neue"/>
              </a:rPr>
              <a:t>Cached by input</a:t>
            </a:r>
          </a:p>
          <a:p>
            <a:pPr algn="l">
              <a:lnSpc>
                <a:spcPct val="112000"/>
              </a:lnSpc>
              <a:spcAft>
                <a:spcPts val="0"/>
              </a:spcAft>
            </a:pPr>
            <a:r>
              <a:rPr sz="1100" b="0" i="0">
                <a:solidFill>
                  <a:srgbClr val="1D1D1F"/>
                </a:solidFill>
                <a:latin typeface="Helvetica Neue"/>
              </a:rPr>
              <a:t>Same evidence → same result, no second paid call.</a:t>
            </a:r>
          </a:p>
        </p:txBody>
      </p:sp>
      <p:sp>
        <p:nvSpPr>
          <p:cNvPr id="52" name="Rounded Rectangle 51"/>
          <p:cNvSpPr/>
          <p:nvPr/>
        </p:nvSpPr>
        <p:spPr>
          <a:xfrm>
            <a:off x="6144768" y="5440680"/>
            <a:ext cx="5486400" cy="749808"/>
          </a:xfrm>
          <a:prstGeom prst="roundRect">
            <a:avLst>
              <a:gd name="adj" fmla="val 17073"/>
            </a:avLst>
          </a:prstGeom>
          <a:solidFill>
            <a:srgbClr val="EFECFB"/>
          </a:solidFill>
          <a:ln>
            <a:noFill/>
          </a:ln>
          <a:effectLst/>
        </p:spPr>
        <p:txBody>
          <a:bodyPr rtlCol="0" anchor="ctr" wrap="square" lIns="182880" rIns="182880" tIns="36576" bIns="36576">
            <a:noAutofit/>
          </a:bodyPr>
          <a:lstStyle/>
          <a:p>
            <a:pPr algn="l">
              <a:lnSpc>
                <a:spcPct val="112000"/>
              </a:lnSpc>
              <a:spcAft>
                <a:spcPts val="0"/>
              </a:spcAft>
            </a:pPr>
            <a:r>
              <a:rPr sz="1250" b="1" i="0">
                <a:solidFill>
                  <a:srgbClr val="5E4BB0"/>
                </a:solidFill>
                <a:latin typeface="Helvetica Neue"/>
              </a:rPr>
              <a:t>Provider-agnostic</a:t>
            </a:r>
          </a:p>
          <a:p>
            <a:pPr algn="l">
              <a:lnSpc>
                <a:spcPct val="112000"/>
              </a:lnSpc>
              <a:spcAft>
                <a:spcPts val="0"/>
              </a:spcAft>
            </a:pPr>
            <a:r>
              <a:rPr sz="1100" b="0" i="0">
                <a:solidFill>
                  <a:srgbClr val="1D1D1F"/>
                </a:solidFill>
                <a:latin typeface="Helvetica Neue"/>
              </a:rPr>
              <a:t>Claude or Gemini behind one gateway; measured live ≈20–30 s, ≈10k tokens.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24</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Under the hood · trust in the numbers</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Every result knows which facts it used.</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Results pin the revisions they read. Freshness is computed when you look, not when someone remembers to check.</a:t>
            </a:r>
          </a:p>
        </p:txBody>
      </p:sp>
      <p:sp>
        <p:nvSpPr>
          <p:cNvPr id="20" name="Rounded Rectangle 19"/>
          <p:cNvSpPr/>
          <p:nvPr/>
        </p:nvSpPr>
        <p:spPr>
          <a:xfrm>
            <a:off x="548640" y="2606040"/>
            <a:ext cx="3383280" cy="731520"/>
          </a:xfrm>
          <a:prstGeom prst="roundRect">
            <a:avLst>
              <a:gd name="adj" fmla="val 17500"/>
            </a:avLst>
          </a:prstGeom>
          <a:solidFill>
            <a:srgbClr val="E8E8ED"/>
          </a:solidFill>
          <a:ln>
            <a:noFill/>
          </a:ln>
          <a:effectLst/>
        </p:spPr>
        <p:txBody>
          <a:bodyPr rtlCol="0" anchor="ctr" wrap="square" lIns="201168" rIns="201168" tIns="36576" bIns="36576">
            <a:noAutofit/>
          </a:bodyPr>
          <a:lstStyle/>
          <a:p>
            <a:pPr algn="l">
              <a:lnSpc>
                <a:spcPct val="112000"/>
              </a:lnSpc>
              <a:spcAft>
                <a:spcPts val="0"/>
              </a:spcAft>
            </a:pPr>
            <a:r>
              <a:rPr sz="1400" b="1" i="0">
                <a:solidFill>
                  <a:srgbClr val="48484A"/>
                </a:solidFill>
                <a:latin typeface="Helvetica Neue"/>
              </a:rPr>
              <a:t>Vehicle r1</a:t>
            </a:r>
          </a:p>
          <a:p>
            <a:pPr algn="l">
              <a:lnSpc>
                <a:spcPct val="112000"/>
              </a:lnSpc>
              <a:spcAft>
                <a:spcPts val="0"/>
              </a:spcAft>
            </a:pPr>
            <a:r>
              <a:rPr sz="1100" b="0" i="0">
                <a:solidFill>
                  <a:srgbClr val="48484A"/>
                </a:solidFill>
                <a:latin typeface="Helvetica Neue"/>
              </a:rPr>
              <a:t>seed evidence rev 3</a:t>
            </a:r>
          </a:p>
        </p:txBody>
      </p:sp>
      <p:cxnSp>
        <p:nvCxnSpPr>
          <p:cNvPr id="21" name="Connector 20"/>
          <p:cNvCxnSpPr/>
          <p:nvPr/>
        </p:nvCxnSpPr>
        <p:spPr>
          <a:xfrm>
            <a:off x="3950208" y="2971800"/>
            <a:ext cx="329184" cy="0"/>
          </a:xfrm>
          <a:prstGeom prst="line">
            <a:avLst/>
          </a:prstGeom>
          <a:ln w="22225">
            <a:solidFill>
              <a:srgbClr val="B8C8EE"/>
            </a:solidFill>
            <a:tailEnd type="triangle" w="med" len="med"/>
          </a:ln>
        </p:spPr>
      </p:cxnSp>
      <p:sp>
        <p:nvSpPr>
          <p:cNvPr id="22" name="Rounded Rectangle 21"/>
          <p:cNvSpPr/>
          <p:nvPr/>
        </p:nvSpPr>
        <p:spPr>
          <a:xfrm>
            <a:off x="4297679" y="2606040"/>
            <a:ext cx="3383280" cy="731520"/>
          </a:xfrm>
          <a:prstGeom prst="roundRect">
            <a:avLst>
              <a:gd name="adj" fmla="val 17500"/>
            </a:avLst>
          </a:prstGeom>
          <a:solidFill>
            <a:srgbClr val="FDF1DC"/>
          </a:solidFill>
          <a:ln>
            <a:noFill/>
          </a:ln>
          <a:effectLst/>
        </p:spPr>
        <p:txBody>
          <a:bodyPr rtlCol="0" anchor="ctr" wrap="square" lIns="201168" rIns="201168" tIns="36576" bIns="36576">
            <a:noAutofit/>
          </a:bodyPr>
          <a:lstStyle/>
          <a:p>
            <a:pPr algn="l">
              <a:lnSpc>
                <a:spcPct val="112000"/>
              </a:lnSpc>
              <a:spcAft>
                <a:spcPts val="0"/>
              </a:spcAft>
            </a:pPr>
            <a:r>
              <a:rPr sz="1400" b="1" i="0">
                <a:solidFill>
                  <a:srgbClr val="8A5A10"/>
                </a:solidFill>
                <a:latin typeface="Helvetica Neue"/>
              </a:rPr>
              <a:t>+ inspector note</a:t>
            </a:r>
          </a:p>
          <a:p>
            <a:pPr algn="l">
              <a:lnSpc>
                <a:spcPct val="112000"/>
              </a:lnSpc>
              <a:spcAft>
                <a:spcPts val="0"/>
              </a:spcAft>
            </a:pPr>
            <a:r>
              <a:rPr sz="1100" b="0" i="0">
                <a:solidFill>
                  <a:srgbClr val="8A5A10"/>
                </a:solidFill>
                <a:latin typeface="Helvetica Neue"/>
              </a:rPr>
              <a:t>evidence rev 4</a:t>
            </a:r>
          </a:p>
        </p:txBody>
      </p:sp>
      <p:cxnSp>
        <p:nvCxnSpPr>
          <p:cNvPr id="23" name="Connector 22"/>
          <p:cNvCxnSpPr/>
          <p:nvPr/>
        </p:nvCxnSpPr>
        <p:spPr>
          <a:xfrm>
            <a:off x="7699248" y="2971800"/>
            <a:ext cx="329183" cy="0"/>
          </a:xfrm>
          <a:prstGeom prst="line">
            <a:avLst/>
          </a:prstGeom>
          <a:ln w="22225">
            <a:solidFill>
              <a:srgbClr val="B8C8EE"/>
            </a:solidFill>
            <a:tailEnd type="triangle" w="med" len="med"/>
          </a:ln>
        </p:spPr>
      </p:cxnSp>
      <p:sp>
        <p:nvSpPr>
          <p:cNvPr id="24" name="Rounded Rectangle 23"/>
          <p:cNvSpPr/>
          <p:nvPr/>
        </p:nvSpPr>
        <p:spPr>
          <a:xfrm>
            <a:off x="8046719" y="2606040"/>
            <a:ext cx="3383280" cy="731520"/>
          </a:xfrm>
          <a:prstGeom prst="roundRect">
            <a:avLst>
              <a:gd name="adj" fmla="val 17500"/>
            </a:avLst>
          </a:prstGeom>
          <a:solidFill>
            <a:srgbClr val="EAF1FF"/>
          </a:solidFill>
          <a:ln>
            <a:noFill/>
          </a:ln>
          <a:effectLst/>
        </p:spPr>
        <p:txBody>
          <a:bodyPr rtlCol="0" anchor="ctr" wrap="square" lIns="201168" rIns="201168" tIns="36576" bIns="36576">
            <a:noAutofit/>
          </a:bodyPr>
          <a:lstStyle/>
          <a:p>
            <a:pPr algn="l">
              <a:lnSpc>
                <a:spcPct val="112000"/>
              </a:lnSpc>
              <a:spcAft>
                <a:spcPts val="0"/>
              </a:spcAft>
            </a:pPr>
            <a:r>
              <a:rPr sz="1400" b="1" i="0">
                <a:solidFill>
                  <a:srgbClr val="2560D6"/>
                </a:solidFill>
                <a:latin typeface="Helvetica Neue"/>
              </a:rPr>
              <a:t>Human confirm</a:t>
            </a:r>
          </a:p>
          <a:p>
            <a:pPr algn="l">
              <a:lnSpc>
                <a:spcPct val="112000"/>
              </a:lnSpc>
              <a:spcAft>
                <a:spcPts val="0"/>
              </a:spcAft>
            </a:pPr>
            <a:r>
              <a:rPr sz="1100" b="0" i="0">
                <a:solidFill>
                  <a:srgbClr val="2560D6"/>
                </a:solidFill>
                <a:latin typeface="Helvetica Neue"/>
              </a:rPr>
              <a:t>vehicle r2</a:t>
            </a:r>
          </a:p>
        </p:txBody>
      </p:sp>
      <p:sp>
        <p:nvSpPr>
          <p:cNvPr id="25" name="Rounded Rectangle 24"/>
          <p:cNvSpPr/>
          <p:nvPr/>
        </p:nvSpPr>
        <p:spPr>
          <a:xfrm>
            <a:off x="548640" y="3611880"/>
            <a:ext cx="3566160" cy="1097280"/>
          </a:xfrm>
          <a:prstGeom prst="roundRect">
            <a:avLst>
              <a:gd name="adj" fmla="val 1666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6" name="TextBox 25"/>
          <p:cNvSpPr txBox="1"/>
          <p:nvPr/>
        </p:nvSpPr>
        <p:spPr>
          <a:xfrm>
            <a:off x="749808" y="3730752"/>
            <a:ext cx="3108960" cy="502920"/>
          </a:xfrm>
          <a:prstGeom prst="rect">
            <a:avLst/>
          </a:prstGeom>
          <a:noFill/>
        </p:spPr>
        <p:txBody>
          <a:bodyPr wrap="square" lIns="0" rIns="0" tIns="0" bIns="0" anchor="t">
            <a:noAutofit/>
          </a:bodyPr>
          <a:lstStyle/>
          <a:p>
            <a:pPr algn="l">
              <a:lnSpc>
                <a:spcPct val="110000"/>
              </a:lnSpc>
              <a:spcAft>
                <a:spcPts val="0"/>
              </a:spcAft>
            </a:pPr>
            <a:r>
              <a:rPr sz="1400" b="1" i="0">
                <a:solidFill>
                  <a:srgbClr val="1D1D1F"/>
                </a:solidFill>
                <a:latin typeface="Helvetica Neue"/>
              </a:rPr>
              <a:t>Valuation VR1</a:t>
            </a:r>
          </a:p>
          <a:p>
            <a:pPr algn="l">
              <a:lnSpc>
                <a:spcPct val="110000"/>
              </a:lnSpc>
              <a:spcAft>
                <a:spcPts val="0"/>
              </a:spcAft>
            </a:pPr>
            <a:r>
              <a:rPr sz="1050" b="0" i="0">
                <a:solidFill>
                  <a:srgbClr val="6E6E73"/>
                </a:solidFill>
                <a:latin typeface="Menlo"/>
              </a:rPr>
              <a:t>pinned r1 · ev 3</a:t>
            </a:r>
          </a:p>
        </p:txBody>
      </p:sp>
      <p:sp>
        <p:nvSpPr>
          <p:cNvPr id="27" name="Rounded Rectangle 26"/>
          <p:cNvSpPr/>
          <p:nvPr/>
        </p:nvSpPr>
        <p:spPr>
          <a:xfrm>
            <a:off x="749808" y="4297680"/>
            <a:ext cx="1758696" cy="274320"/>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1000" b="1" i="0">
                <a:solidFill>
                  <a:srgbClr val="8A5A10"/>
                </a:solidFill>
                <a:latin typeface="Helvetica Neue"/>
              </a:rPr>
              <a:t>Out of date at ev 4</a:t>
            </a:r>
          </a:p>
        </p:txBody>
      </p:sp>
      <p:sp>
        <p:nvSpPr>
          <p:cNvPr id="28" name="Rounded Rectangle 27"/>
          <p:cNvSpPr/>
          <p:nvPr/>
        </p:nvSpPr>
        <p:spPr>
          <a:xfrm>
            <a:off x="4297680" y="3611880"/>
            <a:ext cx="3566160" cy="1097280"/>
          </a:xfrm>
          <a:prstGeom prst="roundRect">
            <a:avLst>
              <a:gd name="adj" fmla="val 1666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9" name="TextBox 28"/>
          <p:cNvSpPr txBox="1"/>
          <p:nvPr/>
        </p:nvSpPr>
        <p:spPr>
          <a:xfrm>
            <a:off x="4498848" y="3730752"/>
            <a:ext cx="3108960" cy="502920"/>
          </a:xfrm>
          <a:prstGeom prst="rect">
            <a:avLst/>
          </a:prstGeom>
          <a:noFill/>
        </p:spPr>
        <p:txBody>
          <a:bodyPr wrap="square" lIns="0" rIns="0" tIns="0" bIns="0" anchor="t">
            <a:noAutofit/>
          </a:bodyPr>
          <a:lstStyle/>
          <a:p>
            <a:pPr algn="l">
              <a:lnSpc>
                <a:spcPct val="110000"/>
              </a:lnSpc>
              <a:spcAft>
                <a:spcPts val="0"/>
              </a:spcAft>
            </a:pPr>
            <a:r>
              <a:rPr sz="1400" b="1" i="0">
                <a:solidFill>
                  <a:srgbClr val="1D1D1F"/>
                </a:solidFill>
                <a:latin typeface="Helvetica Neue"/>
              </a:rPr>
              <a:t>Deal attempt</a:t>
            </a:r>
          </a:p>
          <a:p>
            <a:pPr algn="l">
              <a:lnSpc>
                <a:spcPct val="110000"/>
              </a:lnSpc>
              <a:spcAft>
                <a:spcPts val="0"/>
              </a:spcAft>
            </a:pPr>
            <a:r>
              <a:rPr sz="1050" b="0" i="0">
                <a:solidFill>
                  <a:srgbClr val="6E6E73"/>
                </a:solidFill>
                <a:latin typeface="Menlo"/>
              </a:rPr>
              <a:t>uses VR1</a:t>
            </a:r>
          </a:p>
        </p:txBody>
      </p:sp>
      <p:sp>
        <p:nvSpPr>
          <p:cNvPr id="30" name="Rounded Rectangle 29"/>
          <p:cNvSpPr/>
          <p:nvPr/>
        </p:nvSpPr>
        <p:spPr>
          <a:xfrm>
            <a:off x="4498848" y="4297680"/>
            <a:ext cx="2596896" cy="274320"/>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1000" b="1" i="0">
                <a:solidFill>
                  <a:srgbClr val="B0383E"/>
                </a:solidFill>
                <a:latin typeface="Helvetica Neue"/>
              </a:rPr>
              <a:t>Refused: valuation out of date</a:t>
            </a:r>
          </a:p>
        </p:txBody>
      </p:sp>
      <p:sp>
        <p:nvSpPr>
          <p:cNvPr id="31" name="Rounded Rectangle 30"/>
          <p:cNvSpPr/>
          <p:nvPr/>
        </p:nvSpPr>
        <p:spPr>
          <a:xfrm>
            <a:off x="8046720" y="3611880"/>
            <a:ext cx="3566160" cy="1097280"/>
          </a:xfrm>
          <a:prstGeom prst="roundRect">
            <a:avLst>
              <a:gd name="adj" fmla="val 1666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2" name="TextBox 31"/>
          <p:cNvSpPr txBox="1"/>
          <p:nvPr/>
        </p:nvSpPr>
        <p:spPr>
          <a:xfrm>
            <a:off x="8247888" y="3730752"/>
            <a:ext cx="3108960" cy="502920"/>
          </a:xfrm>
          <a:prstGeom prst="rect">
            <a:avLst/>
          </a:prstGeom>
          <a:noFill/>
        </p:spPr>
        <p:txBody>
          <a:bodyPr wrap="square" lIns="0" rIns="0" tIns="0" bIns="0" anchor="t">
            <a:noAutofit/>
          </a:bodyPr>
          <a:lstStyle/>
          <a:p>
            <a:pPr algn="l">
              <a:lnSpc>
                <a:spcPct val="110000"/>
              </a:lnSpc>
              <a:spcAft>
                <a:spcPts val="0"/>
              </a:spcAft>
            </a:pPr>
            <a:r>
              <a:rPr sz="1400" b="1" i="0">
                <a:solidFill>
                  <a:srgbClr val="1D1D1F"/>
                </a:solidFill>
                <a:latin typeface="Helvetica Neue"/>
              </a:rPr>
              <a:t>Valuation VR2</a:t>
            </a:r>
          </a:p>
          <a:p>
            <a:pPr algn="l">
              <a:lnSpc>
                <a:spcPct val="110000"/>
              </a:lnSpc>
              <a:spcAft>
                <a:spcPts val="0"/>
              </a:spcAft>
            </a:pPr>
            <a:r>
              <a:rPr sz="1050" b="0" i="0">
                <a:solidFill>
                  <a:srgbClr val="6E6E73"/>
                </a:solidFill>
                <a:latin typeface="Menlo"/>
              </a:rPr>
              <a:t>pinned r2 · ev 4</a:t>
            </a:r>
          </a:p>
        </p:txBody>
      </p:sp>
      <p:sp>
        <p:nvSpPr>
          <p:cNvPr id="33" name="Rounded Rectangle 32"/>
          <p:cNvSpPr/>
          <p:nvPr/>
        </p:nvSpPr>
        <p:spPr>
          <a:xfrm>
            <a:off x="8247888" y="4297680"/>
            <a:ext cx="1987296" cy="274320"/>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00" b="1" i="0">
                <a:solidFill>
                  <a:srgbClr val="2F7A4F"/>
                </a:solidFill>
                <a:latin typeface="Helvetica Neue"/>
              </a:rPr>
              <a:t>Fresh → deal confirmed</a:t>
            </a:r>
          </a:p>
        </p:txBody>
      </p:sp>
      <p:sp>
        <p:nvSpPr>
          <p:cNvPr id="34" name="TextBox 33"/>
          <p:cNvSpPr txBox="1"/>
          <p:nvPr/>
        </p:nvSpPr>
        <p:spPr>
          <a:xfrm>
            <a:off x="548640" y="4983480"/>
            <a:ext cx="11064240" cy="1371600"/>
          </a:xfrm>
          <a:prstGeom prst="rect">
            <a:avLst/>
          </a:prstGeom>
          <a:noFill/>
        </p:spPr>
        <p:txBody>
          <a:bodyPr wrap="square" lIns="0" rIns="0" tIns="0" bIns="0" anchor="t">
            <a:noAutofit/>
          </a:bodyPr>
          <a:lstStyle/>
          <a:p>
            <a:pPr algn="l">
              <a:lnSpc>
                <a:spcPct val="115000"/>
              </a:lnSpc>
              <a:spcAft>
                <a:spcPts val="600"/>
              </a:spcAft>
            </a:pPr>
            <a:r>
              <a:rPr sz="1300" b="1" i="0">
                <a:solidFill>
                  <a:srgbClr val="2F6BE6"/>
                </a:solidFill>
                <a:latin typeface="Helvetica Neue"/>
              </a:rPr>
              <a:t>●  </a:t>
            </a:r>
            <a:r>
              <a:rPr sz="1300" b="0" i="0">
                <a:solidFill>
                  <a:srgbClr val="1D1D1F"/>
                </a:solidFill>
                <a:latin typeface="Helvetica Neue"/>
              </a:rPr>
              <a:t>Generation guard: an older run can never overwrite a newer one</a:t>
            </a:r>
          </a:p>
          <a:p>
            <a:pPr algn="l">
              <a:lnSpc>
                <a:spcPct val="115000"/>
              </a:lnSpc>
              <a:spcAft>
                <a:spcPts val="600"/>
              </a:spcAft>
            </a:pPr>
            <a:r>
              <a:rPr sz="1300" b="1" i="0">
                <a:solidFill>
                  <a:srgbClr val="2F6BE6"/>
                </a:solidFill>
                <a:latin typeface="Helvetica Neue"/>
              </a:rPr>
              <a:t>●  </a:t>
            </a:r>
            <a:r>
              <a:rPr sz="1300" b="0" i="0">
                <a:solidFill>
                  <a:srgbClr val="1D1D1F"/>
                </a:solidFill>
                <a:latin typeface="Helvetica Neue"/>
              </a:rPr>
              <a:t>Optimistic concurrency: confirming sends the expected revision; a mismatch returns 409</a:t>
            </a:r>
          </a:p>
          <a:p>
            <a:pPr algn="l">
              <a:lnSpc>
                <a:spcPct val="115000"/>
              </a:lnSpc>
              <a:spcAft>
                <a:spcPts val="600"/>
              </a:spcAft>
            </a:pPr>
            <a:r>
              <a:rPr sz="1300" b="1" i="0">
                <a:solidFill>
                  <a:srgbClr val="2F6BE6"/>
                </a:solidFill>
                <a:latin typeface="Helvetica Neue"/>
              </a:rPr>
              <a:t>●  </a:t>
            </a:r>
            <a:r>
              <a:rPr sz="1300" b="0" i="0">
                <a:solidFill>
                  <a:srgbClr val="1D1D1F"/>
                </a:solidFill>
                <a:latin typeface="Helvetica Neue"/>
              </a:rPr>
              <a:t>Knowable&lt;T&gt;: ‘unknown’ is its own state, never false or 0 · money in integer cents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25</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Under the hood · quality</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34 tests. Strict types. No hand-waving.</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Acceptance tests pin the exact demo numbers, so the pitch can’t drift from the code.</a:t>
            </a:r>
          </a:p>
        </p:txBody>
      </p:sp>
      <p:sp>
        <p:nvSpPr>
          <p:cNvPr id="20" name="Rounded Rectangle 19"/>
          <p:cNvSpPr/>
          <p:nvPr/>
        </p:nvSpPr>
        <p:spPr>
          <a:xfrm>
            <a:off x="548640" y="2560320"/>
            <a:ext cx="2670048" cy="1371600"/>
          </a:xfrm>
          <a:prstGeom prst="roundRect">
            <a:avLst>
              <a:gd name="adj" fmla="val 13333"/>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TextBox 20"/>
          <p:cNvSpPr txBox="1"/>
          <p:nvPr/>
        </p:nvSpPr>
        <p:spPr>
          <a:xfrm>
            <a:off x="777240" y="2697480"/>
            <a:ext cx="2286000" cy="594360"/>
          </a:xfrm>
          <a:prstGeom prst="rect">
            <a:avLst/>
          </a:prstGeom>
          <a:noFill/>
        </p:spPr>
        <p:txBody>
          <a:bodyPr wrap="square" lIns="0" rIns="0" tIns="0" bIns="0" anchor="t">
            <a:noAutofit/>
          </a:bodyPr>
          <a:lstStyle/>
          <a:p>
            <a:pPr algn="l">
              <a:lnSpc>
                <a:spcPct val="112000"/>
              </a:lnSpc>
              <a:spcAft>
                <a:spcPts val="0"/>
              </a:spcAft>
            </a:pPr>
            <a:r>
              <a:rPr sz="3400" b="1" i="0" spc="-60">
                <a:solidFill>
                  <a:srgbClr val="2F7A4F"/>
                </a:solidFill>
                <a:latin typeface="Helvetica Neue"/>
              </a:rPr>
              <a:t>34 / 34</a:t>
            </a:r>
          </a:p>
        </p:txBody>
      </p:sp>
      <p:sp>
        <p:nvSpPr>
          <p:cNvPr id="22" name="TextBox 21"/>
          <p:cNvSpPr txBox="1"/>
          <p:nvPr/>
        </p:nvSpPr>
        <p:spPr>
          <a:xfrm>
            <a:off x="777240" y="3364992"/>
            <a:ext cx="2286000" cy="365760"/>
          </a:xfrm>
          <a:prstGeom prst="rect">
            <a:avLst/>
          </a:prstGeom>
          <a:noFill/>
        </p:spPr>
        <p:txBody>
          <a:bodyPr wrap="square" lIns="0" rIns="0" tIns="0" bIns="0" anchor="t">
            <a:noAutofit/>
          </a:bodyPr>
          <a:lstStyle/>
          <a:p>
            <a:pPr algn="l">
              <a:lnSpc>
                <a:spcPct val="112000"/>
              </a:lnSpc>
              <a:spcAft>
                <a:spcPts val="0"/>
              </a:spcAft>
            </a:pPr>
            <a:r>
              <a:rPr sz="1250" b="0" i="0">
                <a:solidFill>
                  <a:srgbClr val="6E6E73"/>
                </a:solidFill>
                <a:latin typeface="Helvetica Neue"/>
              </a:rPr>
              <a:t>tests passing</a:t>
            </a:r>
          </a:p>
        </p:txBody>
      </p:sp>
      <p:sp>
        <p:nvSpPr>
          <p:cNvPr id="23" name="Rounded Rectangle 22"/>
          <p:cNvSpPr/>
          <p:nvPr/>
        </p:nvSpPr>
        <p:spPr>
          <a:xfrm>
            <a:off x="3401568" y="2560320"/>
            <a:ext cx="2670048" cy="1371600"/>
          </a:xfrm>
          <a:prstGeom prst="roundRect">
            <a:avLst>
              <a:gd name="adj" fmla="val 13333"/>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4" name="TextBox 23"/>
          <p:cNvSpPr txBox="1"/>
          <p:nvPr/>
        </p:nvSpPr>
        <p:spPr>
          <a:xfrm>
            <a:off x="3630168" y="2697480"/>
            <a:ext cx="2286000" cy="594360"/>
          </a:xfrm>
          <a:prstGeom prst="rect">
            <a:avLst/>
          </a:prstGeom>
          <a:noFill/>
        </p:spPr>
        <p:txBody>
          <a:bodyPr wrap="square" lIns="0" rIns="0" tIns="0" bIns="0" anchor="t">
            <a:noAutofit/>
          </a:bodyPr>
          <a:lstStyle/>
          <a:p>
            <a:pPr algn="l">
              <a:lnSpc>
                <a:spcPct val="112000"/>
              </a:lnSpc>
              <a:spcAft>
                <a:spcPts val="0"/>
              </a:spcAft>
            </a:pPr>
            <a:r>
              <a:rPr sz="3400" b="1" i="0" spc="-60">
                <a:solidFill>
                  <a:srgbClr val="2560D6"/>
                </a:solidFill>
                <a:latin typeface="Helvetica Neue"/>
              </a:rPr>
              <a:t>5</a:t>
            </a:r>
          </a:p>
        </p:txBody>
      </p:sp>
      <p:sp>
        <p:nvSpPr>
          <p:cNvPr id="25" name="TextBox 24"/>
          <p:cNvSpPr txBox="1"/>
          <p:nvPr/>
        </p:nvSpPr>
        <p:spPr>
          <a:xfrm>
            <a:off x="3630168" y="3364992"/>
            <a:ext cx="2286000" cy="365760"/>
          </a:xfrm>
          <a:prstGeom prst="rect">
            <a:avLst/>
          </a:prstGeom>
          <a:noFill/>
        </p:spPr>
        <p:txBody>
          <a:bodyPr wrap="square" lIns="0" rIns="0" tIns="0" bIns="0" anchor="t">
            <a:noAutofit/>
          </a:bodyPr>
          <a:lstStyle/>
          <a:p>
            <a:pPr algn="l">
              <a:lnSpc>
                <a:spcPct val="112000"/>
              </a:lnSpc>
              <a:spcAft>
                <a:spcPts val="0"/>
              </a:spcAft>
            </a:pPr>
            <a:r>
              <a:rPr sz="1250" b="0" i="0">
                <a:solidFill>
                  <a:srgbClr val="6E6E73"/>
                </a:solidFill>
                <a:latin typeface="Helvetica Neue"/>
              </a:rPr>
              <a:t>test suites</a:t>
            </a:r>
          </a:p>
        </p:txBody>
      </p:sp>
      <p:sp>
        <p:nvSpPr>
          <p:cNvPr id="26" name="Rounded Rectangle 25"/>
          <p:cNvSpPr/>
          <p:nvPr/>
        </p:nvSpPr>
        <p:spPr>
          <a:xfrm>
            <a:off x="6254496" y="2560320"/>
            <a:ext cx="2670048" cy="1371600"/>
          </a:xfrm>
          <a:prstGeom prst="roundRect">
            <a:avLst>
              <a:gd name="adj" fmla="val 13333"/>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7" name="TextBox 26"/>
          <p:cNvSpPr txBox="1"/>
          <p:nvPr/>
        </p:nvSpPr>
        <p:spPr>
          <a:xfrm>
            <a:off x="6483096" y="2697480"/>
            <a:ext cx="2286000" cy="594360"/>
          </a:xfrm>
          <a:prstGeom prst="rect">
            <a:avLst/>
          </a:prstGeom>
          <a:noFill/>
        </p:spPr>
        <p:txBody>
          <a:bodyPr wrap="square" lIns="0" rIns="0" tIns="0" bIns="0" anchor="t">
            <a:noAutofit/>
          </a:bodyPr>
          <a:lstStyle/>
          <a:p>
            <a:pPr algn="l">
              <a:lnSpc>
                <a:spcPct val="112000"/>
              </a:lnSpc>
              <a:spcAft>
                <a:spcPts val="0"/>
              </a:spcAft>
            </a:pPr>
            <a:r>
              <a:rPr sz="3400" b="1" i="0" spc="-60">
                <a:solidFill>
                  <a:srgbClr val="5E4BB0"/>
                </a:solidFill>
                <a:latin typeface="Helvetica Neue"/>
              </a:rPr>
              <a:t>3</a:t>
            </a:r>
          </a:p>
        </p:txBody>
      </p:sp>
      <p:sp>
        <p:nvSpPr>
          <p:cNvPr id="28" name="TextBox 27"/>
          <p:cNvSpPr txBox="1"/>
          <p:nvPr/>
        </p:nvSpPr>
        <p:spPr>
          <a:xfrm>
            <a:off x="6483096" y="3364992"/>
            <a:ext cx="2286000" cy="365760"/>
          </a:xfrm>
          <a:prstGeom prst="rect">
            <a:avLst/>
          </a:prstGeom>
          <a:noFill/>
        </p:spPr>
        <p:txBody>
          <a:bodyPr wrap="square" lIns="0" rIns="0" tIns="0" bIns="0" anchor="t">
            <a:noAutofit/>
          </a:bodyPr>
          <a:lstStyle/>
          <a:p>
            <a:pPr algn="l">
              <a:lnSpc>
                <a:spcPct val="112000"/>
              </a:lnSpc>
              <a:spcAft>
                <a:spcPts val="0"/>
              </a:spcAft>
            </a:pPr>
            <a:r>
              <a:rPr sz="1250" b="0" i="0">
                <a:solidFill>
                  <a:srgbClr val="6E6E73"/>
                </a:solidFill>
                <a:latin typeface="Helvetica Neue"/>
              </a:rPr>
              <a:t>modules built in parallel</a:t>
            </a:r>
          </a:p>
        </p:txBody>
      </p:sp>
      <p:sp>
        <p:nvSpPr>
          <p:cNvPr id="29" name="Rounded Rectangle 28"/>
          <p:cNvSpPr/>
          <p:nvPr/>
        </p:nvSpPr>
        <p:spPr>
          <a:xfrm>
            <a:off x="9107424" y="2560320"/>
            <a:ext cx="2670048" cy="1371600"/>
          </a:xfrm>
          <a:prstGeom prst="roundRect">
            <a:avLst>
              <a:gd name="adj" fmla="val 13333"/>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0" name="TextBox 29"/>
          <p:cNvSpPr txBox="1"/>
          <p:nvPr/>
        </p:nvSpPr>
        <p:spPr>
          <a:xfrm>
            <a:off x="9336024" y="2697480"/>
            <a:ext cx="2286000" cy="594360"/>
          </a:xfrm>
          <a:prstGeom prst="rect">
            <a:avLst/>
          </a:prstGeom>
          <a:noFill/>
        </p:spPr>
        <p:txBody>
          <a:bodyPr wrap="square" lIns="0" rIns="0" tIns="0" bIns="0" anchor="t">
            <a:noAutofit/>
          </a:bodyPr>
          <a:lstStyle/>
          <a:p>
            <a:pPr algn="l">
              <a:lnSpc>
                <a:spcPct val="112000"/>
              </a:lnSpc>
              <a:spcAft>
                <a:spcPts val="0"/>
              </a:spcAft>
            </a:pPr>
            <a:r>
              <a:rPr sz="3400" b="1" i="0" spc="-60">
                <a:solidFill>
                  <a:srgbClr val="8A5A10"/>
                </a:solidFill>
                <a:latin typeface="Helvetica Neue"/>
              </a:rPr>
              <a:t>0</a:t>
            </a:r>
          </a:p>
        </p:txBody>
      </p:sp>
      <p:sp>
        <p:nvSpPr>
          <p:cNvPr id="31" name="TextBox 30"/>
          <p:cNvSpPr txBox="1"/>
          <p:nvPr/>
        </p:nvSpPr>
        <p:spPr>
          <a:xfrm>
            <a:off x="9336024" y="3364992"/>
            <a:ext cx="2286000" cy="365760"/>
          </a:xfrm>
          <a:prstGeom prst="rect">
            <a:avLst/>
          </a:prstGeom>
          <a:noFill/>
        </p:spPr>
        <p:txBody>
          <a:bodyPr wrap="square" lIns="0" rIns="0" tIns="0" bIns="0" anchor="t">
            <a:noAutofit/>
          </a:bodyPr>
          <a:lstStyle/>
          <a:p>
            <a:pPr algn="l">
              <a:lnSpc>
                <a:spcPct val="112000"/>
              </a:lnSpc>
              <a:spcAft>
                <a:spcPts val="0"/>
              </a:spcAft>
            </a:pPr>
            <a:r>
              <a:rPr sz="1250" b="0" i="0">
                <a:solidFill>
                  <a:srgbClr val="6E6E73"/>
                </a:solidFill>
                <a:latin typeface="Helvetica Neue"/>
              </a:rPr>
              <a:t>real transactions (by design)</a:t>
            </a:r>
          </a:p>
        </p:txBody>
      </p:sp>
      <p:sp>
        <p:nvSpPr>
          <p:cNvPr id="32" name="Rounded Rectangle 31"/>
          <p:cNvSpPr/>
          <p:nvPr/>
        </p:nvSpPr>
        <p:spPr>
          <a:xfrm>
            <a:off x="548640" y="4114800"/>
            <a:ext cx="6949440" cy="2176272"/>
          </a:xfrm>
          <a:prstGeom prst="roundRect">
            <a:avLst>
              <a:gd name="adj" fmla="val 8403"/>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3" name="TextBox 32"/>
          <p:cNvSpPr txBox="1"/>
          <p:nvPr/>
        </p:nvSpPr>
        <p:spPr>
          <a:xfrm>
            <a:off x="777240" y="4251960"/>
            <a:ext cx="2651760" cy="274320"/>
          </a:xfrm>
          <a:prstGeom prst="rect">
            <a:avLst/>
          </a:prstGeom>
          <a:noFill/>
        </p:spPr>
        <p:txBody>
          <a:bodyPr wrap="square" lIns="0" rIns="0" tIns="0" bIns="0" anchor="t">
            <a:noAutofit/>
          </a:bodyPr>
          <a:lstStyle/>
          <a:p>
            <a:pPr algn="l">
              <a:lnSpc>
                <a:spcPct val="112000"/>
              </a:lnSpc>
              <a:spcAft>
                <a:spcPts val="0"/>
              </a:spcAft>
            </a:pPr>
            <a:r>
              <a:rPr sz="1200" b="1" i="0">
                <a:solidFill>
                  <a:srgbClr val="1D1D1F"/>
                </a:solidFill>
                <a:latin typeface="Helvetica Neue"/>
              </a:rPr>
              <a:t>BestExit acceptance</a:t>
            </a:r>
          </a:p>
        </p:txBody>
      </p:sp>
      <p:sp>
        <p:nvSpPr>
          <p:cNvPr id="34" name="Rounded Rectangle 33"/>
          <p:cNvSpPr/>
          <p:nvPr/>
        </p:nvSpPr>
        <p:spPr>
          <a:xfrm>
            <a:off x="3429000" y="4242816"/>
            <a:ext cx="457200"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00" b="1" i="0">
                <a:solidFill>
                  <a:srgbClr val="2F7A4F"/>
                </a:solidFill>
                <a:latin typeface="Helvetica Neue"/>
              </a:rPr>
              <a:t>7</a:t>
            </a:r>
          </a:p>
        </p:txBody>
      </p:sp>
      <p:sp>
        <p:nvSpPr>
          <p:cNvPr id="35" name="TextBox 34"/>
          <p:cNvSpPr txBox="1"/>
          <p:nvPr/>
        </p:nvSpPr>
        <p:spPr>
          <a:xfrm>
            <a:off x="4023360" y="4251960"/>
            <a:ext cx="33832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6E6E73"/>
                </a:solidFill>
                <a:latin typeface="Helvetica Neue"/>
              </a:rPr>
              <a:t>exact nets, eligibility, change codes</a:t>
            </a:r>
          </a:p>
        </p:txBody>
      </p:sp>
      <p:sp>
        <p:nvSpPr>
          <p:cNvPr id="36" name="TextBox 35"/>
          <p:cNvSpPr txBox="1"/>
          <p:nvPr/>
        </p:nvSpPr>
        <p:spPr>
          <a:xfrm>
            <a:off x="777240" y="4645152"/>
            <a:ext cx="2651760" cy="274320"/>
          </a:xfrm>
          <a:prstGeom prst="rect">
            <a:avLst/>
          </a:prstGeom>
          <a:noFill/>
        </p:spPr>
        <p:txBody>
          <a:bodyPr wrap="square" lIns="0" rIns="0" tIns="0" bIns="0" anchor="t">
            <a:noAutofit/>
          </a:bodyPr>
          <a:lstStyle/>
          <a:p>
            <a:pPr algn="l">
              <a:lnSpc>
                <a:spcPct val="112000"/>
              </a:lnSpc>
              <a:spcAft>
                <a:spcPts val="0"/>
              </a:spcAft>
            </a:pPr>
            <a:r>
              <a:rPr sz="1200" b="1" i="0">
                <a:solidFill>
                  <a:srgbClr val="1D1D1F"/>
                </a:solidFill>
                <a:latin typeface="Helvetica Neue"/>
              </a:rPr>
              <a:t>SecondLook replay cases</a:t>
            </a:r>
          </a:p>
        </p:txBody>
      </p:sp>
      <p:sp>
        <p:nvSpPr>
          <p:cNvPr id="37" name="Rounded Rectangle 36"/>
          <p:cNvSpPr/>
          <p:nvPr/>
        </p:nvSpPr>
        <p:spPr>
          <a:xfrm>
            <a:off x="3429000" y="4636008"/>
            <a:ext cx="457200"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00" b="1" i="0">
                <a:solidFill>
                  <a:srgbClr val="2F7A4F"/>
                </a:solidFill>
                <a:latin typeface="Helvetica Neue"/>
              </a:rPr>
              <a:t>5</a:t>
            </a:r>
          </a:p>
        </p:txBody>
      </p:sp>
      <p:sp>
        <p:nvSpPr>
          <p:cNvPr id="38" name="TextBox 37"/>
          <p:cNvSpPr txBox="1"/>
          <p:nvPr/>
        </p:nvSpPr>
        <p:spPr>
          <a:xfrm>
            <a:off x="4023360" y="4645152"/>
            <a:ext cx="33832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6E6E73"/>
                </a:solidFill>
                <a:latin typeface="Helvetica Neue"/>
              </a:rPr>
              <a:t>conflicts, unknowns, citation drops</a:t>
            </a:r>
          </a:p>
        </p:txBody>
      </p:sp>
      <p:sp>
        <p:nvSpPr>
          <p:cNvPr id="39" name="TextBox 38"/>
          <p:cNvSpPr txBox="1"/>
          <p:nvPr/>
        </p:nvSpPr>
        <p:spPr>
          <a:xfrm>
            <a:off x="777240" y="5038344"/>
            <a:ext cx="2651760" cy="274320"/>
          </a:xfrm>
          <a:prstGeom prst="rect">
            <a:avLst/>
          </a:prstGeom>
          <a:noFill/>
        </p:spPr>
        <p:txBody>
          <a:bodyPr wrap="square" lIns="0" rIns="0" tIns="0" bIns="0" anchor="t">
            <a:noAutofit/>
          </a:bodyPr>
          <a:lstStyle/>
          <a:p>
            <a:pPr algn="l">
              <a:lnSpc>
                <a:spcPct val="112000"/>
              </a:lnSpc>
              <a:spcAft>
                <a:spcPts val="0"/>
              </a:spcAft>
            </a:pPr>
            <a:r>
              <a:rPr sz="1200" b="1" i="0">
                <a:solidFill>
                  <a:srgbClr val="1D1D1F"/>
                </a:solidFill>
                <a:latin typeface="Helvetica Neue"/>
              </a:rPr>
              <a:t>SecondLook rules</a:t>
            </a:r>
          </a:p>
        </p:txBody>
      </p:sp>
      <p:sp>
        <p:nvSpPr>
          <p:cNvPr id="40" name="Rounded Rectangle 39"/>
          <p:cNvSpPr/>
          <p:nvPr/>
        </p:nvSpPr>
        <p:spPr>
          <a:xfrm>
            <a:off x="3429000" y="5029200"/>
            <a:ext cx="457200"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00" b="1" i="0">
                <a:solidFill>
                  <a:srgbClr val="2F7A4F"/>
                </a:solidFill>
                <a:latin typeface="Helvetica Neue"/>
              </a:rPr>
              <a:t>13</a:t>
            </a:r>
          </a:p>
        </p:txBody>
      </p:sp>
      <p:sp>
        <p:nvSpPr>
          <p:cNvPr id="41" name="TextBox 40"/>
          <p:cNvSpPr txBox="1"/>
          <p:nvPr/>
        </p:nvSpPr>
        <p:spPr>
          <a:xfrm>
            <a:off x="4023360" y="5038344"/>
            <a:ext cx="33832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6E6E73"/>
                </a:solidFill>
                <a:latin typeface="Helvetica Neue"/>
              </a:rPr>
              <a:t>validation + next-check ranking</a:t>
            </a:r>
          </a:p>
        </p:txBody>
      </p:sp>
      <p:sp>
        <p:nvSpPr>
          <p:cNvPr id="42" name="TextBox 41"/>
          <p:cNvSpPr txBox="1"/>
          <p:nvPr/>
        </p:nvSpPr>
        <p:spPr>
          <a:xfrm>
            <a:off x="777240" y="5431536"/>
            <a:ext cx="2651760" cy="274320"/>
          </a:xfrm>
          <a:prstGeom prst="rect">
            <a:avLst/>
          </a:prstGeom>
          <a:noFill/>
        </p:spPr>
        <p:txBody>
          <a:bodyPr wrap="square" lIns="0" rIns="0" tIns="0" bIns="0" anchor="t">
            <a:noAutofit/>
          </a:bodyPr>
          <a:lstStyle/>
          <a:p>
            <a:pPr algn="l">
              <a:lnSpc>
                <a:spcPct val="112000"/>
              </a:lnSpc>
              <a:spcAft>
                <a:spcPts val="0"/>
              </a:spcAft>
            </a:pPr>
            <a:r>
              <a:rPr sz="1200" b="1" i="0">
                <a:solidFill>
                  <a:srgbClr val="1D1D1F"/>
                </a:solidFill>
                <a:latin typeface="Helvetica Neue"/>
              </a:rPr>
              <a:t>LoadLink acceptance</a:t>
            </a:r>
          </a:p>
        </p:txBody>
      </p:sp>
      <p:sp>
        <p:nvSpPr>
          <p:cNvPr id="43" name="Rounded Rectangle 42"/>
          <p:cNvSpPr/>
          <p:nvPr/>
        </p:nvSpPr>
        <p:spPr>
          <a:xfrm>
            <a:off x="3429000" y="5422392"/>
            <a:ext cx="457200"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00" b="1" i="0">
                <a:solidFill>
                  <a:srgbClr val="2F7A4F"/>
                </a:solidFill>
                <a:latin typeface="Helvetica Neue"/>
              </a:rPr>
              <a:t>5</a:t>
            </a:r>
          </a:p>
        </p:txBody>
      </p:sp>
      <p:sp>
        <p:nvSpPr>
          <p:cNvPr id="44" name="TextBox 43"/>
          <p:cNvSpPr txBox="1"/>
          <p:nvPr/>
        </p:nvSpPr>
        <p:spPr>
          <a:xfrm>
            <a:off x="4023360" y="5431536"/>
            <a:ext cx="33832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6E6E73"/>
                </a:solidFill>
                <a:latin typeface="Helvetica Neue"/>
              </a:rPr>
              <a:t>normal + outage plans, reasons</a:t>
            </a:r>
          </a:p>
        </p:txBody>
      </p:sp>
      <p:sp>
        <p:nvSpPr>
          <p:cNvPr id="45" name="TextBox 44"/>
          <p:cNvSpPr txBox="1"/>
          <p:nvPr/>
        </p:nvSpPr>
        <p:spPr>
          <a:xfrm>
            <a:off x="777240" y="5824728"/>
            <a:ext cx="2651760" cy="274320"/>
          </a:xfrm>
          <a:prstGeom prst="rect">
            <a:avLst/>
          </a:prstGeom>
          <a:noFill/>
        </p:spPr>
        <p:txBody>
          <a:bodyPr wrap="square" lIns="0" rIns="0" tIns="0" bIns="0" anchor="t">
            <a:noAutofit/>
          </a:bodyPr>
          <a:lstStyle/>
          <a:p>
            <a:pPr algn="l">
              <a:lnSpc>
                <a:spcPct val="112000"/>
              </a:lnSpc>
              <a:spcAft>
                <a:spcPts val="0"/>
              </a:spcAft>
            </a:pPr>
            <a:r>
              <a:rPr sz="1200" b="1" i="0">
                <a:solidFill>
                  <a:srgbClr val="1D1D1F"/>
                </a:solidFill>
                <a:latin typeface="Helvetica Neue"/>
              </a:rPr>
              <a:t>Foundation</a:t>
            </a:r>
          </a:p>
        </p:txBody>
      </p:sp>
      <p:sp>
        <p:nvSpPr>
          <p:cNvPr id="46" name="Rounded Rectangle 45"/>
          <p:cNvSpPr/>
          <p:nvPr/>
        </p:nvSpPr>
        <p:spPr>
          <a:xfrm>
            <a:off x="3429000" y="5815584"/>
            <a:ext cx="457200" cy="24688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00" b="1" i="0">
                <a:solidFill>
                  <a:srgbClr val="2F7A4F"/>
                </a:solidFill>
                <a:latin typeface="Helvetica Neue"/>
              </a:rPr>
              <a:t>4</a:t>
            </a:r>
          </a:p>
        </p:txBody>
      </p:sp>
      <p:sp>
        <p:nvSpPr>
          <p:cNvPr id="47" name="TextBox 46"/>
          <p:cNvSpPr txBox="1"/>
          <p:nvPr/>
        </p:nvSpPr>
        <p:spPr>
          <a:xfrm>
            <a:off x="4023360" y="5824728"/>
            <a:ext cx="3383280" cy="274320"/>
          </a:xfrm>
          <a:prstGeom prst="rect">
            <a:avLst/>
          </a:prstGeom>
          <a:noFill/>
        </p:spPr>
        <p:txBody>
          <a:bodyPr wrap="square" lIns="0" rIns="0" tIns="0" bIns="0" anchor="t">
            <a:noAutofit/>
          </a:bodyPr>
          <a:lstStyle/>
          <a:p>
            <a:pPr algn="l">
              <a:lnSpc>
                <a:spcPct val="112000"/>
              </a:lnSpc>
              <a:spcAft>
                <a:spcPts val="0"/>
              </a:spcAft>
            </a:pPr>
            <a:r>
              <a:rPr sz="1100" b="0" i="0">
                <a:solidFill>
                  <a:srgbClr val="6E6E73"/>
                </a:solidFill>
                <a:latin typeface="Helvetica Neue"/>
              </a:rPr>
              <a:t>staleness, generation guard, money</a:t>
            </a:r>
          </a:p>
        </p:txBody>
      </p:sp>
      <p:sp>
        <p:nvSpPr>
          <p:cNvPr id="48" name="Rounded Rectangle 47"/>
          <p:cNvSpPr/>
          <p:nvPr/>
        </p:nvSpPr>
        <p:spPr>
          <a:xfrm>
            <a:off x="7680960" y="4114800"/>
            <a:ext cx="3959352" cy="2176272"/>
          </a:xfrm>
          <a:prstGeom prst="roundRect">
            <a:avLst>
              <a:gd name="adj" fmla="val 8403"/>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9" name="TextBox 48"/>
          <p:cNvSpPr txBox="1"/>
          <p:nvPr/>
        </p:nvSpPr>
        <p:spPr>
          <a:xfrm>
            <a:off x="7909560" y="4251960"/>
            <a:ext cx="3474720" cy="274320"/>
          </a:xfrm>
          <a:prstGeom prst="rect">
            <a:avLst/>
          </a:prstGeom>
          <a:noFill/>
        </p:spPr>
        <p:txBody>
          <a:bodyPr wrap="square" lIns="0" rIns="0" tIns="0" bIns="0" anchor="t">
            <a:noAutofit/>
          </a:bodyPr>
          <a:lstStyle/>
          <a:p>
            <a:pPr algn="l">
              <a:lnSpc>
                <a:spcPct val="112000"/>
              </a:lnSpc>
              <a:spcAft>
                <a:spcPts val="0"/>
              </a:spcAft>
            </a:pPr>
            <a:r>
              <a:rPr sz="1300" b="1" i="0">
                <a:solidFill>
                  <a:srgbClr val="1D1D1F"/>
                </a:solidFill>
                <a:latin typeface="Helvetica Neue"/>
              </a:rPr>
              <a:t>Stack</a:t>
            </a:r>
          </a:p>
        </p:txBody>
      </p:sp>
      <p:sp>
        <p:nvSpPr>
          <p:cNvPr id="50" name="Rounded Rectangle 49"/>
          <p:cNvSpPr/>
          <p:nvPr/>
        </p:nvSpPr>
        <p:spPr>
          <a:xfrm>
            <a:off x="7909560" y="4617720"/>
            <a:ext cx="1431036"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50" b="1" i="0">
                <a:solidFill>
                  <a:srgbClr val="48484A"/>
                </a:solidFill>
                <a:latin typeface="Helvetica Neue"/>
              </a:rPr>
              <a:t>TypeScript 5.9</a:t>
            </a:r>
          </a:p>
        </p:txBody>
      </p:sp>
      <p:sp>
        <p:nvSpPr>
          <p:cNvPr id="51" name="Rounded Rectangle 50"/>
          <p:cNvSpPr/>
          <p:nvPr/>
        </p:nvSpPr>
        <p:spPr>
          <a:xfrm>
            <a:off x="9413748" y="4617720"/>
            <a:ext cx="1110996"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50" b="1" i="0">
                <a:solidFill>
                  <a:srgbClr val="48484A"/>
                </a:solidFill>
                <a:latin typeface="Helvetica Neue"/>
              </a:rPr>
              <a:t>Next.js 16</a:t>
            </a:r>
          </a:p>
        </p:txBody>
      </p:sp>
      <p:sp>
        <p:nvSpPr>
          <p:cNvPr id="52" name="Rounded Rectangle 51"/>
          <p:cNvSpPr/>
          <p:nvPr/>
        </p:nvSpPr>
        <p:spPr>
          <a:xfrm>
            <a:off x="7909560" y="5001768"/>
            <a:ext cx="950976"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50" b="1" i="0">
                <a:solidFill>
                  <a:srgbClr val="48484A"/>
                </a:solidFill>
                <a:latin typeface="Helvetica Neue"/>
              </a:rPr>
              <a:t>React 19</a:t>
            </a:r>
          </a:p>
        </p:txBody>
      </p:sp>
      <p:sp>
        <p:nvSpPr>
          <p:cNvPr id="53" name="Rounded Rectangle 52"/>
          <p:cNvSpPr/>
          <p:nvPr/>
        </p:nvSpPr>
        <p:spPr>
          <a:xfrm>
            <a:off x="8933688" y="5001768"/>
            <a:ext cx="710946"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50" b="1" i="0">
                <a:solidFill>
                  <a:srgbClr val="48484A"/>
                </a:solidFill>
                <a:latin typeface="Helvetica Neue"/>
              </a:rPr>
              <a:t>Zod 4</a:t>
            </a:r>
          </a:p>
        </p:txBody>
      </p:sp>
      <p:sp>
        <p:nvSpPr>
          <p:cNvPr id="54" name="Rounded Rectangle 53"/>
          <p:cNvSpPr/>
          <p:nvPr/>
        </p:nvSpPr>
        <p:spPr>
          <a:xfrm>
            <a:off x="9717786" y="5001768"/>
            <a:ext cx="950976"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50" b="1" i="0">
                <a:solidFill>
                  <a:srgbClr val="48484A"/>
                </a:solidFill>
                <a:latin typeface="Helvetica Neue"/>
              </a:rPr>
              <a:t>Vitest 4</a:t>
            </a:r>
          </a:p>
        </p:txBody>
      </p:sp>
      <p:sp>
        <p:nvSpPr>
          <p:cNvPr id="55" name="Rounded Rectangle 54"/>
          <p:cNvSpPr/>
          <p:nvPr/>
        </p:nvSpPr>
        <p:spPr>
          <a:xfrm>
            <a:off x="7909560" y="5385816"/>
            <a:ext cx="1591056"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50" b="1" i="0">
                <a:solidFill>
                  <a:srgbClr val="48484A"/>
                </a:solidFill>
                <a:latin typeface="Helvetica Neue"/>
              </a:rPr>
              <a:t>Gemini 3.5 Flash</a:t>
            </a:r>
          </a:p>
        </p:txBody>
      </p:sp>
      <p:sp>
        <p:nvSpPr>
          <p:cNvPr id="56" name="Rounded Rectangle 55"/>
          <p:cNvSpPr/>
          <p:nvPr/>
        </p:nvSpPr>
        <p:spPr>
          <a:xfrm>
            <a:off x="9573768" y="5385816"/>
            <a:ext cx="1271016"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1050" b="1" i="0">
                <a:solidFill>
                  <a:srgbClr val="48484A"/>
                </a:solidFill>
                <a:latin typeface="Helvetica Neue"/>
              </a:rPr>
              <a:t>Claude-ready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26</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Making money · the levers</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Five ways VehicleOS pays for itself.</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Each lever maps to a feature in the demo. Click a card to open the model.</a:t>
            </a:r>
          </a:p>
        </p:txBody>
      </p:sp>
      <p:sp>
        <p:nvSpPr>
          <p:cNvPr id="20" name="Rounded Rectangle 19">
            <a:hlinkClick action="ppaction://hlinksldjump" r:id="rId7"/>
          </p:cNvPr>
          <p:cNvSpPr/>
          <p:nvPr/>
        </p:nvSpPr>
        <p:spPr>
          <a:xfrm>
            <a:off x="548640" y="2560320"/>
            <a:ext cx="2103120" cy="338328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Oval 20"/>
          <p:cNvSpPr/>
          <p:nvPr/>
        </p:nvSpPr>
        <p:spPr>
          <a:xfrm>
            <a:off x="731520" y="2743200"/>
            <a:ext cx="457200" cy="457200"/>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400" b="1" i="0">
                <a:solidFill>
                  <a:srgbClr val="2560D6"/>
                </a:solidFill>
                <a:latin typeface="Helvetica Neue"/>
              </a:rPr>
              <a:t>1</a:t>
            </a:r>
          </a:p>
        </p:txBody>
      </p:sp>
      <p:sp>
        <p:nvSpPr>
          <p:cNvPr id="22" name="TextBox 21"/>
          <p:cNvSpPr txBox="1"/>
          <p:nvPr/>
        </p:nvSpPr>
        <p:spPr>
          <a:xfrm>
            <a:off x="731520" y="3337560"/>
            <a:ext cx="1783080" cy="548640"/>
          </a:xfrm>
          <a:prstGeom prst="rect">
            <a:avLst/>
          </a:prstGeom>
          <a:noFill/>
        </p:spPr>
        <p:txBody>
          <a:bodyPr wrap="square" lIns="0" rIns="0" tIns="0" bIns="0" anchor="t">
            <a:noAutofit/>
          </a:bodyPr>
          <a:lstStyle/>
          <a:p>
            <a:pPr algn="l">
              <a:lnSpc>
                <a:spcPct val="100000"/>
              </a:lnSpc>
              <a:spcAft>
                <a:spcPts val="0"/>
              </a:spcAft>
            </a:pPr>
            <a:r>
              <a:rPr sz="1500" b="1" i="0">
                <a:solidFill>
                  <a:srgbClr val="1D1D1F"/>
                </a:solidFill>
                <a:latin typeface="Helvetica Neue"/>
              </a:rPr>
              <a:t>Transport attach ↑</a:t>
            </a:r>
          </a:p>
        </p:txBody>
      </p:sp>
      <p:sp>
        <p:nvSpPr>
          <p:cNvPr id="23" name="TextBox 22"/>
          <p:cNvSpPr txBox="1"/>
          <p:nvPr/>
        </p:nvSpPr>
        <p:spPr>
          <a:xfrm>
            <a:off x="731520" y="3977639"/>
            <a:ext cx="1783080" cy="1371600"/>
          </a:xfrm>
          <a:prstGeom prst="rect">
            <a:avLst/>
          </a:prstGeom>
          <a:noFill/>
        </p:spPr>
        <p:txBody>
          <a:bodyPr wrap="square" lIns="0" rIns="0" tIns="0" bIns="0" anchor="t">
            <a:noAutofit/>
          </a:bodyPr>
          <a:lstStyle/>
          <a:p>
            <a:pPr algn="l">
              <a:lnSpc>
                <a:spcPct val="118000"/>
              </a:lnSpc>
              <a:spcAft>
                <a:spcPts val="0"/>
              </a:spcAft>
            </a:pPr>
            <a:r>
              <a:rPr sz="1150" b="0" i="0">
                <a:solidFill>
                  <a:srgbClr val="6E6E73"/>
                </a:solidFill>
                <a:latin typeface="Helvetica Neue"/>
              </a:rPr>
              <a:t>Landed cost shown at checkout and equipment auto-detected → more buyers add ACV Transport.</a:t>
            </a:r>
          </a:p>
        </p:txBody>
      </p:sp>
      <p:sp>
        <p:nvSpPr>
          <p:cNvPr id="24" name="Rounded Rectangle 23"/>
          <p:cNvSpPr/>
          <p:nvPr/>
        </p:nvSpPr>
        <p:spPr>
          <a:xfrm>
            <a:off x="731520" y="5394960"/>
            <a:ext cx="1783080" cy="25603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900" b="1" i="0">
                <a:solidFill>
                  <a:srgbClr val="2560D6"/>
                </a:solidFill>
                <a:latin typeface="Helvetica Neue"/>
              </a:rPr>
              <a:t>Checkout · LoadLink</a:t>
            </a:r>
          </a:p>
        </p:txBody>
      </p:sp>
      <p:sp>
        <p:nvSpPr>
          <p:cNvPr id="25" name="Rounded Rectangle 24">
            <a:hlinkClick action="ppaction://hlinksldjump" r:id="rId7"/>
          </p:cNvPr>
          <p:cNvSpPr/>
          <p:nvPr/>
        </p:nvSpPr>
        <p:spPr>
          <a:xfrm>
            <a:off x="2834640" y="2560320"/>
            <a:ext cx="2103120" cy="338328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6" name="Oval 25"/>
          <p:cNvSpPr/>
          <p:nvPr/>
        </p:nvSpPr>
        <p:spPr>
          <a:xfrm>
            <a:off x="3017520" y="2743200"/>
            <a:ext cx="457200" cy="457200"/>
          </a:xfrm>
          <a:prstGeom prst="ellipse">
            <a:avLst/>
          </a:prstGeom>
          <a:solidFill>
            <a:srgbClr val="EAF1FF"/>
          </a:solidFill>
          <a:ln>
            <a:noFill/>
          </a:ln>
          <a:effectLst/>
        </p:spPr>
        <p:txBody>
          <a:bodyPr rtlCol="0" anchor="ctr" wrap="square" lIns="0" rIns="0" tIns="0" bIns="0">
            <a:noAutofit/>
          </a:bodyPr>
          <a:lstStyle/>
          <a:p>
            <a:pPr algn="ctr">
              <a:lnSpc>
                <a:spcPct val="112000"/>
              </a:lnSpc>
              <a:spcAft>
                <a:spcPts val="0"/>
              </a:spcAft>
            </a:pPr>
            <a:r>
              <a:rPr sz="1400" b="1" i="0">
                <a:solidFill>
                  <a:srgbClr val="2560D6"/>
                </a:solidFill>
                <a:latin typeface="Helvetica Neue"/>
              </a:rPr>
              <a:t>2</a:t>
            </a:r>
          </a:p>
        </p:txBody>
      </p:sp>
      <p:sp>
        <p:nvSpPr>
          <p:cNvPr id="27" name="TextBox 26"/>
          <p:cNvSpPr txBox="1"/>
          <p:nvPr/>
        </p:nvSpPr>
        <p:spPr>
          <a:xfrm>
            <a:off x="3017520" y="3337560"/>
            <a:ext cx="1783080" cy="548640"/>
          </a:xfrm>
          <a:prstGeom prst="rect">
            <a:avLst/>
          </a:prstGeom>
          <a:noFill/>
        </p:spPr>
        <p:txBody>
          <a:bodyPr wrap="square" lIns="0" rIns="0" tIns="0" bIns="0" anchor="t">
            <a:noAutofit/>
          </a:bodyPr>
          <a:lstStyle/>
          <a:p>
            <a:pPr algn="l">
              <a:lnSpc>
                <a:spcPct val="100000"/>
              </a:lnSpc>
              <a:spcAft>
                <a:spcPts val="0"/>
              </a:spcAft>
            </a:pPr>
            <a:r>
              <a:rPr sz="1500" b="1" i="0">
                <a:solidFill>
                  <a:srgbClr val="1D1D1F"/>
                </a:solidFill>
                <a:latin typeface="Helvetica Neue"/>
              </a:rPr>
              <a:t>Pooled routing</a:t>
            </a:r>
          </a:p>
        </p:txBody>
      </p:sp>
      <p:sp>
        <p:nvSpPr>
          <p:cNvPr id="28" name="TextBox 27"/>
          <p:cNvSpPr txBox="1"/>
          <p:nvPr/>
        </p:nvSpPr>
        <p:spPr>
          <a:xfrm>
            <a:off x="3017520" y="3977639"/>
            <a:ext cx="1783080" cy="1371600"/>
          </a:xfrm>
          <a:prstGeom prst="rect">
            <a:avLst/>
          </a:prstGeom>
          <a:noFill/>
        </p:spPr>
        <p:txBody>
          <a:bodyPr wrap="square" lIns="0" rIns="0" tIns="0" bIns="0" anchor="t">
            <a:noAutofit/>
          </a:bodyPr>
          <a:lstStyle/>
          <a:p>
            <a:pPr algn="l">
              <a:lnSpc>
                <a:spcPct val="118000"/>
              </a:lnSpc>
              <a:spcAft>
                <a:spcPts val="0"/>
              </a:spcAft>
            </a:pPr>
            <a:r>
              <a:rPr sz="1150" b="0" i="0">
                <a:solidFill>
                  <a:srgbClr val="6E6E73"/>
                </a:solidFill>
                <a:latin typeface="Helvetica Neue"/>
              </a:rPr>
              <a:t>ACV + Copart loads on one plan → lower carrier cost per car.</a:t>
            </a:r>
          </a:p>
        </p:txBody>
      </p:sp>
      <p:sp>
        <p:nvSpPr>
          <p:cNvPr id="29" name="Rounded Rectangle 28"/>
          <p:cNvSpPr/>
          <p:nvPr/>
        </p:nvSpPr>
        <p:spPr>
          <a:xfrm>
            <a:off x="3017520" y="5394960"/>
            <a:ext cx="1783080" cy="25603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900" b="1" i="0">
                <a:solidFill>
                  <a:srgbClr val="2560D6"/>
                </a:solidFill>
                <a:latin typeface="Helvetica Neue"/>
              </a:rPr>
              <a:t>LoadLink</a:t>
            </a:r>
          </a:p>
        </p:txBody>
      </p:sp>
      <p:sp>
        <p:nvSpPr>
          <p:cNvPr id="30" name="Rounded Rectangle 29">
            <a:hlinkClick action="ppaction://hlinksldjump" r:id="rId7"/>
          </p:cNvPr>
          <p:cNvSpPr/>
          <p:nvPr/>
        </p:nvSpPr>
        <p:spPr>
          <a:xfrm>
            <a:off x="5120640" y="2560320"/>
            <a:ext cx="2103120" cy="338328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1" name="Oval 30"/>
          <p:cNvSpPr/>
          <p:nvPr/>
        </p:nvSpPr>
        <p:spPr>
          <a:xfrm>
            <a:off x="5303520" y="2743200"/>
            <a:ext cx="457200" cy="457200"/>
          </a:xfrm>
          <a:prstGeom prst="ellipse">
            <a:avLst/>
          </a:prstGeom>
          <a:solidFill>
            <a:srgbClr val="FDF1DC"/>
          </a:solidFill>
          <a:ln>
            <a:noFill/>
          </a:ln>
          <a:effectLst/>
        </p:spPr>
        <p:txBody>
          <a:bodyPr rtlCol="0" anchor="ctr" wrap="square" lIns="0" rIns="0" tIns="0" bIns="0">
            <a:noAutofit/>
          </a:bodyPr>
          <a:lstStyle/>
          <a:p>
            <a:pPr algn="ctr">
              <a:lnSpc>
                <a:spcPct val="112000"/>
              </a:lnSpc>
              <a:spcAft>
                <a:spcPts val="0"/>
              </a:spcAft>
            </a:pPr>
            <a:r>
              <a:rPr sz="1400" b="1" i="0">
                <a:solidFill>
                  <a:srgbClr val="8A5A10"/>
                </a:solidFill>
                <a:latin typeface="Helvetica Neue"/>
              </a:rPr>
              <a:t>3</a:t>
            </a:r>
          </a:p>
        </p:txBody>
      </p:sp>
      <p:sp>
        <p:nvSpPr>
          <p:cNvPr id="32" name="TextBox 31"/>
          <p:cNvSpPr txBox="1"/>
          <p:nvPr/>
        </p:nvSpPr>
        <p:spPr>
          <a:xfrm>
            <a:off x="5303520" y="3337560"/>
            <a:ext cx="1783080" cy="548640"/>
          </a:xfrm>
          <a:prstGeom prst="rect">
            <a:avLst/>
          </a:prstGeom>
          <a:noFill/>
        </p:spPr>
        <p:txBody>
          <a:bodyPr wrap="square" lIns="0" rIns="0" tIns="0" bIns="0" anchor="t">
            <a:noAutofit/>
          </a:bodyPr>
          <a:lstStyle/>
          <a:p>
            <a:pPr algn="l">
              <a:lnSpc>
                <a:spcPct val="100000"/>
              </a:lnSpc>
              <a:spcAft>
                <a:spcPts val="0"/>
              </a:spcAft>
            </a:pPr>
            <a:r>
              <a:rPr sz="1500" b="1" i="0">
                <a:solidFill>
                  <a:srgbClr val="1D1D1F"/>
                </a:solidFill>
                <a:latin typeface="Helvetica Neue"/>
              </a:rPr>
              <a:t>Dry runs avoided</a:t>
            </a:r>
          </a:p>
        </p:txBody>
      </p:sp>
      <p:sp>
        <p:nvSpPr>
          <p:cNvPr id="33" name="TextBox 32"/>
          <p:cNvSpPr txBox="1"/>
          <p:nvPr/>
        </p:nvSpPr>
        <p:spPr>
          <a:xfrm>
            <a:off x="5303520" y="3977639"/>
            <a:ext cx="1783080" cy="1371600"/>
          </a:xfrm>
          <a:prstGeom prst="rect">
            <a:avLst/>
          </a:prstGeom>
          <a:noFill/>
        </p:spPr>
        <p:txBody>
          <a:bodyPr wrap="square" lIns="0" rIns="0" tIns="0" bIns="0" anchor="t">
            <a:noAutofit/>
          </a:bodyPr>
          <a:lstStyle/>
          <a:p>
            <a:pPr algn="l">
              <a:lnSpc>
                <a:spcPct val="118000"/>
              </a:lnSpc>
              <a:spcAft>
                <a:spcPts val="0"/>
              </a:spcAft>
            </a:pPr>
            <a:r>
              <a:rPr sz="1150" b="0" i="0">
                <a:solidFill>
                  <a:srgbClr val="6E6E73"/>
                </a:solidFill>
                <a:latin typeface="Helvetica Neue"/>
              </a:rPr>
              <a:t>Non-runners only go to winch trucks; no wasted trips.</a:t>
            </a:r>
          </a:p>
        </p:txBody>
      </p:sp>
      <p:sp>
        <p:nvSpPr>
          <p:cNvPr id="34" name="Rounded Rectangle 33"/>
          <p:cNvSpPr/>
          <p:nvPr/>
        </p:nvSpPr>
        <p:spPr>
          <a:xfrm>
            <a:off x="5303520" y="5394960"/>
            <a:ext cx="1783080" cy="256032"/>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900" b="1" i="0">
                <a:solidFill>
                  <a:srgbClr val="8A5A10"/>
                </a:solidFill>
                <a:latin typeface="Helvetica Neue"/>
              </a:rPr>
              <a:t>LoadLink · SecondLook</a:t>
            </a:r>
          </a:p>
        </p:txBody>
      </p:sp>
      <p:sp>
        <p:nvSpPr>
          <p:cNvPr id="35" name="Rounded Rectangle 34">
            <a:hlinkClick action="ppaction://hlinksldjump" r:id="rId7"/>
          </p:cNvPr>
          <p:cNvSpPr/>
          <p:nvPr/>
        </p:nvSpPr>
        <p:spPr>
          <a:xfrm>
            <a:off x="7406640" y="2560320"/>
            <a:ext cx="2103120" cy="338328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6" name="Oval 35"/>
          <p:cNvSpPr/>
          <p:nvPr/>
        </p:nvSpPr>
        <p:spPr>
          <a:xfrm>
            <a:off x="7589519" y="2743200"/>
            <a:ext cx="457200" cy="457200"/>
          </a:xfrm>
          <a:prstGeom prst="ellipse">
            <a:avLst/>
          </a:prstGeom>
          <a:solidFill>
            <a:srgbClr val="EFECFB"/>
          </a:solidFill>
          <a:ln>
            <a:noFill/>
          </a:ln>
          <a:effectLst/>
        </p:spPr>
        <p:txBody>
          <a:bodyPr rtlCol="0" anchor="ctr" wrap="square" lIns="0" rIns="0" tIns="0" bIns="0">
            <a:noAutofit/>
          </a:bodyPr>
          <a:lstStyle/>
          <a:p>
            <a:pPr algn="ctr">
              <a:lnSpc>
                <a:spcPct val="112000"/>
              </a:lnSpc>
              <a:spcAft>
                <a:spcPts val="0"/>
              </a:spcAft>
            </a:pPr>
            <a:r>
              <a:rPr sz="1400" b="1" i="0">
                <a:solidFill>
                  <a:srgbClr val="5E4BB0"/>
                </a:solidFill>
                <a:latin typeface="Helvetica Neue"/>
              </a:rPr>
              <a:t>4</a:t>
            </a:r>
          </a:p>
        </p:txBody>
      </p:sp>
      <p:sp>
        <p:nvSpPr>
          <p:cNvPr id="37" name="TextBox 36"/>
          <p:cNvSpPr txBox="1"/>
          <p:nvPr/>
        </p:nvSpPr>
        <p:spPr>
          <a:xfrm>
            <a:off x="7589519" y="3337560"/>
            <a:ext cx="1783080" cy="548640"/>
          </a:xfrm>
          <a:prstGeom prst="rect">
            <a:avLst/>
          </a:prstGeom>
          <a:noFill/>
        </p:spPr>
        <p:txBody>
          <a:bodyPr wrap="square" lIns="0" rIns="0" tIns="0" bIns="0" anchor="t">
            <a:noAutofit/>
          </a:bodyPr>
          <a:lstStyle/>
          <a:p>
            <a:pPr algn="l">
              <a:lnSpc>
                <a:spcPct val="100000"/>
              </a:lnSpc>
              <a:spcAft>
                <a:spcPts val="0"/>
              </a:spcAft>
            </a:pPr>
            <a:r>
              <a:rPr sz="1500" b="1" i="0">
                <a:solidFill>
                  <a:srgbClr val="1D1D1F"/>
                </a:solidFill>
                <a:latin typeface="Helvetica Neue"/>
              </a:rPr>
              <a:t>Arbitrations avoided</a:t>
            </a:r>
          </a:p>
        </p:txBody>
      </p:sp>
      <p:sp>
        <p:nvSpPr>
          <p:cNvPr id="38" name="TextBox 37"/>
          <p:cNvSpPr txBox="1"/>
          <p:nvPr/>
        </p:nvSpPr>
        <p:spPr>
          <a:xfrm>
            <a:off x="7589519" y="3977639"/>
            <a:ext cx="1783080" cy="1371600"/>
          </a:xfrm>
          <a:prstGeom prst="rect">
            <a:avLst/>
          </a:prstGeom>
          <a:noFill/>
        </p:spPr>
        <p:txBody>
          <a:bodyPr wrap="square" lIns="0" rIns="0" tIns="0" bIns="0" anchor="t">
            <a:noAutofit/>
          </a:bodyPr>
          <a:lstStyle/>
          <a:p>
            <a:pPr algn="l">
              <a:lnSpc>
                <a:spcPct val="118000"/>
              </a:lnSpc>
              <a:spcAft>
                <a:spcPts val="0"/>
              </a:spcAft>
            </a:pPr>
            <a:r>
              <a:rPr sz="1150" b="0" i="0">
                <a:solidFill>
                  <a:srgbClr val="6E6E73"/>
                </a:solidFill>
                <a:latin typeface="Helvetica Neue"/>
              </a:rPr>
              <a:t>Cited condition evidence before the sale, not after.</a:t>
            </a:r>
          </a:p>
        </p:txBody>
      </p:sp>
      <p:sp>
        <p:nvSpPr>
          <p:cNvPr id="39" name="Rounded Rectangle 38"/>
          <p:cNvSpPr/>
          <p:nvPr/>
        </p:nvSpPr>
        <p:spPr>
          <a:xfrm>
            <a:off x="7589519" y="5394960"/>
            <a:ext cx="1783080" cy="256032"/>
          </a:xfrm>
          <a:prstGeom prst="roundRect">
            <a:avLst>
              <a:gd name="adj" fmla="val 50000"/>
            </a:avLst>
          </a:prstGeom>
          <a:solidFill>
            <a:srgbClr val="EFECFB"/>
          </a:solidFill>
          <a:ln>
            <a:noFill/>
          </a:ln>
          <a:effectLst/>
        </p:spPr>
        <p:txBody>
          <a:bodyPr rtlCol="0" anchor="ctr" wrap="none" tIns="0" bIns="0">
            <a:noAutofit/>
          </a:bodyPr>
          <a:lstStyle/>
          <a:p>
            <a:pPr algn="ctr">
              <a:lnSpc>
                <a:spcPct val="112000"/>
              </a:lnSpc>
              <a:spcAft>
                <a:spcPts val="0"/>
              </a:spcAft>
            </a:pPr>
            <a:r>
              <a:rPr sz="900" b="1" i="0">
                <a:solidFill>
                  <a:srgbClr val="5E4BB0"/>
                </a:solidFill>
                <a:latin typeface="Helvetica Neue"/>
              </a:rPr>
              <a:t>SecondLook</a:t>
            </a:r>
          </a:p>
        </p:txBody>
      </p:sp>
      <p:sp>
        <p:nvSpPr>
          <p:cNvPr id="40" name="Rounded Rectangle 39">
            <a:hlinkClick action="ppaction://hlinksldjump" r:id="rId7"/>
          </p:cNvPr>
          <p:cNvSpPr/>
          <p:nvPr/>
        </p:nvSpPr>
        <p:spPr>
          <a:xfrm>
            <a:off x="9692640" y="2560320"/>
            <a:ext cx="2103120" cy="3383280"/>
          </a:xfrm>
          <a:prstGeom prst="roundRect">
            <a:avLst>
              <a:gd name="adj" fmla="val 8695"/>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1" name="Oval 40"/>
          <p:cNvSpPr/>
          <p:nvPr/>
        </p:nvSpPr>
        <p:spPr>
          <a:xfrm>
            <a:off x="9875519" y="2743200"/>
            <a:ext cx="457200" cy="457200"/>
          </a:xfrm>
          <a:prstGeom prst="ellipse">
            <a:avLst/>
          </a:prstGeom>
          <a:solidFill>
            <a:srgbClr val="E6F4EA"/>
          </a:solidFill>
          <a:ln>
            <a:noFill/>
          </a:ln>
          <a:effectLst/>
        </p:spPr>
        <p:txBody>
          <a:bodyPr rtlCol="0" anchor="ctr" wrap="square" lIns="0" rIns="0" tIns="0" bIns="0">
            <a:noAutofit/>
          </a:bodyPr>
          <a:lstStyle/>
          <a:p>
            <a:pPr algn="ctr">
              <a:lnSpc>
                <a:spcPct val="112000"/>
              </a:lnSpc>
              <a:spcAft>
                <a:spcPts val="0"/>
              </a:spcAft>
            </a:pPr>
            <a:r>
              <a:rPr sz="1400" b="1" i="0">
                <a:solidFill>
                  <a:srgbClr val="2F7A4F"/>
                </a:solidFill>
                <a:latin typeface="Helvetica Neue"/>
              </a:rPr>
              <a:t>5</a:t>
            </a:r>
          </a:p>
        </p:txBody>
      </p:sp>
      <p:sp>
        <p:nvSpPr>
          <p:cNvPr id="42" name="TextBox 41"/>
          <p:cNvSpPr txBox="1"/>
          <p:nvPr/>
        </p:nvSpPr>
        <p:spPr>
          <a:xfrm>
            <a:off x="9875519" y="3337560"/>
            <a:ext cx="1783080" cy="548640"/>
          </a:xfrm>
          <a:prstGeom prst="rect">
            <a:avLst/>
          </a:prstGeom>
          <a:noFill/>
        </p:spPr>
        <p:txBody>
          <a:bodyPr wrap="square" lIns="0" rIns="0" tIns="0" bIns="0" anchor="t">
            <a:noAutofit/>
          </a:bodyPr>
          <a:lstStyle/>
          <a:p>
            <a:pPr algn="l">
              <a:lnSpc>
                <a:spcPct val="100000"/>
              </a:lnSpc>
              <a:spcAft>
                <a:spcPts val="0"/>
              </a:spcAft>
            </a:pPr>
            <a:r>
              <a:rPr sz="1500" b="1" i="0">
                <a:solidFill>
                  <a:srgbClr val="1D1D1F"/>
                </a:solidFill>
                <a:latin typeface="Helvetica Neue"/>
              </a:rPr>
              <a:t>Sellers retained</a:t>
            </a:r>
          </a:p>
        </p:txBody>
      </p:sp>
      <p:sp>
        <p:nvSpPr>
          <p:cNvPr id="43" name="TextBox 42"/>
          <p:cNvSpPr txBox="1"/>
          <p:nvPr/>
        </p:nvSpPr>
        <p:spPr>
          <a:xfrm>
            <a:off x="9875519" y="3977639"/>
            <a:ext cx="1783080" cy="1371600"/>
          </a:xfrm>
          <a:prstGeom prst="rect">
            <a:avLst/>
          </a:prstGeom>
          <a:noFill/>
        </p:spPr>
        <p:txBody>
          <a:bodyPr wrap="square" lIns="0" rIns="0" tIns="0" bIns="0" anchor="t">
            <a:noAutofit/>
          </a:bodyPr>
          <a:lstStyle/>
          <a:p>
            <a:pPr algn="l">
              <a:lnSpc>
                <a:spcPct val="118000"/>
              </a:lnSpc>
              <a:spcAft>
                <a:spcPts val="0"/>
              </a:spcAft>
            </a:pPr>
            <a:r>
              <a:rPr sz="1150" b="0" i="0">
                <a:solidFill>
                  <a:srgbClr val="6E6E73"/>
                </a:solidFill>
                <a:latin typeface="Helvetica Neue"/>
              </a:rPr>
              <a:t>Showing real net keeps sellers inside ACV + Copart.</a:t>
            </a:r>
          </a:p>
        </p:txBody>
      </p:sp>
      <p:sp>
        <p:nvSpPr>
          <p:cNvPr id="44" name="Rounded Rectangle 43"/>
          <p:cNvSpPr/>
          <p:nvPr/>
        </p:nvSpPr>
        <p:spPr>
          <a:xfrm>
            <a:off x="9875519" y="5394960"/>
            <a:ext cx="1783080" cy="256032"/>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00" b="1" i="0">
                <a:solidFill>
                  <a:srgbClr val="2F7A4F"/>
                </a:solidFill>
                <a:latin typeface="Helvetica Neue"/>
              </a:rPr>
              <a:t>BestExit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27</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Making it real · more use cases</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Same record, more problems solved.</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The four steps don’t care where the car came from.</a:t>
            </a:r>
          </a:p>
        </p:txBody>
      </p:sp>
      <p:sp>
        <p:nvSpPr>
          <p:cNvPr id="20" name="Rounded Rectangle 19"/>
          <p:cNvSpPr/>
          <p:nvPr/>
        </p:nvSpPr>
        <p:spPr>
          <a:xfrm>
            <a:off x="548640" y="2560320"/>
            <a:ext cx="3584448" cy="1719072"/>
          </a:xfrm>
          <a:prstGeom prst="roundRect">
            <a:avLst>
              <a:gd name="adj" fmla="val 1063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TextBox 20"/>
          <p:cNvSpPr txBox="1"/>
          <p:nvPr/>
        </p:nvSpPr>
        <p:spPr>
          <a:xfrm>
            <a:off x="749808" y="2724912"/>
            <a:ext cx="320040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Fleet &amp; lease returns</a:t>
            </a:r>
          </a:p>
        </p:txBody>
      </p:sp>
      <p:sp>
        <p:nvSpPr>
          <p:cNvPr id="22" name="TextBox 21"/>
          <p:cNvSpPr txBox="1"/>
          <p:nvPr/>
        </p:nvSpPr>
        <p:spPr>
          <a:xfrm>
            <a:off x="749808" y="3108960"/>
            <a:ext cx="3200400" cy="731520"/>
          </a:xfrm>
          <a:prstGeom prst="rect">
            <a:avLst/>
          </a:prstGeom>
          <a:noFill/>
        </p:spPr>
        <p:txBody>
          <a:bodyPr wrap="square" lIns="0" rIns="0" tIns="0" bIns="0" anchor="t">
            <a:noAutofit/>
          </a:bodyPr>
          <a:lstStyle/>
          <a:p>
            <a:pPr algn="l">
              <a:lnSpc>
                <a:spcPct val="118000"/>
              </a:lnSpc>
              <a:spcAft>
                <a:spcPts val="0"/>
              </a:spcAft>
            </a:pPr>
            <a:r>
              <a:rPr sz="1200" b="0" i="0">
                <a:solidFill>
                  <a:srgbClr val="6E6E73"/>
                </a:solidFill>
                <a:latin typeface="Helvetica Neue"/>
              </a:rPr>
              <a:t>Hundreds of off-lease units routed by net proceeds, not habit.</a:t>
            </a:r>
          </a:p>
        </p:txBody>
      </p:sp>
      <p:sp>
        <p:nvSpPr>
          <p:cNvPr id="23" name="Rounded Rectangle 22"/>
          <p:cNvSpPr/>
          <p:nvPr/>
        </p:nvSpPr>
        <p:spPr>
          <a:xfrm>
            <a:off x="749808" y="3822191"/>
            <a:ext cx="1541526" cy="256032"/>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950" b="1" i="0">
                <a:solidFill>
                  <a:srgbClr val="2560D6"/>
                </a:solidFill>
                <a:latin typeface="Helvetica Neue"/>
              </a:rPr>
              <a:t>BestExit at scale</a:t>
            </a:r>
          </a:p>
        </p:txBody>
      </p:sp>
      <p:sp>
        <p:nvSpPr>
          <p:cNvPr id="24" name="Rounded Rectangle 23"/>
          <p:cNvSpPr/>
          <p:nvPr/>
        </p:nvSpPr>
        <p:spPr>
          <a:xfrm>
            <a:off x="4297679" y="2560320"/>
            <a:ext cx="3584448" cy="1719072"/>
          </a:xfrm>
          <a:prstGeom prst="roundRect">
            <a:avLst>
              <a:gd name="adj" fmla="val 1063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4498847" y="2724912"/>
            <a:ext cx="320040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Insurance total-loss</a:t>
            </a:r>
          </a:p>
        </p:txBody>
      </p:sp>
      <p:sp>
        <p:nvSpPr>
          <p:cNvPr id="26" name="TextBox 25"/>
          <p:cNvSpPr txBox="1"/>
          <p:nvPr/>
        </p:nvSpPr>
        <p:spPr>
          <a:xfrm>
            <a:off x="4498847" y="3108960"/>
            <a:ext cx="3200400" cy="731520"/>
          </a:xfrm>
          <a:prstGeom prst="rect">
            <a:avLst/>
          </a:prstGeom>
          <a:noFill/>
        </p:spPr>
        <p:txBody>
          <a:bodyPr wrap="square" lIns="0" rIns="0" tIns="0" bIns="0" anchor="t">
            <a:noAutofit/>
          </a:bodyPr>
          <a:lstStyle/>
          <a:p>
            <a:pPr algn="l">
              <a:lnSpc>
                <a:spcPct val="118000"/>
              </a:lnSpc>
              <a:spcAft>
                <a:spcPts val="0"/>
              </a:spcAft>
            </a:pPr>
            <a:r>
              <a:rPr sz="1200" b="0" i="0">
                <a:solidFill>
                  <a:srgbClr val="6E6E73"/>
                </a:solidFill>
                <a:latin typeface="Helvetica Neue"/>
              </a:rPr>
              <a:t>Salvage vs repairable wholesale, decided on cited condition evidence.</a:t>
            </a:r>
          </a:p>
        </p:txBody>
      </p:sp>
      <p:sp>
        <p:nvSpPr>
          <p:cNvPr id="27" name="Rounded Rectangle 26"/>
          <p:cNvSpPr/>
          <p:nvPr/>
        </p:nvSpPr>
        <p:spPr>
          <a:xfrm>
            <a:off x="4498847" y="3822191"/>
            <a:ext cx="1831086" cy="256032"/>
          </a:xfrm>
          <a:prstGeom prst="roundRect">
            <a:avLst>
              <a:gd name="adj" fmla="val 50000"/>
            </a:avLst>
          </a:prstGeom>
          <a:solidFill>
            <a:srgbClr val="EFECFB"/>
          </a:solidFill>
          <a:ln>
            <a:noFill/>
          </a:ln>
          <a:effectLst/>
        </p:spPr>
        <p:txBody>
          <a:bodyPr rtlCol="0" anchor="ctr" wrap="none" tIns="0" bIns="0">
            <a:noAutofit/>
          </a:bodyPr>
          <a:lstStyle/>
          <a:p>
            <a:pPr algn="ctr">
              <a:lnSpc>
                <a:spcPct val="112000"/>
              </a:lnSpc>
              <a:spcAft>
                <a:spcPts val="0"/>
              </a:spcAft>
            </a:pPr>
            <a:r>
              <a:rPr sz="950" b="1" i="0">
                <a:solidFill>
                  <a:srgbClr val="5E4BB0"/>
                </a:solidFill>
                <a:latin typeface="Helvetica Neue"/>
              </a:rPr>
              <a:t>SecondLook + BestExit</a:t>
            </a:r>
          </a:p>
        </p:txBody>
      </p:sp>
      <p:sp>
        <p:nvSpPr>
          <p:cNvPr id="28" name="Rounded Rectangle 27"/>
          <p:cNvSpPr/>
          <p:nvPr/>
        </p:nvSpPr>
        <p:spPr>
          <a:xfrm>
            <a:off x="8046719" y="2560320"/>
            <a:ext cx="3584448" cy="1719072"/>
          </a:xfrm>
          <a:prstGeom prst="roundRect">
            <a:avLst>
              <a:gd name="adj" fmla="val 1063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9" name="TextBox 28"/>
          <p:cNvSpPr txBox="1"/>
          <p:nvPr/>
        </p:nvSpPr>
        <p:spPr>
          <a:xfrm>
            <a:off x="8247888" y="2724912"/>
            <a:ext cx="320040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Dealer trade-in non-runners</a:t>
            </a:r>
          </a:p>
        </p:txBody>
      </p:sp>
      <p:sp>
        <p:nvSpPr>
          <p:cNvPr id="30" name="TextBox 29"/>
          <p:cNvSpPr txBox="1"/>
          <p:nvPr/>
        </p:nvSpPr>
        <p:spPr>
          <a:xfrm>
            <a:off x="8247888" y="3108960"/>
            <a:ext cx="3200400" cy="731520"/>
          </a:xfrm>
          <a:prstGeom prst="rect">
            <a:avLst/>
          </a:prstGeom>
          <a:noFill/>
        </p:spPr>
        <p:txBody>
          <a:bodyPr wrap="square" lIns="0" rIns="0" tIns="0" bIns="0" anchor="t">
            <a:noAutofit/>
          </a:bodyPr>
          <a:lstStyle/>
          <a:p>
            <a:pPr algn="l">
              <a:lnSpc>
                <a:spcPct val="118000"/>
              </a:lnSpc>
              <a:spcAft>
                <a:spcPts val="0"/>
              </a:spcAft>
            </a:pPr>
            <a:r>
              <a:rPr sz="1200" b="0" i="0">
                <a:solidFill>
                  <a:srgbClr val="6E6E73"/>
                </a:solidFill>
                <a:latin typeface="Helvetica Neue"/>
              </a:rPr>
              <a:t>Winch-aware pickup booked the moment the deal closes.</a:t>
            </a:r>
          </a:p>
        </p:txBody>
      </p:sp>
      <p:sp>
        <p:nvSpPr>
          <p:cNvPr id="31" name="Rounded Rectangle 30"/>
          <p:cNvSpPr/>
          <p:nvPr/>
        </p:nvSpPr>
        <p:spPr>
          <a:xfrm>
            <a:off x="8247888" y="3822191"/>
            <a:ext cx="1396746" cy="256032"/>
          </a:xfrm>
          <a:prstGeom prst="roundRect">
            <a:avLst>
              <a:gd name="adj" fmla="val 50000"/>
            </a:avLst>
          </a:prstGeom>
          <a:solidFill>
            <a:srgbClr val="FDF1DC"/>
          </a:solidFill>
          <a:ln>
            <a:noFill/>
          </a:ln>
          <a:effectLst/>
        </p:spPr>
        <p:txBody>
          <a:bodyPr rtlCol="0" anchor="ctr" wrap="none" tIns="0" bIns="0">
            <a:noAutofit/>
          </a:bodyPr>
          <a:lstStyle/>
          <a:p>
            <a:pPr algn="ctr">
              <a:lnSpc>
                <a:spcPct val="112000"/>
              </a:lnSpc>
              <a:spcAft>
                <a:spcPts val="0"/>
              </a:spcAft>
            </a:pPr>
            <a:r>
              <a:rPr sz="950" b="1" i="0">
                <a:solidFill>
                  <a:srgbClr val="8A5A10"/>
                </a:solidFill>
                <a:latin typeface="Helvetica Neue"/>
              </a:rPr>
              <a:t>Deal + LoadLink</a:t>
            </a:r>
          </a:p>
        </p:txBody>
      </p:sp>
      <p:sp>
        <p:nvSpPr>
          <p:cNvPr id="32" name="Rounded Rectangle 31"/>
          <p:cNvSpPr/>
          <p:nvPr/>
        </p:nvSpPr>
        <p:spPr>
          <a:xfrm>
            <a:off x="548640" y="4434840"/>
            <a:ext cx="3584448" cy="1719072"/>
          </a:xfrm>
          <a:prstGeom prst="roundRect">
            <a:avLst>
              <a:gd name="adj" fmla="val 1063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3" name="TextBox 32"/>
          <p:cNvSpPr txBox="1"/>
          <p:nvPr/>
        </p:nvSpPr>
        <p:spPr>
          <a:xfrm>
            <a:off x="749808" y="4599431"/>
            <a:ext cx="320040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Rental defleet surges</a:t>
            </a:r>
          </a:p>
        </p:txBody>
      </p:sp>
      <p:sp>
        <p:nvSpPr>
          <p:cNvPr id="34" name="TextBox 33"/>
          <p:cNvSpPr txBox="1"/>
          <p:nvPr/>
        </p:nvSpPr>
        <p:spPr>
          <a:xfrm>
            <a:off x="749808" y="4983479"/>
            <a:ext cx="3200400" cy="731520"/>
          </a:xfrm>
          <a:prstGeom prst="rect">
            <a:avLst/>
          </a:prstGeom>
          <a:noFill/>
        </p:spPr>
        <p:txBody>
          <a:bodyPr wrap="square" lIns="0" rIns="0" tIns="0" bIns="0" anchor="t">
            <a:noAutofit/>
          </a:bodyPr>
          <a:lstStyle/>
          <a:p>
            <a:pPr algn="l">
              <a:lnSpc>
                <a:spcPct val="118000"/>
              </a:lnSpc>
              <a:spcAft>
                <a:spcPts val="0"/>
              </a:spcAft>
            </a:pPr>
            <a:r>
              <a:rPr sz="1200" b="0" i="0">
                <a:solidFill>
                  <a:srgbClr val="6E6E73"/>
                </a:solidFill>
                <a:latin typeface="Helvetica Neue"/>
              </a:rPr>
              <a:t>Thousands of units pooled across ACV and Copart lanes.</a:t>
            </a:r>
          </a:p>
        </p:txBody>
      </p:sp>
      <p:sp>
        <p:nvSpPr>
          <p:cNvPr id="35" name="Rounded Rectangle 34"/>
          <p:cNvSpPr/>
          <p:nvPr/>
        </p:nvSpPr>
        <p:spPr>
          <a:xfrm>
            <a:off x="749808" y="5696712"/>
            <a:ext cx="890016" cy="256032"/>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LoadLink</a:t>
            </a:r>
          </a:p>
        </p:txBody>
      </p:sp>
      <p:sp>
        <p:nvSpPr>
          <p:cNvPr id="36" name="Rounded Rectangle 35"/>
          <p:cNvSpPr/>
          <p:nvPr/>
        </p:nvSpPr>
        <p:spPr>
          <a:xfrm>
            <a:off x="4297679" y="4434840"/>
            <a:ext cx="3584448" cy="1719072"/>
          </a:xfrm>
          <a:prstGeom prst="roundRect">
            <a:avLst>
              <a:gd name="adj" fmla="val 1063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7" name="TextBox 36"/>
          <p:cNvSpPr txBox="1"/>
          <p:nvPr/>
        </p:nvSpPr>
        <p:spPr>
          <a:xfrm>
            <a:off x="4498847" y="4599431"/>
            <a:ext cx="320040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Export buyers</a:t>
            </a:r>
          </a:p>
        </p:txBody>
      </p:sp>
      <p:sp>
        <p:nvSpPr>
          <p:cNvPr id="38" name="TextBox 37"/>
          <p:cNvSpPr txBox="1"/>
          <p:nvPr/>
        </p:nvSpPr>
        <p:spPr>
          <a:xfrm>
            <a:off x="4498847" y="4983479"/>
            <a:ext cx="3200400" cy="731520"/>
          </a:xfrm>
          <a:prstGeom prst="rect">
            <a:avLst/>
          </a:prstGeom>
          <a:noFill/>
        </p:spPr>
        <p:txBody>
          <a:bodyPr wrap="square" lIns="0" rIns="0" tIns="0" bIns="0" anchor="t">
            <a:noAutofit/>
          </a:bodyPr>
          <a:lstStyle/>
          <a:p>
            <a:pPr algn="l">
              <a:lnSpc>
                <a:spcPct val="118000"/>
              </a:lnSpc>
              <a:spcAft>
                <a:spcPts val="0"/>
              </a:spcAft>
            </a:pPr>
            <a:r>
              <a:rPr sz="1200" b="0" i="0">
                <a:solidFill>
                  <a:srgbClr val="6E6E73"/>
                </a:solidFill>
                <a:latin typeface="Helvetica Neue"/>
              </a:rPr>
              <a:t>Unknown eligibility routed to review, never guessed.</a:t>
            </a:r>
          </a:p>
        </p:txBody>
      </p:sp>
      <p:sp>
        <p:nvSpPr>
          <p:cNvPr id="39" name="Rounded Rectangle 38"/>
          <p:cNvSpPr/>
          <p:nvPr/>
        </p:nvSpPr>
        <p:spPr>
          <a:xfrm>
            <a:off x="4498847" y="5696712"/>
            <a:ext cx="890016" cy="256032"/>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BestExit</a:t>
            </a:r>
          </a:p>
        </p:txBody>
      </p:sp>
      <p:sp>
        <p:nvSpPr>
          <p:cNvPr id="40" name="Rounded Rectangle 39"/>
          <p:cNvSpPr/>
          <p:nvPr/>
        </p:nvSpPr>
        <p:spPr>
          <a:xfrm>
            <a:off x="8046719" y="4434840"/>
            <a:ext cx="3584448" cy="1719072"/>
          </a:xfrm>
          <a:prstGeom prst="roundRect">
            <a:avLst>
              <a:gd name="adj" fmla="val 10638"/>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41" name="TextBox 40"/>
          <p:cNvSpPr txBox="1"/>
          <p:nvPr/>
        </p:nvSpPr>
        <p:spPr>
          <a:xfrm>
            <a:off x="8247888" y="4599431"/>
            <a:ext cx="3200400" cy="320040"/>
          </a:xfrm>
          <a:prstGeom prst="rect">
            <a:avLst/>
          </a:prstGeom>
          <a:noFill/>
        </p:spPr>
        <p:txBody>
          <a:bodyPr wrap="square" lIns="0" rIns="0" tIns="0" bIns="0" anchor="t">
            <a:noAutofit/>
          </a:bodyPr>
          <a:lstStyle/>
          <a:p>
            <a:pPr algn="l">
              <a:lnSpc>
                <a:spcPct val="112000"/>
              </a:lnSpc>
              <a:spcAft>
                <a:spcPts val="0"/>
              </a:spcAft>
            </a:pPr>
            <a:r>
              <a:rPr sz="1500" b="1" i="0">
                <a:solidFill>
                  <a:srgbClr val="1D1D1F"/>
                </a:solidFill>
                <a:latin typeface="Helvetica Neue"/>
              </a:rPr>
              <a:t>Parts harvesting</a:t>
            </a:r>
          </a:p>
        </p:txBody>
      </p:sp>
      <p:sp>
        <p:nvSpPr>
          <p:cNvPr id="42" name="TextBox 41"/>
          <p:cNvSpPr txBox="1"/>
          <p:nvPr/>
        </p:nvSpPr>
        <p:spPr>
          <a:xfrm>
            <a:off x="8247888" y="4983479"/>
            <a:ext cx="3200400" cy="731520"/>
          </a:xfrm>
          <a:prstGeom prst="rect">
            <a:avLst/>
          </a:prstGeom>
          <a:noFill/>
        </p:spPr>
        <p:txBody>
          <a:bodyPr wrap="square" lIns="0" rIns="0" tIns="0" bIns="0" anchor="t">
            <a:noAutofit/>
          </a:bodyPr>
          <a:lstStyle/>
          <a:p>
            <a:pPr algn="l">
              <a:lnSpc>
                <a:spcPct val="118000"/>
              </a:lnSpc>
              <a:spcAft>
                <a:spcPts val="0"/>
              </a:spcAft>
            </a:pPr>
            <a:r>
              <a:rPr sz="1200" b="0" i="0">
                <a:solidFill>
                  <a:srgbClr val="6E6E73"/>
                </a:solidFill>
                <a:latin typeface="Helvetica Neue"/>
              </a:rPr>
              <a:t>Cars worth more as parts get routed there (PartsBridge, P3).</a:t>
            </a:r>
          </a:p>
        </p:txBody>
      </p:sp>
      <p:sp>
        <p:nvSpPr>
          <p:cNvPr id="43" name="Rounded Rectangle 42"/>
          <p:cNvSpPr/>
          <p:nvPr/>
        </p:nvSpPr>
        <p:spPr>
          <a:xfrm>
            <a:off x="8247888" y="5696712"/>
            <a:ext cx="817626" cy="256032"/>
          </a:xfrm>
          <a:prstGeom prst="roundRect">
            <a:avLst>
              <a:gd name="adj" fmla="val 50000"/>
            </a:avLst>
          </a:prstGeom>
          <a:solidFill>
            <a:srgbClr val="FCEBEB"/>
          </a:solidFill>
          <a:ln>
            <a:noFill/>
          </a:ln>
          <a:effectLst/>
        </p:spPr>
        <p:txBody>
          <a:bodyPr rtlCol="0" anchor="ctr" wrap="none" tIns="0" bIns="0">
            <a:noAutofit/>
          </a:bodyPr>
          <a:lstStyle/>
          <a:p>
            <a:pPr algn="ctr">
              <a:lnSpc>
                <a:spcPct val="112000"/>
              </a:lnSpc>
              <a:spcAft>
                <a:spcPts val="0"/>
              </a:spcAft>
            </a:pPr>
            <a:r>
              <a:rPr sz="950" b="1" i="0">
                <a:solidFill>
                  <a:srgbClr val="B0383E"/>
                </a:solidFill>
                <a:latin typeface="Helvetica Neue"/>
              </a:rPr>
              <a:t>Roadmap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28</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Making it real · 90-day pilot</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From demo to one live region in 90 days.</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Adapters plug into the same contracts the demo uses, so it’s a data swap, not a rewrite.</a:t>
            </a:r>
          </a:p>
        </p:txBody>
      </p:sp>
      <p:sp>
        <p:nvSpPr>
          <p:cNvPr id="20" name="Rounded Rectangle 19"/>
          <p:cNvSpPr/>
          <p:nvPr/>
        </p:nvSpPr>
        <p:spPr>
          <a:xfrm>
            <a:off x="548640" y="2560320"/>
            <a:ext cx="3584448" cy="3063240"/>
          </a:xfrm>
          <a:prstGeom prst="roundRect">
            <a:avLst>
              <a:gd name="adj" fmla="val 59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Rounded Rectangle 20"/>
          <p:cNvSpPr/>
          <p:nvPr/>
        </p:nvSpPr>
        <p:spPr>
          <a:xfrm>
            <a:off x="749808" y="2743200"/>
            <a:ext cx="1065276" cy="292608"/>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Weeks 1–4</a:t>
            </a:r>
          </a:p>
        </p:txBody>
      </p:sp>
      <p:sp>
        <p:nvSpPr>
          <p:cNvPr id="22" name="TextBox 21"/>
          <p:cNvSpPr txBox="1"/>
          <p:nvPr/>
        </p:nvSpPr>
        <p:spPr>
          <a:xfrm>
            <a:off x="749808" y="3154680"/>
            <a:ext cx="3200400" cy="320040"/>
          </a:xfrm>
          <a:prstGeom prst="rect">
            <a:avLst/>
          </a:prstGeom>
          <a:noFill/>
        </p:spPr>
        <p:txBody>
          <a:bodyPr wrap="square" lIns="0" rIns="0" tIns="0" bIns="0" anchor="t">
            <a:noAutofit/>
          </a:bodyPr>
          <a:lstStyle/>
          <a:p>
            <a:pPr algn="l">
              <a:lnSpc>
                <a:spcPct val="112000"/>
              </a:lnSpc>
              <a:spcAft>
                <a:spcPts val="0"/>
              </a:spcAft>
            </a:pPr>
            <a:r>
              <a:rPr sz="1600" b="1" i="0">
                <a:solidFill>
                  <a:srgbClr val="1D1D1F"/>
                </a:solidFill>
                <a:latin typeface="Helvetica Neue"/>
              </a:rPr>
              <a:t>Connect, read-only</a:t>
            </a:r>
          </a:p>
        </p:txBody>
      </p:sp>
      <p:sp>
        <p:nvSpPr>
          <p:cNvPr id="23" name="TextBox 22"/>
          <p:cNvSpPr txBox="1"/>
          <p:nvPr/>
        </p:nvSpPr>
        <p:spPr>
          <a:xfrm>
            <a:off x="749808" y="3566160"/>
            <a:ext cx="3200400" cy="2011680"/>
          </a:xfrm>
          <a:prstGeom prst="rect">
            <a:avLst/>
          </a:prstGeom>
          <a:noFill/>
        </p:spPr>
        <p:txBody>
          <a:bodyPr wrap="square" lIns="0" rIns="0" tIns="0" bIns="0" anchor="t">
            <a:noAutofit/>
          </a:bodyPr>
          <a:lstStyle/>
          <a:p>
            <a:pPr algn="l">
              <a:lnSpc>
                <a:spcPct val="115000"/>
              </a:lnSpc>
              <a:spcAft>
                <a:spcPts val="500"/>
              </a:spcAft>
            </a:pPr>
            <a:r>
              <a:rPr sz="1200" b="1" i="0">
                <a:solidFill>
                  <a:srgbClr val="2560D6"/>
                </a:solidFill>
                <a:latin typeface="Helvetica Neue"/>
              </a:rPr>
              <a:t>●  </a:t>
            </a:r>
            <a:r>
              <a:rPr sz="1200" b="0" i="0">
                <a:solidFill>
                  <a:srgbClr val="1D1D1F"/>
                </a:solidFill>
                <a:latin typeface="Helvetica Neue"/>
              </a:rPr>
              <a:t>Listings + condition reports</a:t>
            </a:r>
          </a:p>
          <a:p>
            <a:pPr algn="l">
              <a:lnSpc>
                <a:spcPct val="115000"/>
              </a:lnSpc>
              <a:spcAft>
                <a:spcPts val="500"/>
              </a:spcAft>
            </a:pPr>
            <a:r>
              <a:rPr sz="1200" b="1" i="0">
                <a:solidFill>
                  <a:srgbClr val="2560D6"/>
                </a:solidFill>
                <a:latin typeface="Helvetica Neue"/>
              </a:rPr>
              <a:t>●  </a:t>
            </a:r>
            <a:r>
              <a:rPr sz="1200" b="0" i="0">
                <a:solidFill>
                  <a:srgbClr val="1D1D1F"/>
                </a:solidFill>
                <a:latin typeface="Helvetica Neue"/>
              </a:rPr>
              <a:t>Transport orders + carrier equipment</a:t>
            </a:r>
          </a:p>
          <a:p>
            <a:pPr algn="l">
              <a:lnSpc>
                <a:spcPct val="115000"/>
              </a:lnSpc>
              <a:spcAft>
                <a:spcPts val="500"/>
              </a:spcAft>
            </a:pPr>
            <a:r>
              <a:rPr sz="1200" b="1" i="0">
                <a:solidFill>
                  <a:srgbClr val="2560D6"/>
                </a:solidFill>
                <a:latin typeface="Helvetica Neue"/>
              </a:rPr>
              <a:t>●  </a:t>
            </a:r>
            <a:r>
              <a:rPr sz="1200" b="0" i="0">
                <a:solidFill>
                  <a:srgbClr val="1D1D1F"/>
                </a:solidFill>
                <a:latin typeface="Helvetica Neue"/>
              </a:rPr>
              <a:t>Fee tables + comparables</a:t>
            </a:r>
          </a:p>
          <a:p>
            <a:pPr algn="l">
              <a:lnSpc>
                <a:spcPct val="115000"/>
              </a:lnSpc>
              <a:spcAft>
                <a:spcPts val="500"/>
              </a:spcAft>
            </a:pPr>
            <a:r>
              <a:rPr sz="1200" b="1" i="0">
                <a:solidFill>
                  <a:srgbClr val="2560D6"/>
                </a:solidFill>
                <a:latin typeface="Helvetica Neue"/>
              </a:rPr>
              <a:t>●  </a:t>
            </a:r>
            <a:r>
              <a:rPr sz="1200" b="0" i="0">
                <a:solidFill>
                  <a:srgbClr val="1D1D1F"/>
                </a:solidFill>
                <a:latin typeface="Helvetica Neue"/>
              </a:rPr>
              <a:t>Replace synthetic fixtures with adapters</a:t>
            </a:r>
          </a:p>
        </p:txBody>
      </p:sp>
      <p:sp>
        <p:nvSpPr>
          <p:cNvPr id="24" name="Rounded Rectangle 23"/>
          <p:cNvSpPr/>
          <p:nvPr/>
        </p:nvSpPr>
        <p:spPr>
          <a:xfrm>
            <a:off x="4297679" y="2560320"/>
            <a:ext cx="3584448" cy="3063240"/>
          </a:xfrm>
          <a:prstGeom prst="roundRect">
            <a:avLst>
              <a:gd name="adj" fmla="val 59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Rounded Rectangle 24"/>
          <p:cNvSpPr/>
          <p:nvPr/>
        </p:nvSpPr>
        <p:spPr>
          <a:xfrm>
            <a:off x="4498847" y="2743200"/>
            <a:ext cx="1065276" cy="292608"/>
          </a:xfrm>
          <a:prstGeom prst="roundRect">
            <a:avLst>
              <a:gd name="adj" fmla="val 50000"/>
            </a:avLst>
          </a:prstGeom>
          <a:solidFill>
            <a:srgbClr val="EFECFB"/>
          </a:solidFill>
          <a:ln>
            <a:noFill/>
          </a:ln>
          <a:effectLst/>
        </p:spPr>
        <p:txBody>
          <a:bodyPr rtlCol="0" anchor="ctr" wrap="none" tIns="0" bIns="0">
            <a:noAutofit/>
          </a:bodyPr>
          <a:lstStyle/>
          <a:p>
            <a:pPr algn="ctr">
              <a:lnSpc>
                <a:spcPct val="112000"/>
              </a:lnSpc>
              <a:spcAft>
                <a:spcPts val="0"/>
              </a:spcAft>
            </a:pPr>
            <a:r>
              <a:rPr sz="1100" b="1" i="0">
                <a:solidFill>
                  <a:srgbClr val="5E4BB0"/>
                </a:solidFill>
                <a:latin typeface="Helvetica Neue"/>
              </a:rPr>
              <a:t>Weeks 5–8</a:t>
            </a:r>
          </a:p>
        </p:txBody>
      </p:sp>
      <p:sp>
        <p:nvSpPr>
          <p:cNvPr id="26" name="TextBox 25"/>
          <p:cNvSpPr txBox="1"/>
          <p:nvPr/>
        </p:nvSpPr>
        <p:spPr>
          <a:xfrm>
            <a:off x="4498847" y="3154680"/>
            <a:ext cx="3200400" cy="320040"/>
          </a:xfrm>
          <a:prstGeom prst="rect">
            <a:avLst/>
          </a:prstGeom>
          <a:noFill/>
        </p:spPr>
        <p:txBody>
          <a:bodyPr wrap="square" lIns="0" rIns="0" tIns="0" bIns="0" anchor="t">
            <a:noAutofit/>
          </a:bodyPr>
          <a:lstStyle/>
          <a:p>
            <a:pPr algn="l">
              <a:lnSpc>
                <a:spcPct val="112000"/>
              </a:lnSpc>
              <a:spcAft>
                <a:spcPts val="0"/>
              </a:spcAft>
            </a:pPr>
            <a:r>
              <a:rPr sz="1600" b="1" i="0">
                <a:solidFill>
                  <a:srgbClr val="1D1D1F"/>
                </a:solidFill>
                <a:latin typeface="Helvetica Neue"/>
              </a:rPr>
              <a:t>Shadow mode</a:t>
            </a:r>
          </a:p>
        </p:txBody>
      </p:sp>
      <p:sp>
        <p:nvSpPr>
          <p:cNvPr id="27" name="TextBox 26"/>
          <p:cNvSpPr txBox="1"/>
          <p:nvPr/>
        </p:nvSpPr>
        <p:spPr>
          <a:xfrm>
            <a:off x="4498847" y="3566160"/>
            <a:ext cx="3200400" cy="2011680"/>
          </a:xfrm>
          <a:prstGeom prst="rect">
            <a:avLst/>
          </a:prstGeom>
          <a:noFill/>
        </p:spPr>
        <p:txBody>
          <a:bodyPr wrap="square" lIns="0" rIns="0" tIns="0" bIns="0" anchor="t">
            <a:noAutofit/>
          </a:bodyPr>
          <a:lstStyle/>
          <a:p>
            <a:pPr algn="l">
              <a:lnSpc>
                <a:spcPct val="115000"/>
              </a:lnSpc>
              <a:spcAft>
                <a:spcPts val="500"/>
              </a:spcAft>
            </a:pPr>
            <a:r>
              <a:rPr sz="1200" b="1" i="0">
                <a:solidFill>
                  <a:srgbClr val="5E4BB0"/>
                </a:solidFill>
                <a:latin typeface="Helvetica Neue"/>
              </a:rPr>
              <a:t>●  </a:t>
            </a:r>
            <a:r>
              <a:rPr sz="1200" b="0" i="0">
                <a:solidFill>
                  <a:srgbClr val="1D1D1F"/>
                </a:solidFill>
                <a:latin typeface="Helvetica Neue"/>
              </a:rPr>
              <a:t>VehicleOS recommends, people decide</a:t>
            </a:r>
          </a:p>
          <a:p>
            <a:pPr algn="l">
              <a:lnSpc>
                <a:spcPct val="115000"/>
              </a:lnSpc>
              <a:spcAft>
                <a:spcPts val="500"/>
              </a:spcAft>
            </a:pPr>
            <a:r>
              <a:rPr sz="1200" b="1" i="0">
                <a:solidFill>
                  <a:srgbClr val="5E4BB0"/>
                </a:solidFill>
                <a:latin typeface="Helvetica Neue"/>
              </a:rPr>
              <a:t>●  </a:t>
            </a:r>
            <a:r>
              <a:rPr sz="1200" b="0" i="0">
                <a:solidFill>
                  <a:srgbClr val="1D1D1F"/>
                </a:solidFill>
                <a:latin typeface="Helvetica Neue"/>
              </a:rPr>
              <a:t>Measure transport attach rate</a:t>
            </a:r>
          </a:p>
          <a:p>
            <a:pPr algn="l">
              <a:lnSpc>
                <a:spcPct val="115000"/>
              </a:lnSpc>
              <a:spcAft>
                <a:spcPts val="500"/>
              </a:spcAft>
            </a:pPr>
            <a:r>
              <a:rPr sz="1200" b="1" i="0">
                <a:solidFill>
                  <a:srgbClr val="5E4BB0"/>
                </a:solidFill>
                <a:latin typeface="Helvetica Neue"/>
              </a:rPr>
              <a:t>●  </a:t>
            </a:r>
            <a:r>
              <a:rPr sz="1200" b="0" i="0">
                <a:solidFill>
                  <a:srgbClr val="1D1D1F"/>
                </a:solidFill>
                <a:latin typeface="Helvetica Neue"/>
              </a:rPr>
              <a:t>Measure dry runs + arbitrations</a:t>
            </a:r>
          </a:p>
          <a:p>
            <a:pPr algn="l">
              <a:lnSpc>
                <a:spcPct val="115000"/>
              </a:lnSpc>
              <a:spcAft>
                <a:spcPts val="500"/>
              </a:spcAft>
            </a:pPr>
            <a:r>
              <a:rPr sz="1200" b="1" i="0">
                <a:solidFill>
                  <a:srgbClr val="5E4BB0"/>
                </a:solidFill>
                <a:latin typeface="Helvetica Neue"/>
              </a:rPr>
              <a:t>●  </a:t>
            </a:r>
            <a:r>
              <a:rPr sz="1200" b="0" i="0">
                <a:solidFill>
                  <a:srgbClr val="1D1D1F"/>
                </a:solidFill>
                <a:latin typeface="Helvetica Neue"/>
              </a:rPr>
              <a:t>Check valuation vs realized net</a:t>
            </a:r>
          </a:p>
        </p:txBody>
      </p:sp>
      <p:sp>
        <p:nvSpPr>
          <p:cNvPr id="28" name="Rounded Rectangle 27"/>
          <p:cNvSpPr/>
          <p:nvPr/>
        </p:nvSpPr>
        <p:spPr>
          <a:xfrm>
            <a:off x="8046719" y="2560320"/>
            <a:ext cx="3584448" cy="3063240"/>
          </a:xfrm>
          <a:prstGeom prst="roundRect">
            <a:avLst>
              <a:gd name="adj" fmla="val 59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9" name="Rounded Rectangle 28"/>
          <p:cNvSpPr/>
          <p:nvPr/>
        </p:nvSpPr>
        <p:spPr>
          <a:xfrm>
            <a:off x="8247888" y="2743200"/>
            <a:ext cx="1149096" cy="292608"/>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100" b="1" i="0">
                <a:solidFill>
                  <a:srgbClr val="2F7A4F"/>
                </a:solidFill>
                <a:latin typeface="Helvetica Neue"/>
              </a:rPr>
              <a:t>Weeks 9–12</a:t>
            </a:r>
          </a:p>
        </p:txBody>
      </p:sp>
      <p:sp>
        <p:nvSpPr>
          <p:cNvPr id="30" name="TextBox 29"/>
          <p:cNvSpPr txBox="1"/>
          <p:nvPr/>
        </p:nvSpPr>
        <p:spPr>
          <a:xfrm>
            <a:off x="8247888" y="3154680"/>
            <a:ext cx="3200400" cy="320040"/>
          </a:xfrm>
          <a:prstGeom prst="rect">
            <a:avLst/>
          </a:prstGeom>
          <a:noFill/>
        </p:spPr>
        <p:txBody>
          <a:bodyPr wrap="square" lIns="0" rIns="0" tIns="0" bIns="0" anchor="t">
            <a:noAutofit/>
          </a:bodyPr>
          <a:lstStyle/>
          <a:p>
            <a:pPr algn="l">
              <a:lnSpc>
                <a:spcPct val="112000"/>
              </a:lnSpc>
              <a:spcAft>
                <a:spcPts val="0"/>
              </a:spcAft>
            </a:pPr>
            <a:r>
              <a:rPr sz="1600" b="1" i="0">
                <a:solidFill>
                  <a:srgbClr val="1D1D1F"/>
                </a:solidFill>
                <a:latin typeface="Helvetica Neue"/>
              </a:rPr>
              <a:t>One region live</a:t>
            </a:r>
          </a:p>
        </p:txBody>
      </p:sp>
      <p:sp>
        <p:nvSpPr>
          <p:cNvPr id="31" name="TextBox 30"/>
          <p:cNvSpPr txBox="1"/>
          <p:nvPr/>
        </p:nvSpPr>
        <p:spPr>
          <a:xfrm>
            <a:off x="8247888" y="3566160"/>
            <a:ext cx="3200400" cy="2011680"/>
          </a:xfrm>
          <a:prstGeom prst="rect">
            <a:avLst/>
          </a:prstGeom>
          <a:noFill/>
        </p:spPr>
        <p:txBody>
          <a:bodyPr wrap="square" lIns="0" rIns="0" tIns="0" bIns="0" anchor="t">
            <a:noAutofit/>
          </a:bodyPr>
          <a:lstStyle/>
          <a:p>
            <a:pPr algn="l">
              <a:lnSpc>
                <a:spcPct val="115000"/>
              </a:lnSpc>
              <a:spcAft>
                <a:spcPts val="500"/>
              </a:spcAft>
            </a:pPr>
            <a:r>
              <a:rPr sz="1200" b="1" i="0">
                <a:solidFill>
                  <a:srgbClr val="2F7A4F"/>
                </a:solidFill>
                <a:latin typeface="Helvetica Neue"/>
              </a:rPr>
              <a:t>●  </a:t>
            </a:r>
            <a:r>
              <a:rPr sz="1200" b="0" i="0">
                <a:solidFill>
                  <a:srgbClr val="1D1D1F"/>
                </a:solidFill>
                <a:latin typeface="Helvetica Neue"/>
              </a:rPr>
              <a:t>Checkout transport toggle live</a:t>
            </a:r>
          </a:p>
          <a:p>
            <a:pPr algn="l">
              <a:lnSpc>
                <a:spcPct val="115000"/>
              </a:lnSpc>
              <a:spcAft>
                <a:spcPts val="500"/>
              </a:spcAft>
            </a:pPr>
            <a:r>
              <a:rPr sz="1200" b="1" i="0">
                <a:solidFill>
                  <a:srgbClr val="2F7A4F"/>
                </a:solidFill>
                <a:latin typeface="Helvetica Neue"/>
              </a:rPr>
              <a:t>●  </a:t>
            </a:r>
            <a:r>
              <a:rPr sz="1200" b="0" i="0">
                <a:solidFill>
                  <a:srgbClr val="1D1D1F"/>
                </a:solidFill>
                <a:latin typeface="Helvetica Neue"/>
              </a:rPr>
              <a:t>LoadLink plans, dispatcher review</a:t>
            </a:r>
          </a:p>
          <a:p>
            <a:pPr algn="l">
              <a:lnSpc>
                <a:spcPct val="115000"/>
              </a:lnSpc>
              <a:spcAft>
                <a:spcPts val="500"/>
              </a:spcAft>
            </a:pPr>
            <a:r>
              <a:rPr sz="1200" b="1" i="0">
                <a:solidFill>
                  <a:srgbClr val="2F7A4F"/>
                </a:solidFill>
                <a:latin typeface="Helvetica Neue"/>
              </a:rPr>
              <a:t>●  </a:t>
            </a:r>
            <a:r>
              <a:rPr sz="1200" b="0" i="0">
                <a:solidFill>
                  <a:srgbClr val="1D1D1F"/>
                </a:solidFill>
                <a:latin typeface="Helvetica Neue"/>
              </a:rPr>
              <a:t>Weekly ROI readout</a:t>
            </a:r>
          </a:p>
          <a:p>
            <a:pPr algn="l">
              <a:lnSpc>
                <a:spcPct val="115000"/>
              </a:lnSpc>
              <a:spcAft>
                <a:spcPts val="500"/>
              </a:spcAft>
            </a:pPr>
            <a:r>
              <a:rPr sz="1200" b="1" i="0">
                <a:solidFill>
                  <a:srgbClr val="2F7A4F"/>
                </a:solidFill>
                <a:latin typeface="Helvetica Neue"/>
              </a:rPr>
              <a:t>●  </a:t>
            </a:r>
            <a:r>
              <a:rPr sz="1200" b="0" i="0">
                <a:solidFill>
                  <a:srgbClr val="1D1D1F"/>
                </a:solidFill>
                <a:latin typeface="Helvetica Neue"/>
              </a:rPr>
              <a:t>Go / no-go on target metrics</a:t>
            </a:r>
          </a:p>
        </p:txBody>
      </p:sp>
      <p:sp>
        <p:nvSpPr>
          <p:cNvPr id="32" name="Rounded Rectangle 31"/>
          <p:cNvSpPr/>
          <p:nvPr/>
        </p:nvSpPr>
        <p:spPr>
          <a:xfrm>
            <a:off x="548640" y="5806440"/>
            <a:ext cx="2791206" cy="329184"/>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50" b="1" i="0">
                <a:solidFill>
                  <a:srgbClr val="2F7A4F"/>
                </a:solidFill>
                <a:latin typeface="Helvetica Neue"/>
              </a:rPr>
              <a:t>Target: +5 pts transport attach</a:t>
            </a:r>
          </a:p>
        </p:txBody>
      </p:sp>
      <p:sp>
        <p:nvSpPr>
          <p:cNvPr id="33" name="Rounded Rectangle 32"/>
          <p:cNvSpPr/>
          <p:nvPr/>
        </p:nvSpPr>
        <p:spPr>
          <a:xfrm>
            <a:off x="3449574" y="5806440"/>
            <a:ext cx="1991105" cy="329184"/>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50" b="1" i="0">
                <a:solidFill>
                  <a:srgbClr val="2F7A4F"/>
                </a:solidFill>
                <a:latin typeface="Helvetica Neue"/>
              </a:rPr>
              <a:t>Target: −50% dry runs</a:t>
            </a:r>
          </a:p>
        </p:txBody>
      </p:sp>
      <p:sp>
        <p:nvSpPr>
          <p:cNvPr id="34" name="Rounded Rectangle 33"/>
          <p:cNvSpPr/>
          <p:nvPr/>
        </p:nvSpPr>
        <p:spPr>
          <a:xfrm>
            <a:off x="5550408" y="5806440"/>
            <a:ext cx="2311146" cy="329184"/>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50" b="1" i="0">
                <a:solidFill>
                  <a:srgbClr val="2F7A4F"/>
                </a:solidFill>
                <a:latin typeface="Helvetica Neue"/>
              </a:rPr>
              <a:t>Target: −20% arbitrations</a:t>
            </a:r>
          </a:p>
        </p:txBody>
      </p:sp>
      <p:sp>
        <p:nvSpPr>
          <p:cNvPr id="35" name="Rounded Rectangle 34"/>
          <p:cNvSpPr/>
          <p:nvPr/>
        </p:nvSpPr>
        <p:spPr>
          <a:xfrm>
            <a:off x="7971282" y="5806440"/>
            <a:ext cx="2951226" cy="329184"/>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1050" b="1" i="0">
                <a:solidFill>
                  <a:srgbClr val="2F7A4F"/>
                </a:solidFill>
                <a:latin typeface="Helvetica Neue"/>
              </a:rPr>
              <a:t>Target: valuation ±5% of realized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show="0">
  <p:cSld>
    <p:bg>
      <p:bgPr>
        <a:solidFill>
          <a:srgbClr val="F5F5F7"/>
        </a:solidFill>
        <a:effectLst/>
      </p:bgPr>
    </p:bg>
    <p:spTree>
      <p:nvGrpSpPr>
        <p:cNvPr id="1" name=""/>
        <p:cNvGrpSpPr/>
        <p:nvPr/>
      </p:nvGrpSpPr>
      <p:grpSpPr/>
      <p:sp>
        <p:nvSpPr>
          <p:cNvPr id="2" name="!!brand_mark">
            <a:hlinkClick action="ppaction://hlinksldjump" r:id="rId2"/>
          </p:cNvPr>
          <p:cNvSpPr/>
          <p:nvPr/>
        </p:nvSpPr>
        <p:spPr>
          <a:xfrm>
            <a:off x="457200" y="283464"/>
            <a:ext cx="329184" cy="329184"/>
          </a:xfrm>
          <a:prstGeom prst="roundRect">
            <a:avLst>
              <a:gd name="adj" fmla="val 25000"/>
            </a:avLst>
          </a:prstGeom>
          <a:solidFill>
            <a:srgbClr val="2F6BE6"/>
          </a:solidFill>
          <a:ln>
            <a:noFill/>
          </a:ln>
          <a:effectLst/>
        </p:spPr>
        <p:txBody>
          <a:bodyPr rtlCol="0" anchor="ctr" wrap="square" lIns="0" rIns="0" tIns="0" bIns="0">
            <a:noAutofit/>
          </a:bodyPr>
          <a:lstStyle/>
          <a:p>
            <a:pPr algn="ctr">
              <a:lnSpc>
                <a:spcPct val="112000"/>
              </a:lnSpc>
              <a:spcAft>
                <a:spcPts val="0"/>
              </a:spcAft>
            </a:pPr>
            <a:r>
              <a:rPr sz="1300" b="1" i="0">
                <a:solidFill>
                  <a:srgbClr val="FFFFFF"/>
                </a:solidFill>
                <a:latin typeface="Helvetica Neue"/>
              </a:rPr>
              <a:t>V</a:t>
            </a:r>
          </a:p>
        </p:txBody>
      </p:sp>
      <p:sp>
        <p:nvSpPr>
          <p:cNvPr id="3" name="!!brand_name"/>
          <p:cNvSpPr txBox="1"/>
          <p:nvPr/>
        </p:nvSpPr>
        <p:spPr>
          <a:xfrm>
            <a:off x="868680" y="283464"/>
            <a:ext cx="1463040" cy="329184"/>
          </a:xfrm>
          <a:prstGeom prst="rect">
            <a:avLst/>
          </a:prstGeom>
          <a:noFill/>
        </p:spPr>
        <p:txBody>
          <a:bodyPr wrap="square" lIns="0" rIns="0" tIns="0" bIns="0" anchor="ctr">
            <a:noAutofit/>
          </a:bodyPr>
          <a:lstStyle/>
          <a:p>
            <a:pPr algn="l">
              <a:lnSpc>
                <a:spcPct val="112000"/>
              </a:lnSpc>
              <a:spcAft>
                <a:spcPts val="0"/>
              </a:spcAft>
            </a:pPr>
            <a:r>
              <a:rPr sz="1500" b="1" i="0" spc="-20">
                <a:solidFill>
                  <a:srgbClr val="1D1D1F"/>
                </a:solidFill>
                <a:latin typeface="Helvetica Neue"/>
              </a:rPr>
              <a:t>VehicleOS</a:t>
            </a:r>
          </a:p>
        </p:txBody>
      </p:sp>
      <p:sp>
        <p:nvSpPr>
          <p:cNvPr id="4" name="!!nav_track"/>
          <p:cNvSpPr/>
          <p:nvPr/>
        </p:nvSpPr>
        <p:spPr>
          <a:xfrm>
            <a:off x="2977743" y="256032"/>
            <a:ext cx="6236207" cy="384048"/>
          </a:xfrm>
          <a:prstGeom prst="roundRect">
            <a:avLst>
              <a:gd name="adj" fmla="val 28571"/>
            </a:avLst>
          </a:prstGeom>
          <a:solidFill>
            <a:srgbClr val="E8E8ED"/>
          </a:solidFill>
          <a:ln>
            <a:noFill/>
          </a:ln>
          <a:effectLst/>
        </p:spPr>
        <p:txBody>
          <a:bodyPr rtlCol="0" anchor="ctr"/>
          <a:lstStyle/>
          <a:p>
            <a:pPr algn="ctr"/>
          </a:p>
        </p:txBody>
      </p:sp>
      <p:sp>
        <p:nvSpPr>
          <p:cNvPr id="5" name="!!nav_active"/>
          <p:cNvSpPr/>
          <p:nvPr/>
        </p:nvSpPr>
        <p:spPr>
          <a:xfrm>
            <a:off x="8290407" y="292608"/>
            <a:ext cx="877824" cy="310896"/>
          </a:xfrm>
          <a:prstGeom prst="roundRect">
            <a:avLst>
              <a:gd name="adj" fmla="val 26470"/>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6" name="!!nav_tab_0">
            <a:hlinkClick action="ppaction://hlinksldjump" r:id="rId3"/>
          </p:cNvPr>
          <p:cNvSpPr/>
          <p:nvPr/>
        </p:nvSpPr>
        <p:spPr>
          <a:xfrm>
            <a:off x="302346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Problem</a:t>
            </a:r>
          </a:p>
        </p:txBody>
      </p:sp>
      <p:sp>
        <p:nvSpPr>
          <p:cNvPr id="7" name="!!nav_tab_1">
            <a:hlinkClick action="ppaction://hlinksldjump" r:id="rId4"/>
          </p:cNvPr>
          <p:cNvSpPr/>
          <p:nvPr/>
        </p:nvSpPr>
        <p:spPr>
          <a:xfrm>
            <a:off x="390128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Idea</a:t>
            </a:r>
          </a:p>
        </p:txBody>
      </p:sp>
      <p:sp>
        <p:nvSpPr>
          <p:cNvPr id="8" name="!!nav_tab_2">
            <a:hlinkClick action="ppaction://hlinksldjump" r:id="rId5"/>
          </p:cNvPr>
          <p:cNvSpPr/>
          <p:nvPr/>
        </p:nvSpPr>
        <p:spPr>
          <a:xfrm>
            <a:off x="4779111"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Demo</a:t>
            </a:r>
          </a:p>
        </p:txBody>
      </p:sp>
      <p:sp>
        <p:nvSpPr>
          <p:cNvPr id="9" name="!!nav_tab_3">
            <a:hlinkClick action="ppaction://hlinksldjump" r:id="rId6"/>
          </p:cNvPr>
          <p:cNvSpPr/>
          <p:nvPr/>
        </p:nvSpPr>
        <p:spPr>
          <a:xfrm>
            <a:off x="5656935"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Checkout</a:t>
            </a:r>
          </a:p>
        </p:txBody>
      </p:sp>
      <p:sp>
        <p:nvSpPr>
          <p:cNvPr id="10" name="!!nav_tab_4">
            <a:hlinkClick action="ppaction://hlinksldjump" r:id="rId7"/>
          </p:cNvPr>
          <p:cNvSpPr/>
          <p:nvPr/>
        </p:nvSpPr>
        <p:spPr>
          <a:xfrm>
            <a:off x="6534759"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ROI</a:t>
            </a:r>
          </a:p>
        </p:txBody>
      </p:sp>
      <p:sp>
        <p:nvSpPr>
          <p:cNvPr id="11" name="!!nav_tab_5">
            <a:hlinkClick action="ppaction://hlinksldjump" r:id="rId8"/>
          </p:cNvPr>
          <p:cNvSpPr/>
          <p:nvPr/>
        </p:nvSpPr>
        <p:spPr>
          <a:xfrm>
            <a:off x="7412583"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0" i="0">
                <a:solidFill>
                  <a:srgbClr val="3A3A3C"/>
                </a:solidFill>
                <a:latin typeface="Helvetica Neue"/>
              </a:rPr>
              <a:t>Real</a:t>
            </a:r>
          </a:p>
        </p:txBody>
      </p:sp>
      <p:sp>
        <p:nvSpPr>
          <p:cNvPr id="12" name="!!nav_tab_6">
            <a:hlinkClick action="ppaction://hlinksldjump" r:id="rId9"/>
          </p:cNvPr>
          <p:cNvSpPr/>
          <p:nvPr/>
        </p:nvSpPr>
        <p:spPr>
          <a:xfrm>
            <a:off x="8290407" y="292608"/>
            <a:ext cx="877824" cy="310896"/>
          </a:xfrm>
          <a:prstGeom prst="roundRect">
            <a:avLst>
              <a:gd name="adj" fmla="val 26470"/>
            </a:avLst>
          </a:prstGeom>
          <a:solidFill>
            <a:srgbClr val="FFFFFF">
              <a:alpha val="0"/>
            </a:srgbClr>
          </a:solidFill>
          <a:ln>
            <a:noFill/>
          </a:ln>
          <a:effectLst/>
        </p:spPr>
        <p:txBody>
          <a:bodyPr rtlCol="0" anchor="ctr" wrap="square" lIns="0" rIns="0" tIns="0" bIns="0">
            <a:noAutofit/>
          </a:bodyPr>
          <a:lstStyle/>
          <a:p>
            <a:pPr algn="ctr">
              <a:lnSpc>
                <a:spcPct val="112000"/>
              </a:lnSpc>
              <a:spcAft>
                <a:spcPts val="0"/>
              </a:spcAft>
            </a:pPr>
            <a:r>
              <a:rPr sz="1150" b="1" i="0">
                <a:solidFill>
                  <a:srgbClr val="1D1D1F"/>
                </a:solidFill>
                <a:latin typeface="Helvetica Neue"/>
              </a:rPr>
              <a:t>Q&amp;A</a:t>
            </a:r>
          </a:p>
        </p:txBody>
      </p:sp>
      <p:sp>
        <p:nvSpPr>
          <p:cNvPr id="13" name="!!nav_demo">
            <a:hlinkClick r:id="rId10"/>
          </p:cNvPr>
          <p:cNvSpPr/>
          <p:nvPr/>
        </p:nvSpPr>
        <p:spPr>
          <a:xfrm>
            <a:off x="10058400" y="283464"/>
            <a:ext cx="1673352"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100" b="1" i="0">
                <a:solidFill>
                  <a:srgbClr val="2560D6"/>
                </a:solidFill>
                <a:latin typeface="Helvetica Neue"/>
              </a:rPr>
              <a:t>Open live demo ↗</a:t>
            </a:r>
          </a:p>
        </p:txBody>
      </p:sp>
      <p:sp>
        <p:nvSpPr>
          <p:cNvPr id="14" name="!!footer"/>
          <p:cNvSpPr txBox="1"/>
          <p:nvPr/>
        </p:nvSpPr>
        <p:spPr>
          <a:xfrm>
            <a:off x="457200" y="6473952"/>
            <a:ext cx="8229600" cy="228600"/>
          </a:xfrm>
          <a:prstGeom prst="rect">
            <a:avLst/>
          </a:prstGeom>
          <a:noFill/>
        </p:spPr>
        <p:txBody>
          <a:bodyPr wrap="square" lIns="0" rIns="0" tIns="0" bIns="0" anchor="t">
            <a:noAutofit/>
          </a:bodyPr>
          <a:lstStyle/>
          <a:p>
            <a:pPr algn="l">
              <a:lnSpc>
                <a:spcPct val="112000"/>
              </a:lnSpc>
              <a:spcAft>
                <a:spcPts val="0"/>
              </a:spcAft>
            </a:pPr>
            <a:r>
              <a:rPr sz="900" b="0" i="0">
                <a:solidFill>
                  <a:srgbClr val="8E8E93"/>
                </a:solidFill>
                <a:latin typeface="Helvetica Neue"/>
              </a:rPr>
              <a:t>VehicleOS · concept for a combined ACV + Copart platform (transaction announced, not closed) · all data synthetic</a:t>
            </a:r>
          </a:p>
        </p:txBody>
      </p:sp>
      <p:sp>
        <p:nvSpPr>
          <p:cNvPr id="15" name="!!pageno"/>
          <p:cNvSpPr txBox="1"/>
          <p:nvPr/>
        </p:nvSpPr>
        <p:spPr>
          <a:xfrm>
            <a:off x="11155680" y="6473952"/>
            <a:ext cx="576072" cy="228600"/>
          </a:xfrm>
          <a:prstGeom prst="rect">
            <a:avLst/>
          </a:prstGeom>
          <a:noFill/>
        </p:spPr>
        <p:txBody>
          <a:bodyPr wrap="square" lIns="0" rIns="0" tIns="0" bIns="0" anchor="t">
            <a:noAutofit/>
          </a:bodyPr>
          <a:lstStyle/>
          <a:p>
            <a:pPr algn="r">
              <a:lnSpc>
                <a:spcPct val="112000"/>
              </a:lnSpc>
              <a:spcAft>
                <a:spcPts val="0"/>
              </a:spcAft>
            </a:pPr>
            <a:r>
              <a:rPr sz="900" b="0" i="0">
                <a:solidFill>
                  <a:srgbClr val="8E8E93"/>
                </a:solidFill>
                <a:latin typeface="Helvetica Neue"/>
              </a:rPr>
              <a:t>29</a:t>
            </a:r>
          </a:p>
        </p:txBody>
      </p:sp>
      <p:sp>
        <p:nvSpPr>
          <p:cNvPr id="16" name="!!back_nav">
            <a:hlinkClick action="ppaction://hlinksldjump" r:id="rId9"/>
          </p:cNvPr>
          <p:cNvSpPr/>
          <p:nvPr/>
        </p:nvSpPr>
        <p:spPr>
          <a:xfrm>
            <a:off x="10012680" y="6400800"/>
            <a:ext cx="1737360" cy="292608"/>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 Back to Q&amp;A navigator</a:t>
            </a:r>
          </a:p>
        </p:txBody>
      </p:sp>
      <p:sp>
        <p:nvSpPr>
          <p:cNvPr id="17" name="!!kicker"/>
          <p:cNvSpPr txBox="1"/>
          <p:nvPr/>
        </p:nvSpPr>
        <p:spPr>
          <a:xfrm>
            <a:off x="548640" y="914400"/>
            <a:ext cx="11064240" cy="274320"/>
          </a:xfrm>
          <a:prstGeom prst="rect">
            <a:avLst/>
          </a:prstGeom>
          <a:noFill/>
        </p:spPr>
        <p:txBody>
          <a:bodyPr wrap="square" lIns="0" rIns="0" tIns="0" bIns="0" anchor="t">
            <a:noAutofit/>
          </a:bodyPr>
          <a:lstStyle/>
          <a:p>
            <a:pPr algn="l">
              <a:lnSpc>
                <a:spcPct val="112000"/>
              </a:lnSpc>
              <a:spcAft>
                <a:spcPts val="0"/>
              </a:spcAft>
            </a:pPr>
            <a:r>
              <a:rPr sz="1300" b="1" i="0">
                <a:solidFill>
                  <a:srgbClr val="2560D6"/>
                </a:solidFill>
                <a:latin typeface="Helvetica Neue"/>
              </a:rPr>
              <a:t>What’s next</a:t>
            </a:r>
          </a:p>
        </p:txBody>
      </p:sp>
      <p:sp>
        <p:nvSpPr>
          <p:cNvPr id="18" name="!!title"/>
          <p:cNvSpPr txBox="1"/>
          <p:nvPr/>
        </p:nvSpPr>
        <p:spPr>
          <a:xfrm>
            <a:off x="548640" y="1170432"/>
            <a:ext cx="11064240" cy="566928"/>
          </a:xfrm>
          <a:prstGeom prst="rect">
            <a:avLst/>
          </a:prstGeom>
          <a:noFill/>
        </p:spPr>
        <p:txBody>
          <a:bodyPr wrap="square" lIns="0" rIns="0" tIns="0" bIns="0" anchor="t">
            <a:noAutofit/>
          </a:bodyPr>
          <a:lstStyle/>
          <a:p>
            <a:pPr algn="l">
              <a:lnSpc>
                <a:spcPct val="112000"/>
              </a:lnSpc>
              <a:spcAft>
                <a:spcPts val="0"/>
              </a:spcAft>
            </a:pPr>
            <a:r>
              <a:rPr sz="3200" b="1" i="0" spc="-60">
                <a:solidFill>
                  <a:srgbClr val="1D1D1F"/>
                </a:solidFill>
                <a:latin typeface="Helvetica Neue"/>
              </a:rPr>
              <a:t>Three pillars, six features.</a:t>
            </a:r>
          </a:p>
        </p:txBody>
      </p:sp>
      <p:sp>
        <p:nvSpPr>
          <p:cNvPr id="19" name="!!sub"/>
          <p:cNvSpPr txBox="1"/>
          <p:nvPr/>
        </p:nvSpPr>
        <p:spPr>
          <a:xfrm>
            <a:off x="548640" y="1810512"/>
            <a:ext cx="10424160" cy="566928"/>
          </a:xfrm>
          <a:prstGeom prst="rect">
            <a:avLst/>
          </a:prstGeom>
          <a:noFill/>
        </p:spPr>
        <p:txBody>
          <a:bodyPr wrap="square" lIns="0" rIns="0" tIns="0" bIns="0" anchor="t">
            <a:noAutofit/>
          </a:bodyPr>
          <a:lstStyle/>
          <a:p>
            <a:pPr algn="l">
              <a:lnSpc>
                <a:spcPct val="115000"/>
              </a:lnSpc>
              <a:spcAft>
                <a:spcPts val="0"/>
              </a:spcAft>
            </a:pPr>
            <a:r>
              <a:rPr sz="1500" b="0" i="0">
                <a:solidFill>
                  <a:srgbClr val="6E6E73"/>
                </a:solidFill>
                <a:latin typeface="Helvetica Neue"/>
              </a:rPr>
              <a:t>Priority 1 runs today. The rest plugs into the same record.</a:t>
            </a:r>
          </a:p>
        </p:txBody>
      </p:sp>
      <p:sp>
        <p:nvSpPr>
          <p:cNvPr id="20" name="Rounded Rectangle 19"/>
          <p:cNvSpPr/>
          <p:nvPr/>
        </p:nvSpPr>
        <p:spPr>
          <a:xfrm>
            <a:off x="548640" y="2560320"/>
            <a:ext cx="3584448" cy="2743200"/>
          </a:xfrm>
          <a:prstGeom prst="roundRect">
            <a:avLst>
              <a:gd name="adj" fmla="val 666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1" name="TextBox 20"/>
          <p:cNvSpPr txBox="1"/>
          <p:nvPr/>
        </p:nvSpPr>
        <p:spPr>
          <a:xfrm>
            <a:off x="749808" y="2724912"/>
            <a:ext cx="3200400" cy="274320"/>
          </a:xfrm>
          <a:prstGeom prst="rect">
            <a:avLst/>
          </a:prstGeom>
          <a:noFill/>
        </p:spPr>
        <p:txBody>
          <a:bodyPr wrap="square" lIns="0" rIns="0" tIns="0" bIns="0" anchor="t">
            <a:noAutofit/>
          </a:bodyPr>
          <a:lstStyle/>
          <a:p>
            <a:pPr algn="l">
              <a:lnSpc>
                <a:spcPct val="112000"/>
              </a:lnSpc>
              <a:spcAft>
                <a:spcPts val="0"/>
              </a:spcAft>
            </a:pPr>
            <a:r>
              <a:rPr sz="1200" b="1" i="0">
                <a:solidFill>
                  <a:srgbClr val="6E6E73"/>
                </a:solidFill>
                <a:latin typeface="Helvetica Neue"/>
              </a:rPr>
              <a:t>Database / company</a:t>
            </a:r>
          </a:p>
        </p:txBody>
      </p:sp>
      <p:sp>
        <p:nvSpPr>
          <p:cNvPr id="22" name="TextBox 21"/>
          <p:cNvSpPr txBox="1"/>
          <p:nvPr/>
        </p:nvSpPr>
        <p:spPr>
          <a:xfrm>
            <a:off x="749808" y="3108960"/>
            <a:ext cx="2286000" cy="548640"/>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BestExit</a:t>
            </a:r>
          </a:p>
          <a:p>
            <a:pPr algn="l">
              <a:lnSpc>
                <a:spcPct val="105000"/>
              </a:lnSpc>
              <a:spcAft>
                <a:spcPts val="0"/>
              </a:spcAft>
            </a:pPr>
            <a:r>
              <a:rPr sz="1050" b="0" i="0">
                <a:solidFill>
                  <a:srgbClr val="6E6E73"/>
                </a:solidFill>
                <a:latin typeface="Helvetica Neue"/>
              </a:rPr>
              <a:t>Net-proceeds disposition</a:t>
            </a:r>
          </a:p>
        </p:txBody>
      </p:sp>
      <p:sp>
        <p:nvSpPr>
          <p:cNvPr id="23" name="Rounded Rectangle 22"/>
          <p:cNvSpPr/>
          <p:nvPr/>
        </p:nvSpPr>
        <p:spPr>
          <a:xfrm>
            <a:off x="3063240" y="3182112"/>
            <a:ext cx="868680" cy="256032"/>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P1 · live</a:t>
            </a:r>
          </a:p>
        </p:txBody>
      </p:sp>
      <p:sp>
        <p:nvSpPr>
          <p:cNvPr id="24" name="Rounded Rectangle 23"/>
          <p:cNvSpPr/>
          <p:nvPr/>
        </p:nvSpPr>
        <p:spPr>
          <a:xfrm>
            <a:off x="4297679" y="2560320"/>
            <a:ext cx="3584448" cy="2743200"/>
          </a:xfrm>
          <a:prstGeom prst="roundRect">
            <a:avLst>
              <a:gd name="adj" fmla="val 666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25" name="TextBox 24"/>
          <p:cNvSpPr txBox="1"/>
          <p:nvPr/>
        </p:nvSpPr>
        <p:spPr>
          <a:xfrm>
            <a:off x="4498847" y="2724912"/>
            <a:ext cx="3200400" cy="274320"/>
          </a:xfrm>
          <a:prstGeom prst="rect">
            <a:avLst/>
          </a:prstGeom>
          <a:noFill/>
        </p:spPr>
        <p:txBody>
          <a:bodyPr wrap="square" lIns="0" rIns="0" tIns="0" bIns="0" anchor="t">
            <a:noAutofit/>
          </a:bodyPr>
          <a:lstStyle/>
          <a:p>
            <a:pPr algn="l">
              <a:lnSpc>
                <a:spcPct val="112000"/>
              </a:lnSpc>
              <a:spcAft>
                <a:spcPts val="0"/>
              </a:spcAft>
            </a:pPr>
            <a:r>
              <a:rPr sz="1200" b="1" i="0">
                <a:solidFill>
                  <a:srgbClr val="6E6E73"/>
                </a:solidFill>
                <a:latin typeface="Helvetica Neue"/>
              </a:rPr>
              <a:t>Customer features</a:t>
            </a:r>
          </a:p>
        </p:txBody>
      </p:sp>
      <p:sp>
        <p:nvSpPr>
          <p:cNvPr id="26" name="TextBox 25"/>
          <p:cNvSpPr txBox="1"/>
          <p:nvPr/>
        </p:nvSpPr>
        <p:spPr>
          <a:xfrm>
            <a:off x="4498847" y="3108960"/>
            <a:ext cx="2286000" cy="548640"/>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SecondLook</a:t>
            </a:r>
          </a:p>
          <a:p>
            <a:pPr algn="l">
              <a:lnSpc>
                <a:spcPct val="105000"/>
              </a:lnSpc>
              <a:spcAft>
                <a:spcPts val="0"/>
              </a:spcAft>
            </a:pPr>
            <a:r>
              <a:rPr sz="1050" b="0" i="0">
                <a:solidFill>
                  <a:srgbClr val="6E6E73"/>
                </a:solidFill>
                <a:latin typeface="Helvetica Neue"/>
              </a:rPr>
              <a:t>Evidence + next inspection (AI)</a:t>
            </a:r>
          </a:p>
        </p:txBody>
      </p:sp>
      <p:sp>
        <p:nvSpPr>
          <p:cNvPr id="27" name="Rounded Rectangle 26"/>
          <p:cNvSpPr/>
          <p:nvPr/>
        </p:nvSpPr>
        <p:spPr>
          <a:xfrm>
            <a:off x="6812279" y="3182112"/>
            <a:ext cx="868680" cy="256032"/>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P1 · live</a:t>
            </a:r>
          </a:p>
        </p:txBody>
      </p:sp>
      <p:sp>
        <p:nvSpPr>
          <p:cNvPr id="28" name="TextBox 27"/>
          <p:cNvSpPr txBox="1"/>
          <p:nvPr/>
        </p:nvSpPr>
        <p:spPr>
          <a:xfrm>
            <a:off x="4498847" y="3794760"/>
            <a:ext cx="2286000" cy="548640"/>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RightBuyer</a:t>
            </a:r>
          </a:p>
          <a:p>
            <a:pPr algn="l">
              <a:lnSpc>
                <a:spcPct val="105000"/>
              </a:lnSpc>
              <a:spcAft>
                <a:spcPts val="0"/>
              </a:spcAft>
            </a:pPr>
            <a:r>
              <a:rPr sz="1050" b="0" i="0">
                <a:solidFill>
                  <a:srgbClr val="6E6E73"/>
                </a:solidFill>
                <a:latin typeface="Helvetica Neue"/>
              </a:rPr>
              <a:t>Match cars to likely buyers</a:t>
            </a:r>
          </a:p>
        </p:txBody>
      </p:sp>
      <p:sp>
        <p:nvSpPr>
          <p:cNvPr id="29" name="Rounded Rectangle 28"/>
          <p:cNvSpPr/>
          <p:nvPr/>
        </p:nvSpPr>
        <p:spPr>
          <a:xfrm>
            <a:off x="6812279" y="3867912"/>
            <a:ext cx="868680" cy="256032"/>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P2</a:t>
            </a:r>
          </a:p>
        </p:txBody>
      </p:sp>
      <p:sp>
        <p:nvSpPr>
          <p:cNvPr id="30" name="TextBox 29"/>
          <p:cNvSpPr txBox="1"/>
          <p:nvPr/>
        </p:nvSpPr>
        <p:spPr>
          <a:xfrm>
            <a:off x="4498847" y="4480560"/>
            <a:ext cx="2286000" cy="548640"/>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PartsBridge</a:t>
            </a:r>
          </a:p>
          <a:p>
            <a:pPr algn="l">
              <a:lnSpc>
                <a:spcPct val="105000"/>
              </a:lnSpc>
              <a:spcAft>
                <a:spcPts val="0"/>
              </a:spcAft>
            </a:pPr>
            <a:r>
              <a:rPr sz="1050" b="0" i="0">
                <a:solidFill>
                  <a:srgbClr val="6E6E73"/>
                </a:solidFill>
                <a:latin typeface="Helvetica Neue"/>
              </a:rPr>
              <a:t>Route part-out candidates</a:t>
            </a:r>
          </a:p>
        </p:txBody>
      </p:sp>
      <p:sp>
        <p:nvSpPr>
          <p:cNvPr id="31" name="Rounded Rectangle 30"/>
          <p:cNvSpPr/>
          <p:nvPr/>
        </p:nvSpPr>
        <p:spPr>
          <a:xfrm>
            <a:off x="6812279" y="4553712"/>
            <a:ext cx="868680" cy="256032"/>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P3</a:t>
            </a:r>
          </a:p>
        </p:txBody>
      </p:sp>
      <p:sp>
        <p:nvSpPr>
          <p:cNvPr id="32" name="Rounded Rectangle 31"/>
          <p:cNvSpPr/>
          <p:nvPr/>
        </p:nvSpPr>
        <p:spPr>
          <a:xfrm>
            <a:off x="8046719" y="2560320"/>
            <a:ext cx="3584448" cy="2743200"/>
          </a:xfrm>
          <a:prstGeom prst="roundRect">
            <a:avLst>
              <a:gd name="adj" fmla="val 6666"/>
            </a:avLst>
          </a:prstGeom>
          <a:solidFill>
            <a:srgbClr val="FFFFFF"/>
          </a:solidFill>
          <a:ln>
            <a:noFill/>
          </a:ln>
          <a:effectLst>
            <a:outerShdw blurRad="228600" dist="38100" dir="5400000" algn="t" rotWithShape="0">
              <a:srgbClr val="000000">
                <a:alpha val="7000"/>
              </a:srgbClr>
            </a:outerShdw>
          </a:effectLst>
        </p:spPr>
        <p:txBody>
          <a:bodyPr rtlCol="0" anchor="ctr"/>
          <a:lstStyle/>
          <a:p>
            <a:pPr algn="ctr"/>
          </a:p>
        </p:txBody>
      </p:sp>
      <p:sp>
        <p:nvSpPr>
          <p:cNvPr id="33" name="TextBox 32"/>
          <p:cNvSpPr txBox="1"/>
          <p:nvPr/>
        </p:nvSpPr>
        <p:spPr>
          <a:xfrm>
            <a:off x="8247888" y="2724912"/>
            <a:ext cx="3200400" cy="274320"/>
          </a:xfrm>
          <a:prstGeom prst="rect">
            <a:avLst/>
          </a:prstGeom>
          <a:noFill/>
        </p:spPr>
        <p:txBody>
          <a:bodyPr wrap="square" lIns="0" rIns="0" tIns="0" bIns="0" anchor="t">
            <a:noAutofit/>
          </a:bodyPr>
          <a:lstStyle/>
          <a:p>
            <a:pPr algn="l">
              <a:lnSpc>
                <a:spcPct val="112000"/>
              </a:lnSpc>
              <a:spcAft>
                <a:spcPts val="0"/>
              </a:spcAft>
            </a:pPr>
            <a:r>
              <a:rPr sz="1200" b="1" i="0">
                <a:solidFill>
                  <a:srgbClr val="6E6E73"/>
                </a:solidFill>
                <a:latin typeface="Helvetica Neue"/>
              </a:rPr>
              <a:t>Delivery / routing</a:t>
            </a:r>
          </a:p>
        </p:txBody>
      </p:sp>
      <p:sp>
        <p:nvSpPr>
          <p:cNvPr id="34" name="TextBox 33"/>
          <p:cNvSpPr txBox="1"/>
          <p:nvPr/>
        </p:nvSpPr>
        <p:spPr>
          <a:xfrm>
            <a:off x="8247888" y="3108960"/>
            <a:ext cx="2286000" cy="548640"/>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LoadLink</a:t>
            </a:r>
          </a:p>
          <a:p>
            <a:pPr algn="l">
              <a:lnSpc>
                <a:spcPct val="105000"/>
              </a:lnSpc>
              <a:spcAft>
                <a:spcPts val="0"/>
              </a:spcAft>
            </a:pPr>
            <a:r>
              <a:rPr sz="1050" b="0" i="0">
                <a:solidFill>
                  <a:srgbClr val="6E6E73"/>
                </a:solidFill>
                <a:latin typeface="Helvetica Neue"/>
              </a:rPr>
              <a:t>Equipment-aware pooled routing</a:t>
            </a:r>
          </a:p>
        </p:txBody>
      </p:sp>
      <p:sp>
        <p:nvSpPr>
          <p:cNvPr id="35" name="Rounded Rectangle 34"/>
          <p:cNvSpPr/>
          <p:nvPr/>
        </p:nvSpPr>
        <p:spPr>
          <a:xfrm>
            <a:off x="10561319" y="3182112"/>
            <a:ext cx="868680" cy="256032"/>
          </a:xfrm>
          <a:prstGeom prst="roundRect">
            <a:avLst>
              <a:gd name="adj" fmla="val 50000"/>
            </a:avLst>
          </a:prstGeom>
          <a:solidFill>
            <a:srgbClr val="E6F4EA"/>
          </a:solidFill>
          <a:ln>
            <a:noFill/>
          </a:ln>
          <a:effectLst/>
        </p:spPr>
        <p:txBody>
          <a:bodyPr rtlCol="0" anchor="ctr" wrap="none" tIns="0" bIns="0">
            <a:noAutofit/>
          </a:bodyPr>
          <a:lstStyle/>
          <a:p>
            <a:pPr algn="ctr">
              <a:lnSpc>
                <a:spcPct val="112000"/>
              </a:lnSpc>
              <a:spcAft>
                <a:spcPts val="0"/>
              </a:spcAft>
            </a:pPr>
            <a:r>
              <a:rPr sz="950" b="1" i="0">
                <a:solidFill>
                  <a:srgbClr val="2F7A4F"/>
                </a:solidFill>
                <a:latin typeface="Helvetica Neue"/>
              </a:rPr>
              <a:t>P1 · live</a:t>
            </a:r>
          </a:p>
        </p:txBody>
      </p:sp>
      <p:sp>
        <p:nvSpPr>
          <p:cNvPr id="36" name="TextBox 35"/>
          <p:cNvSpPr txBox="1"/>
          <p:nvPr/>
        </p:nvSpPr>
        <p:spPr>
          <a:xfrm>
            <a:off x="8247888" y="3794760"/>
            <a:ext cx="2286000" cy="548640"/>
          </a:xfrm>
          <a:prstGeom prst="rect">
            <a:avLst/>
          </a:prstGeom>
          <a:noFill/>
        </p:spPr>
        <p:txBody>
          <a:bodyPr wrap="square" lIns="0" rIns="0" tIns="0" bIns="0" anchor="t">
            <a:noAutofit/>
          </a:bodyPr>
          <a:lstStyle/>
          <a:p>
            <a:pPr algn="l">
              <a:lnSpc>
                <a:spcPct val="105000"/>
              </a:lnSpc>
              <a:spcAft>
                <a:spcPts val="0"/>
              </a:spcAft>
            </a:pPr>
            <a:r>
              <a:rPr sz="1400" b="1" i="0">
                <a:solidFill>
                  <a:srgbClr val="1D1D1F"/>
                </a:solidFill>
                <a:latin typeface="Helvetica Neue"/>
              </a:rPr>
              <a:t>ReadyToMove</a:t>
            </a:r>
          </a:p>
          <a:p>
            <a:pPr algn="l">
              <a:lnSpc>
                <a:spcPct val="105000"/>
              </a:lnSpc>
              <a:spcAft>
                <a:spcPts val="0"/>
              </a:spcAft>
            </a:pPr>
            <a:r>
              <a:rPr sz="1050" b="0" i="0">
                <a:solidFill>
                  <a:srgbClr val="6E6E73"/>
                </a:solidFill>
                <a:latin typeface="Helvetica Neue"/>
              </a:rPr>
              <a:t>Full release readiness</a:t>
            </a:r>
          </a:p>
        </p:txBody>
      </p:sp>
      <p:sp>
        <p:nvSpPr>
          <p:cNvPr id="37" name="Rounded Rectangle 36"/>
          <p:cNvSpPr/>
          <p:nvPr/>
        </p:nvSpPr>
        <p:spPr>
          <a:xfrm>
            <a:off x="10561319" y="3867912"/>
            <a:ext cx="868680" cy="256032"/>
          </a:xfrm>
          <a:prstGeom prst="roundRect">
            <a:avLst>
              <a:gd name="adj" fmla="val 50000"/>
            </a:avLst>
          </a:prstGeom>
          <a:solidFill>
            <a:srgbClr val="E8E8ED"/>
          </a:solidFill>
          <a:ln>
            <a:noFill/>
          </a:ln>
          <a:effectLst/>
        </p:spPr>
        <p:txBody>
          <a:bodyPr rtlCol="0" anchor="ctr" wrap="none" tIns="0" bIns="0">
            <a:noAutofit/>
          </a:bodyPr>
          <a:lstStyle/>
          <a:p>
            <a:pPr algn="ctr">
              <a:lnSpc>
                <a:spcPct val="112000"/>
              </a:lnSpc>
              <a:spcAft>
                <a:spcPts val="0"/>
              </a:spcAft>
            </a:pPr>
            <a:r>
              <a:rPr sz="950" b="1" i="0">
                <a:solidFill>
                  <a:srgbClr val="48484A"/>
                </a:solidFill>
                <a:latin typeface="Helvetica Neue"/>
              </a:rPr>
              <a:t>P3</a:t>
            </a:r>
          </a:p>
        </p:txBody>
      </p:sp>
      <p:sp>
        <p:nvSpPr>
          <p:cNvPr id="38" name="TextBox 37"/>
          <p:cNvSpPr txBox="1"/>
          <p:nvPr/>
        </p:nvSpPr>
        <p:spPr>
          <a:xfrm>
            <a:off x="548640" y="5486400"/>
            <a:ext cx="3657600" cy="274320"/>
          </a:xfrm>
          <a:prstGeom prst="rect">
            <a:avLst/>
          </a:prstGeom>
          <a:noFill/>
        </p:spPr>
        <p:txBody>
          <a:bodyPr wrap="square" lIns="0" rIns="0" tIns="0" bIns="0" anchor="t">
            <a:noAutofit/>
          </a:bodyPr>
          <a:lstStyle/>
          <a:p>
            <a:pPr algn="l">
              <a:lnSpc>
                <a:spcPct val="112000"/>
              </a:lnSpc>
              <a:spcAft>
                <a:spcPts val="0"/>
              </a:spcAft>
            </a:pPr>
            <a:r>
              <a:rPr sz="1300" b="1" i="0">
                <a:solidFill>
                  <a:srgbClr val="1D1D1F"/>
                </a:solidFill>
                <a:latin typeface="Helvetica Neue"/>
              </a:rPr>
              <a:t>Next builds</a:t>
            </a:r>
          </a:p>
        </p:txBody>
      </p:sp>
      <p:sp>
        <p:nvSpPr>
          <p:cNvPr id="39" name="Rounded Rectangle 38"/>
          <p:cNvSpPr/>
          <p:nvPr/>
        </p:nvSpPr>
        <p:spPr>
          <a:xfrm>
            <a:off x="548640" y="5806440"/>
            <a:ext cx="2311146"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Checkout transport toggle</a:t>
            </a:r>
          </a:p>
        </p:txBody>
      </p:sp>
      <p:sp>
        <p:nvSpPr>
          <p:cNvPr id="40" name="Rounded Rectangle 39"/>
          <p:cNvSpPr/>
          <p:nvPr/>
        </p:nvSpPr>
        <p:spPr>
          <a:xfrm>
            <a:off x="2969514" y="5806440"/>
            <a:ext cx="1991105"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Delivery time windows</a:t>
            </a:r>
          </a:p>
        </p:txBody>
      </p:sp>
      <p:sp>
        <p:nvSpPr>
          <p:cNvPr id="41" name="Rounded Rectangle 40"/>
          <p:cNvSpPr/>
          <p:nvPr/>
        </p:nvSpPr>
        <p:spPr>
          <a:xfrm>
            <a:off x="5070348" y="5806440"/>
            <a:ext cx="1751076"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Real data adapters</a:t>
            </a:r>
          </a:p>
        </p:txBody>
      </p:sp>
      <p:sp>
        <p:nvSpPr>
          <p:cNvPr id="42" name="Rounded Rectangle 41"/>
          <p:cNvSpPr/>
          <p:nvPr/>
        </p:nvSpPr>
        <p:spPr>
          <a:xfrm>
            <a:off x="6931152" y="5806440"/>
            <a:ext cx="1831086" cy="329184"/>
          </a:xfrm>
          <a:prstGeom prst="roundRect">
            <a:avLst>
              <a:gd name="adj" fmla="val 50000"/>
            </a:avLst>
          </a:prstGeom>
          <a:solidFill>
            <a:srgbClr val="EAF1FF"/>
          </a:solidFill>
          <a:ln>
            <a:noFill/>
          </a:ln>
          <a:effectLst/>
        </p:spPr>
        <p:txBody>
          <a:bodyPr rtlCol="0" anchor="ctr" wrap="none" tIns="0" bIns="0">
            <a:noAutofit/>
          </a:bodyPr>
          <a:lstStyle/>
          <a:p>
            <a:pPr algn="ctr">
              <a:lnSpc>
                <a:spcPct val="112000"/>
              </a:lnSpc>
              <a:spcAft>
                <a:spcPts val="0"/>
              </a:spcAft>
            </a:pPr>
            <a:r>
              <a:rPr sz="1050" b="1" i="0">
                <a:solidFill>
                  <a:srgbClr val="2560D6"/>
                </a:solidFill>
                <a:latin typeface="Helvetica Neue"/>
              </a:rPr>
              <a:t>RightBuyer matching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VehicleOS: one car, from appraisal to delivery</dc:title>
  <dc:subject/>
  <dc:creator>Convergence 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